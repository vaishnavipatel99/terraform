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0" r:id="rId1"/>
  </p:sldMasterIdLst>
  <p:sldIdLst>
    <p:sldId id="256" r:id="rId2"/>
    <p:sldId id="280" r:id="rId3"/>
    <p:sldId id="283" r:id="rId4"/>
    <p:sldId id="257" r:id="rId5"/>
    <p:sldId id="258" r:id="rId6"/>
    <p:sldId id="284" r:id="rId7"/>
    <p:sldId id="286" r:id="rId8"/>
    <p:sldId id="287" r:id="rId9"/>
    <p:sldId id="260" r:id="rId10"/>
    <p:sldId id="259" r:id="rId11"/>
    <p:sldId id="268" r:id="rId12"/>
    <p:sldId id="270" r:id="rId13"/>
    <p:sldId id="271" r:id="rId14"/>
    <p:sldId id="269" r:id="rId15"/>
    <p:sldId id="272" r:id="rId16"/>
    <p:sldId id="263" r:id="rId17"/>
    <p:sldId id="278" r:id="rId18"/>
    <p:sldId id="275" r:id="rId19"/>
    <p:sldId id="267" r:id="rId20"/>
    <p:sldId id="277" r:id="rId21"/>
    <p:sldId id="276" r:id="rId22"/>
    <p:sldId id="262" r:id="rId23"/>
    <p:sldId id="261" r:id="rId24"/>
    <p:sldId id="273" r:id="rId25"/>
    <p:sldId id="264" r:id="rId26"/>
    <p:sldId id="266" r:id="rId27"/>
    <p:sldId id="285" r:id="rId28"/>
  </p:sldIdLst>
  <p:sldSz cx="9906000" cy="6858000" type="A4"/>
  <p:notesSz cx="6858000" cy="9144000"/>
  <p:defaultTextStyle>
    <a:defPPr>
      <a:defRPr lang="en-US"/>
    </a:defPPr>
    <a:lvl1pPr marL="0" algn="l" defTabSz="860121" rtl="0" eaLnBrk="1" latinLnBrk="0" hangingPunct="1">
      <a:defRPr sz="1700" kern="1200">
        <a:solidFill>
          <a:schemeClr val="tx1"/>
        </a:solidFill>
        <a:latin typeface="+mn-lt"/>
        <a:ea typeface="+mn-ea"/>
        <a:cs typeface="+mn-cs"/>
      </a:defRPr>
    </a:lvl1pPr>
    <a:lvl2pPr marL="430061" algn="l" defTabSz="860121" rtl="0" eaLnBrk="1" latinLnBrk="0" hangingPunct="1">
      <a:defRPr sz="1700" kern="1200">
        <a:solidFill>
          <a:schemeClr val="tx1"/>
        </a:solidFill>
        <a:latin typeface="+mn-lt"/>
        <a:ea typeface="+mn-ea"/>
        <a:cs typeface="+mn-cs"/>
      </a:defRPr>
    </a:lvl2pPr>
    <a:lvl3pPr marL="860121" algn="l" defTabSz="860121" rtl="0" eaLnBrk="1" latinLnBrk="0" hangingPunct="1">
      <a:defRPr sz="1700" kern="1200">
        <a:solidFill>
          <a:schemeClr val="tx1"/>
        </a:solidFill>
        <a:latin typeface="+mn-lt"/>
        <a:ea typeface="+mn-ea"/>
        <a:cs typeface="+mn-cs"/>
      </a:defRPr>
    </a:lvl3pPr>
    <a:lvl4pPr marL="1290182" algn="l" defTabSz="860121" rtl="0" eaLnBrk="1" latinLnBrk="0" hangingPunct="1">
      <a:defRPr sz="1700" kern="1200">
        <a:solidFill>
          <a:schemeClr val="tx1"/>
        </a:solidFill>
        <a:latin typeface="+mn-lt"/>
        <a:ea typeface="+mn-ea"/>
        <a:cs typeface="+mn-cs"/>
      </a:defRPr>
    </a:lvl4pPr>
    <a:lvl5pPr marL="1720243" algn="l" defTabSz="860121" rtl="0" eaLnBrk="1" latinLnBrk="0" hangingPunct="1">
      <a:defRPr sz="1700" kern="1200">
        <a:solidFill>
          <a:schemeClr val="tx1"/>
        </a:solidFill>
        <a:latin typeface="+mn-lt"/>
        <a:ea typeface="+mn-ea"/>
        <a:cs typeface="+mn-cs"/>
      </a:defRPr>
    </a:lvl5pPr>
    <a:lvl6pPr marL="2150303" algn="l" defTabSz="860121" rtl="0" eaLnBrk="1" latinLnBrk="0" hangingPunct="1">
      <a:defRPr sz="1700" kern="1200">
        <a:solidFill>
          <a:schemeClr val="tx1"/>
        </a:solidFill>
        <a:latin typeface="+mn-lt"/>
        <a:ea typeface="+mn-ea"/>
        <a:cs typeface="+mn-cs"/>
      </a:defRPr>
    </a:lvl6pPr>
    <a:lvl7pPr marL="2580363" algn="l" defTabSz="860121" rtl="0" eaLnBrk="1" latinLnBrk="0" hangingPunct="1">
      <a:defRPr sz="1700" kern="1200">
        <a:solidFill>
          <a:schemeClr val="tx1"/>
        </a:solidFill>
        <a:latin typeface="+mn-lt"/>
        <a:ea typeface="+mn-ea"/>
        <a:cs typeface="+mn-cs"/>
      </a:defRPr>
    </a:lvl7pPr>
    <a:lvl8pPr marL="3010424" algn="l" defTabSz="860121" rtl="0" eaLnBrk="1" latinLnBrk="0" hangingPunct="1">
      <a:defRPr sz="1700" kern="1200">
        <a:solidFill>
          <a:schemeClr val="tx1"/>
        </a:solidFill>
        <a:latin typeface="+mn-lt"/>
        <a:ea typeface="+mn-ea"/>
        <a:cs typeface="+mn-cs"/>
      </a:defRPr>
    </a:lvl8pPr>
    <a:lvl9pPr marL="3440485" algn="l" defTabSz="860121" rtl="0" eaLnBrk="1" latinLnBrk="0" hangingPunct="1">
      <a:defRPr sz="17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2" autoAdjust="0"/>
    <p:restoredTop sz="94660"/>
  </p:normalViewPr>
  <p:slideViewPr>
    <p:cSldViewPr>
      <p:cViewPr>
        <p:scale>
          <a:sx n="73" d="100"/>
          <a:sy n="73" d="100"/>
        </p:scale>
        <p:origin x="-1110" y="-114"/>
      </p:cViewPr>
      <p:guideLst>
        <p:guide orient="horz" pos="2160"/>
        <p:guide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2476501" y="3124200"/>
            <a:ext cx="668655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476501" y="5003322"/>
            <a:ext cx="6686550" cy="1371600"/>
          </a:xfrm>
        </p:spPr>
        <p:txBody>
          <a:bodyPr/>
          <a:lstStyle>
            <a:lvl1pPr marL="0" indent="0" algn="l">
              <a:buNone/>
              <a:defRPr sz="1700" b="1">
                <a:solidFill>
                  <a:schemeClr val="tx2"/>
                </a:solidFill>
              </a:defRPr>
            </a:lvl1pPr>
            <a:lvl2pPr marL="430061" indent="0" algn="ctr">
              <a:buNone/>
            </a:lvl2pPr>
            <a:lvl3pPr marL="860121" indent="0" algn="ctr">
              <a:buNone/>
            </a:lvl3pPr>
            <a:lvl4pPr marL="1290182" indent="0" algn="ctr">
              <a:buNone/>
            </a:lvl4pPr>
            <a:lvl5pPr marL="1720243" indent="0" algn="ctr">
              <a:buNone/>
            </a:lvl5pPr>
            <a:lvl6pPr marL="2150303" indent="0" algn="ctr">
              <a:buNone/>
            </a:lvl6pPr>
            <a:lvl7pPr marL="2580363" indent="0" algn="ctr">
              <a:buNone/>
            </a:lvl7pPr>
            <a:lvl8pPr marL="3010424" indent="0" algn="ctr">
              <a:buNone/>
            </a:lvl8pPr>
            <a:lvl9pPr marL="3440485"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8506923" y="1158222"/>
            <a:ext cx="2286000" cy="412750"/>
          </a:xfrm>
        </p:spPr>
        <p:txBody>
          <a:bodyPr/>
          <a:lstStyle/>
          <a:p>
            <a:fld id="{31AD75D2-6997-4634-8533-5B1CA711EDFB}" type="datetimeFigureOut">
              <a:rPr lang="en-US" smtClean="0"/>
              <a:t>4/10/2025</a:t>
            </a:fld>
            <a:endParaRPr lang="en-US"/>
          </a:p>
        </p:txBody>
      </p:sp>
      <p:sp>
        <p:nvSpPr>
          <p:cNvPr id="17" name="Footer Placeholder 16"/>
          <p:cNvSpPr>
            <a:spLocks noGrp="1"/>
          </p:cNvSpPr>
          <p:nvPr>
            <p:ph type="ftr" sz="quarter" idx="11"/>
          </p:nvPr>
        </p:nvSpPr>
        <p:spPr bwMode="auto">
          <a:xfrm rot="5400000">
            <a:off x="7819441" y="4165668"/>
            <a:ext cx="3657600" cy="416052"/>
          </a:xfrm>
        </p:spPr>
        <p:txBody>
          <a:bodyPr/>
          <a:lstStyle/>
          <a:p>
            <a:endParaRPr lang="en-US"/>
          </a:p>
        </p:txBody>
      </p:sp>
      <p:sp>
        <p:nvSpPr>
          <p:cNvPr id="10" name="Rectangle 9"/>
          <p:cNvSpPr/>
          <p:nvPr/>
        </p:nvSpPr>
        <p:spPr bwMode="auto">
          <a:xfrm>
            <a:off x="412750" y="0"/>
            <a:ext cx="6604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2" name="Rectangle 11"/>
          <p:cNvSpPr/>
          <p:nvPr/>
        </p:nvSpPr>
        <p:spPr bwMode="auto">
          <a:xfrm>
            <a:off x="299364" y="0"/>
            <a:ext cx="113386"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4" name="Rectangle 13"/>
          <p:cNvSpPr/>
          <p:nvPr/>
        </p:nvSpPr>
        <p:spPr bwMode="auto">
          <a:xfrm>
            <a:off x="1073150" y="0"/>
            <a:ext cx="197028"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9" name="Rectangle 18"/>
          <p:cNvSpPr/>
          <p:nvPr/>
        </p:nvSpPr>
        <p:spPr bwMode="auto">
          <a:xfrm>
            <a:off x="1236431" y="0"/>
            <a:ext cx="24947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1" name="Straight Connector 10"/>
          <p:cNvSpPr>
            <a:spLocks noChangeShapeType="1"/>
          </p:cNvSpPr>
          <p:nvPr/>
        </p:nvSpPr>
        <p:spPr bwMode="auto">
          <a:xfrm>
            <a:off x="115206"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8" name="Straight Connector 17"/>
          <p:cNvSpPr>
            <a:spLocks noChangeShapeType="1"/>
          </p:cNvSpPr>
          <p:nvPr/>
        </p:nvSpPr>
        <p:spPr bwMode="auto">
          <a:xfrm>
            <a:off x="9906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20" name="Straight Connector 19"/>
          <p:cNvSpPr>
            <a:spLocks noChangeShapeType="1"/>
          </p:cNvSpPr>
          <p:nvPr/>
        </p:nvSpPr>
        <p:spPr bwMode="auto">
          <a:xfrm>
            <a:off x="925288"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6" name="Straight Connector 15"/>
          <p:cNvSpPr>
            <a:spLocks noChangeShapeType="1"/>
          </p:cNvSpPr>
          <p:nvPr/>
        </p:nvSpPr>
        <p:spPr bwMode="auto">
          <a:xfrm>
            <a:off x="187052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5" name="Straight Connector 14"/>
          <p:cNvSpPr>
            <a:spLocks noChangeShapeType="1"/>
          </p:cNvSpPr>
          <p:nvPr/>
        </p:nvSpPr>
        <p:spPr bwMode="auto">
          <a:xfrm>
            <a:off x="11557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22" name="Straight Connector 21"/>
          <p:cNvSpPr>
            <a:spLocks noChangeShapeType="1"/>
          </p:cNvSpPr>
          <p:nvPr/>
        </p:nvSpPr>
        <p:spPr bwMode="auto">
          <a:xfrm>
            <a:off x="98733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27" name="Rectangle 26"/>
          <p:cNvSpPr/>
          <p:nvPr/>
        </p:nvSpPr>
        <p:spPr bwMode="auto">
          <a:xfrm>
            <a:off x="1320801" y="0"/>
            <a:ext cx="8255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1" name="Oval 20"/>
          <p:cNvSpPr/>
          <p:nvPr/>
        </p:nvSpPr>
        <p:spPr bwMode="auto">
          <a:xfrm>
            <a:off x="660401" y="3429003"/>
            <a:ext cx="140335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3" name="Oval 22"/>
          <p:cNvSpPr/>
          <p:nvPr/>
        </p:nvSpPr>
        <p:spPr bwMode="auto">
          <a:xfrm>
            <a:off x="1418768" y="4866754"/>
            <a:ext cx="694876"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4" name="Oval 23"/>
          <p:cNvSpPr/>
          <p:nvPr/>
        </p:nvSpPr>
        <p:spPr bwMode="auto">
          <a:xfrm>
            <a:off x="1182004" y="5500632"/>
            <a:ext cx="14859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6" name="Oval 25"/>
          <p:cNvSpPr/>
          <p:nvPr/>
        </p:nvSpPr>
        <p:spPr bwMode="auto">
          <a:xfrm>
            <a:off x="1802892" y="5788152"/>
            <a:ext cx="29718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5" name="Oval 24"/>
          <p:cNvSpPr/>
          <p:nvPr/>
        </p:nvSpPr>
        <p:spPr>
          <a:xfrm>
            <a:off x="2063750" y="4495800"/>
            <a:ext cx="39624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436006" y="4928704"/>
            <a:ext cx="660400" cy="517524"/>
          </a:xfrm>
        </p:spPr>
        <p:txBody>
          <a:bodyPr/>
          <a:lstStyle/>
          <a:p>
            <a:fld id="{DA3F6A48-0F7F-488C-AF53-38029562AE9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95300" y="1600200"/>
            <a:ext cx="80899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31AD75D2-6997-4634-8533-5B1CA711EDFB}" type="datetimeFigureOut">
              <a:rPr lang="en-US" smtClean="0"/>
              <a:t>4/10/2025</a:t>
            </a:fld>
            <a:endParaRPr lang="en-US"/>
          </a:p>
        </p:txBody>
      </p:sp>
      <p:sp>
        <p:nvSpPr>
          <p:cNvPr id="9" name="Slide Number Placeholder 8"/>
          <p:cNvSpPr>
            <a:spLocks noGrp="1"/>
          </p:cNvSpPr>
          <p:nvPr>
            <p:ph type="sldNum" sz="quarter" idx="15"/>
          </p:nvPr>
        </p:nvSpPr>
        <p:spPr/>
        <p:txBody>
          <a:bodyPr rtlCol="0"/>
          <a:lstStyle/>
          <a:p>
            <a:fld id="{DA3F6A48-0F7F-488C-AF53-38029562AE97}"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76501" y="2895600"/>
            <a:ext cx="6686550" cy="2053590"/>
          </a:xfrm>
        </p:spPr>
        <p:txBody>
          <a:bodyPr/>
          <a:lstStyle>
            <a:lvl1pPr algn="l">
              <a:buNone/>
              <a:defRPr sz="28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476501" y="5010150"/>
            <a:ext cx="6686550" cy="1371600"/>
          </a:xfrm>
        </p:spPr>
        <p:txBody>
          <a:bodyPr anchor="t"/>
          <a:lstStyle>
            <a:lvl1pPr marL="0" indent="0">
              <a:buNone/>
              <a:defRPr sz="1700" b="1">
                <a:solidFill>
                  <a:schemeClr val="tx2"/>
                </a:solidFill>
              </a:defRPr>
            </a:lvl1pPr>
            <a:lvl2pPr>
              <a:buNone/>
              <a:defRPr sz="1700">
                <a:solidFill>
                  <a:schemeClr val="tx1">
                    <a:tint val="75000"/>
                  </a:schemeClr>
                </a:solidFill>
              </a:defRPr>
            </a:lvl2pPr>
            <a:lvl3pPr>
              <a:buNone/>
              <a:defRPr sz="1500">
                <a:solidFill>
                  <a:schemeClr val="tx1">
                    <a:tint val="75000"/>
                  </a:schemeClr>
                </a:solidFill>
              </a:defRPr>
            </a:lvl3pPr>
            <a:lvl4pPr>
              <a:buNone/>
              <a:defRPr sz="1300">
                <a:solidFill>
                  <a:schemeClr val="tx1">
                    <a:tint val="75000"/>
                  </a:schemeClr>
                </a:solidFill>
              </a:defRPr>
            </a:lvl4pPr>
            <a:lvl5pPr>
              <a:buNone/>
              <a:defRPr sz="13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8505444" y="1154558"/>
            <a:ext cx="2286000" cy="412750"/>
          </a:xfrm>
        </p:spPr>
        <p:txBody>
          <a:bodyPr/>
          <a:lstStyle/>
          <a:p>
            <a:fld id="{31AD75D2-6997-4634-8533-5B1CA711EDFB}" type="datetimeFigureOut">
              <a:rPr lang="en-US" smtClean="0"/>
              <a:t>4/10/2025</a:t>
            </a:fld>
            <a:endParaRPr lang="en-US"/>
          </a:p>
        </p:txBody>
      </p:sp>
      <p:sp>
        <p:nvSpPr>
          <p:cNvPr id="5" name="Footer Placeholder 4"/>
          <p:cNvSpPr>
            <a:spLocks noGrp="1"/>
          </p:cNvSpPr>
          <p:nvPr>
            <p:ph type="ftr" sz="quarter" idx="11"/>
          </p:nvPr>
        </p:nvSpPr>
        <p:spPr bwMode="auto">
          <a:xfrm rot="5400000">
            <a:off x="7819644" y="4162807"/>
            <a:ext cx="3657600" cy="416052"/>
          </a:xfrm>
        </p:spPr>
        <p:txBody>
          <a:bodyPr/>
          <a:lstStyle/>
          <a:p>
            <a:endParaRPr lang="en-US"/>
          </a:p>
        </p:txBody>
      </p:sp>
      <p:sp>
        <p:nvSpPr>
          <p:cNvPr id="9" name="Rectangle 8"/>
          <p:cNvSpPr/>
          <p:nvPr/>
        </p:nvSpPr>
        <p:spPr bwMode="auto">
          <a:xfrm>
            <a:off x="412750" y="0"/>
            <a:ext cx="6604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0" name="Rectangle 9"/>
          <p:cNvSpPr/>
          <p:nvPr/>
        </p:nvSpPr>
        <p:spPr bwMode="auto">
          <a:xfrm>
            <a:off x="299364" y="0"/>
            <a:ext cx="113386"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1" name="Rectangle 10"/>
          <p:cNvSpPr/>
          <p:nvPr/>
        </p:nvSpPr>
        <p:spPr bwMode="auto">
          <a:xfrm>
            <a:off x="1073150" y="0"/>
            <a:ext cx="197028"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2" name="Rectangle 11"/>
          <p:cNvSpPr/>
          <p:nvPr/>
        </p:nvSpPr>
        <p:spPr bwMode="auto">
          <a:xfrm>
            <a:off x="1236431" y="0"/>
            <a:ext cx="24947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3" name="Straight Connector 12"/>
          <p:cNvSpPr>
            <a:spLocks noChangeShapeType="1"/>
          </p:cNvSpPr>
          <p:nvPr/>
        </p:nvSpPr>
        <p:spPr bwMode="auto">
          <a:xfrm>
            <a:off x="115206"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4" name="Straight Connector 13"/>
          <p:cNvSpPr>
            <a:spLocks noChangeShapeType="1"/>
          </p:cNvSpPr>
          <p:nvPr/>
        </p:nvSpPr>
        <p:spPr bwMode="auto">
          <a:xfrm>
            <a:off x="9906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5" name="Straight Connector 14"/>
          <p:cNvSpPr>
            <a:spLocks noChangeShapeType="1"/>
          </p:cNvSpPr>
          <p:nvPr/>
        </p:nvSpPr>
        <p:spPr bwMode="auto">
          <a:xfrm>
            <a:off x="925288"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6" name="Straight Connector 15"/>
          <p:cNvSpPr>
            <a:spLocks noChangeShapeType="1"/>
          </p:cNvSpPr>
          <p:nvPr/>
        </p:nvSpPr>
        <p:spPr bwMode="auto">
          <a:xfrm>
            <a:off x="187052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7" name="Straight Connector 16"/>
          <p:cNvSpPr>
            <a:spLocks noChangeShapeType="1"/>
          </p:cNvSpPr>
          <p:nvPr/>
        </p:nvSpPr>
        <p:spPr bwMode="auto">
          <a:xfrm>
            <a:off x="11557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8" name="Rectangle 17"/>
          <p:cNvSpPr/>
          <p:nvPr/>
        </p:nvSpPr>
        <p:spPr bwMode="auto">
          <a:xfrm>
            <a:off x="1320801" y="0"/>
            <a:ext cx="8255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19" name="Oval 18"/>
          <p:cNvSpPr/>
          <p:nvPr/>
        </p:nvSpPr>
        <p:spPr bwMode="auto">
          <a:xfrm>
            <a:off x="660401" y="3429003"/>
            <a:ext cx="140335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0" name="Oval 19"/>
          <p:cNvSpPr/>
          <p:nvPr/>
        </p:nvSpPr>
        <p:spPr bwMode="auto">
          <a:xfrm>
            <a:off x="1435096" y="4866754"/>
            <a:ext cx="694876"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1" name="Oval 20"/>
          <p:cNvSpPr/>
          <p:nvPr/>
        </p:nvSpPr>
        <p:spPr bwMode="auto">
          <a:xfrm>
            <a:off x="1182004" y="5500632"/>
            <a:ext cx="14859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2" name="Oval 21"/>
          <p:cNvSpPr/>
          <p:nvPr/>
        </p:nvSpPr>
        <p:spPr bwMode="auto">
          <a:xfrm>
            <a:off x="1802892" y="5791200"/>
            <a:ext cx="29718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3" name="Oval 22"/>
          <p:cNvSpPr/>
          <p:nvPr/>
        </p:nvSpPr>
        <p:spPr bwMode="auto">
          <a:xfrm>
            <a:off x="2035627" y="4479888"/>
            <a:ext cx="39624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6" name="Straight Connector 25"/>
          <p:cNvSpPr>
            <a:spLocks noChangeShapeType="1"/>
          </p:cNvSpPr>
          <p:nvPr/>
        </p:nvSpPr>
        <p:spPr bwMode="auto">
          <a:xfrm>
            <a:off x="985610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6" name="Slide Number Placeholder 5"/>
          <p:cNvSpPr>
            <a:spLocks noGrp="1"/>
          </p:cNvSpPr>
          <p:nvPr>
            <p:ph type="sldNum" sz="quarter" idx="12"/>
          </p:nvPr>
        </p:nvSpPr>
        <p:spPr bwMode="auto">
          <a:xfrm>
            <a:off x="1452334" y="4928704"/>
            <a:ext cx="660400" cy="517524"/>
          </a:xfrm>
        </p:spPr>
        <p:txBody>
          <a:bodyPr/>
          <a:lstStyle/>
          <a:p>
            <a:fld id="{DA3F6A48-0F7F-488C-AF53-38029562AE9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31AD75D2-6997-4634-8533-5B1CA711EDFB}"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F6A48-0F7F-488C-AF53-38029562AE97}" type="slidenum">
              <a:rPr lang="en-US" smtClean="0"/>
              <a:t>‹#›</a:t>
            </a:fld>
            <a:endParaRPr lang="en-US"/>
          </a:p>
        </p:txBody>
      </p:sp>
      <p:sp>
        <p:nvSpPr>
          <p:cNvPr id="9" name="Content Placeholder 8"/>
          <p:cNvSpPr>
            <a:spLocks noGrp="1"/>
          </p:cNvSpPr>
          <p:nvPr>
            <p:ph sz="quarter" idx="1"/>
          </p:nvPr>
        </p:nvSpPr>
        <p:spPr>
          <a:xfrm>
            <a:off x="495300" y="1600200"/>
            <a:ext cx="39624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26102" y="1600200"/>
            <a:ext cx="39624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1" y="273050"/>
            <a:ext cx="817245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31AD75D2-6997-4634-8533-5B1CA711EDFB}" type="datetimeFigureOut">
              <a:rPr lang="en-US" smtClean="0"/>
              <a:t>4/10/2025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3F6A48-0F7F-488C-AF53-38029562AE97}" type="slidenum">
              <a:rPr lang="en-US" smtClean="0"/>
              <a:t>‹#›</a:t>
            </a:fld>
            <a:endParaRPr lang="en-US"/>
          </a:p>
        </p:txBody>
      </p:sp>
      <p:sp>
        <p:nvSpPr>
          <p:cNvPr id="11" name="Content Placeholder 10"/>
          <p:cNvSpPr>
            <a:spLocks noGrp="1"/>
          </p:cNvSpPr>
          <p:nvPr>
            <p:ph sz="quarter" idx="2"/>
          </p:nvPr>
        </p:nvSpPr>
        <p:spPr>
          <a:xfrm>
            <a:off x="495300" y="2362200"/>
            <a:ext cx="39624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736306" y="2362200"/>
            <a:ext cx="39624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95300" y="1569720"/>
            <a:ext cx="3962400" cy="658368"/>
          </a:xfrm>
          <a:prstGeom prst="roundRect">
            <a:avLst>
              <a:gd name="adj" fmla="val 16667"/>
            </a:avLst>
          </a:prstGeom>
          <a:solidFill>
            <a:schemeClr val="accent1"/>
          </a:solidFill>
        </p:spPr>
        <p:txBody>
          <a:bodyPr rtlCol="0" anchor="ctr">
            <a:noAutofit/>
          </a:bodyPr>
          <a:lstStyle>
            <a:lvl1pPr marL="0" indent="0">
              <a:buFontTx/>
              <a:buNone/>
              <a:defRPr sz="19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705350" y="1569720"/>
            <a:ext cx="3962400" cy="658368"/>
          </a:xfrm>
          <a:prstGeom prst="roundRect">
            <a:avLst>
              <a:gd name="adj" fmla="val 16667"/>
            </a:avLst>
          </a:prstGeom>
          <a:solidFill>
            <a:schemeClr val="accent1"/>
          </a:solidFill>
        </p:spPr>
        <p:txBody>
          <a:bodyPr rtlCol="0" anchor="ctr">
            <a:noAutofit/>
          </a:bodyPr>
          <a:lstStyle>
            <a:lvl1pPr marL="0" indent="0">
              <a:buFontTx/>
              <a:buNone/>
              <a:defRPr sz="19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31AD75D2-6997-4634-8533-5B1CA711EDFB}" type="datetimeFigureOut">
              <a:rPr lang="en-US" smtClean="0"/>
              <a:t>4/10/2025</a:t>
            </a:fld>
            <a:endParaRPr lang="en-US"/>
          </a:p>
        </p:txBody>
      </p:sp>
      <p:sp>
        <p:nvSpPr>
          <p:cNvPr id="7" name="Slide Number Placeholder 6"/>
          <p:cNvSpPr>
            <a:spLocks noGrp="1"/>
          </p:cNvSpPr>
          <p:nvPr>
            <p:ph type="sldNum" sz="quarter" idx="11"/>
          </p:nvPr>
        </p:nvSpPr>
        <p:spPr/>
        <p:txBody>
          <a:bodyPr rtlCol="0"/>
          <a:lstStyle/>
          <a:p>
            <a:fld id="{DA3F6A48-0F7F-488C-AF53-38029562AE97}"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AD75D2-6997-4634-8533-5B1CA711EDFB}" type="datetimeFigureOut">
              <a:rPr lang="en-US" smtClean="0"/>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3F6A48-0F7F-488C-AF53-38029562AE97}"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949325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86013" tIns="43006" rIns="86013" bIns="43006" anchor="t" compatLnSpc="1"/>
          <a:lstStyle/>
          <a:p>
            <a:endParaRPr kumimoji="0" lang="en-US" dirty="0"/>
          </a:p>
        </p:txBody>
      </p:sp>
      <p:sp>
        <p:nvSpPr>
          <p:cNvPr id="2" name="Title 1"/>
          <p:cNvSpPr>
            <a:spLocks noGrp="1"/>
          </p:cNvSpPr>
          <p:nvPr>
            <p:ph type="title"/>
          </p:nvPr>
        </p:nvSpPr>
        <p:spPr>
          <a:xfrm rot="5400000">
            <a:off x="3915728" y="3181350"/>
            <a:ext cx="6309360" cy="495300"/>
          </a:xfrm>
        </p:spPr>
        <p:txBody>
          <a:bodyPr anchor="b"/>
          <a:lstStyle>
            <a:lvl1pPr algn="l">
              <a:buNone/>
              <a:defRPr sz="19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7379971" y="274320"/>
            <a:ext cx="1654302" cy="4983480"/>
          </a:xfrm>
        </p:spPr>
        <p:txBody>
          <a:bodyPr/>
          <a:lstStyle>
            <a:lvl1pPr marL="0" indent="0">
              <a:spcBef>
                <a:spcPts val="376"/>
              </a:spcBef>
              <a:spcAft>
                <a:spcPts val="941"/>
              </a:spcAft>
              <a:buNone/>
              <a:defRPr sz="1200"/>
            </a:lvl1pPr>
            <a:lvl2pPr>
              <a:buNone/>
              <a:defRPr sz="1200"/>
            </a:lvl2pPr>
            <a:lvl3pPr>
              <a:buNone/>
              <a:defRPr sz="900"/>
            </a:lvl3pPr>
            <a:lvl4pPr>
              <a:buNone/>
              <a:defRPr sz="800"/>
            </a:lvl4pPr>
            <a:lvl5pPr>
              <a:buNone/>
              <a:defRPr sz="8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7691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dirty="0"/>
          </a:p>
        </p:txBody>
      </p:sp>
      <p:sp>
        <p:nvSpPr>
          <p:cNvPr id="9" name="Straight Connector 8"/>
          <p:cNvSpPr>
            <a:spLocks noChangeShapeType="1"/>
          </p:cNvSpPr>
          <p:nvPr/>
        </p:nvSpPr>
        <p:spPr bwMode="auto">
          <a:xfrm>
            <a:off x="6708320"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dirty="0"/>
          </a:p>
        </p:txBody>
      </p:sp>
      <p:sp>
        <p:nvSpPr>
          <p:cNvPr id="11" name="Straight Connector 10"/>
          <p:cNvSpPr>
            <a:spLocks noChangeShapeType="1"/>
          </p:cNvSpPr>
          <p:nvPr/>
        </p:nvSpPr>
        <p:spPr bwMode="auto">
          <a:xfrm>
            <a:off x="97409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2" name="Rectangle 11"/>
          <p:cNvSpPr/>
          <p:nvPr/>
        </p:nvSpPr>
        <p:spPr bwMode="auto">
          <a:xfrm>
            <a:off x="9575800" y="0"/>
            <a:ext cx="3302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3" name="Straight Connector 12"/>
          <p:cNvSpPr>
            <a:spLocks noChangeShapeType="1"/>
          </p:cNvSpPr>
          <p:nvPr/>
        </p:nvSpPr>
        <p:spPr bwMode="auto">
          <a:xfrm>
            <a:off x="965835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4" name="Oval 13"/>
          <p:cNvSpPr/>
          <p:nvPr/>
        </p:nvSpPr>
        <p:spPr>
          <a:xfrm>
            <a:off x="8836152" y="5715000"/>
            <a:ext cx="59436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18" name="Content Placeholder 17"/>
          <p:cNvSpPr>
            <a:spLocks noGrp="1"/>
          </p:cNvSpPr>
          <p:nvPr>
            <p:ph sz="quarter" idx="1"/>
          </p:nvPr>
        </p:nvSpPr>
        <p:spPr>
          <a:xfrm>
            <a:off x="330200" y="274320"/>
            <a:ext cx="61087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31AD75D2-6997-4634-8533-5B1CA711EDFB}" type="datetimeFigureOut">
              <a:rPr lang="en-US" smtClean="0"/>
              <a:t>4/10/2025</a:t>
            </a:fld>
            <a:endParaRPr lang="en-US"/>
          </a:p>
        </p:txBody>
      </p:sp>
      <p:sp>
        <p:nvSpPr>
          <p:cNvPr id="22" name="Slide Number Placeholder 21"/>
          <p:cNvSpPr>
            <a:spLocks noGrp="1"/>
          </p:cNvSpPr>
          <p:nvPr>
            <p:ph type="sldNum" sz="quarter" idx="15"/>
          </p:nvPr>
        </p:nvSpPr>
        <p:spPr/>
        <p:txBody>
          <a:bodyPr rtlCol="0"/>
          <a:lstStyle/>
          <a:p>
            <a:fld id="{DA3F6A48-0F7F-488C-AF53-38029562AE97}"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949325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3" name="Oval 12"/>
          <p:cNvSpPr/>
          <p:nvPr/>
        </p:nvSpPr>
        <p:spPr>
          <a:xfrm>
            <a:off x="8836152" y="5715000"/>
            <a:ext cx="59436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 name="Title 1"/>
          <p:cNvSpPr>
            <a:spLocks noGrp="1"/>
          </p:cNvSpPr>
          <p:nvPr>
            <p:ph type="title"/>
          </p:nvPr>
        </p:nvSpPr>
        <p:spPr>
          <a:xfrm rot="5400000">
            <a:off x="3892201" y="3181350"/>
            <a:ext cx="6309360" cy="495300"/>
          </a:xfrm>
        </p:spPr>
        <p:txBody>
          <a:bodyPr anchor="b"/>
          <a:lstStyle>
            <a:lvl1pPr algn="l">
              <a:buNone/>
              <a:defRPr sz="19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 y="0"/>
            <a:ext cx="668655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1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7329615" y="264795"/>
            <a:ext cx="1651000" cy="4956048"/>
          </a:xfrm>
        </p:spPr>
        <p:txBody>
          <a:bodyPr rot="0" spcFirstLastPara="0" vertOverflow="overflow" horzOverflow="overflow" vert="horz" wrap="square" lIns="86013" tIns="43006" rIns="86013" bIns="43006" numCol="1" spcCol="258037" rtlCol="0" fromWordArt="0" anchor="t" anchorCtr="0" forceAA="0" compatLnSpc="1">
            <a:normAutofit/>
          </a:bodyPr>
          <a:lstStyle>
            <a:lvl1pPr marL="0" indent="0">
              <a:spcBef>
                <a:spcPts val="94"/>
              </a:spcBef>
              <a:spcAft>
                <a:spcPts val="376"/>
              </a:spcAft>
              <a:buFontTx/>
              <a:buNone/>
              <a:defRPr sz="1200"/>
            </a:lvl1pPr>
            <a:lvl2pPr>
              <a:defRPr sz="1200"/>
            </a:lvl2pPr>
            <a:lvl3pPr>
              <a:defRPr sz="900"/>
            </a:lvl3pPr>
            <a:lvl4pPr>
              <a:defRPr sz="800"/>
            </a:lvl4pPr>
            <a:lvl5pPr>
              <a:defRPr sz="8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97409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1" name="Rectangle 10"/>
          <p:cNvSpPr/>
          <p:nvPr/>
        </p:nvSpPr>
        <p:spPr bwMode="auto">
          <a:xfrm>
            <a:off x="9575800" y="0"/>
            <a:ext cx="3302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2" name="Straight Connector 11"/>
          <p:cNvSpPr>
            <a:spLocks noChangeShapeType="1"/>
          </p:cNvSpPr>
          <p:nvPr/>
        </p:nvSpPr>
        <p:spPr bwMode="auto">
          <a:xfrm>
            <a:off x="965835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9" name="Straight Connector 18"/>
          <p:cNvSpPr>
            <a:spLocks noChangeShapeType="1"/>
          </p:cNvSpPr>
          <p:nvPr/>
        </p:nvSpPr>
        <p:spPr bwMode="auto">
          <a:xfrm>
            <a:off x="67691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dirty="0"/>
          </a:p>
        </p:txBody>
      </p:sp>
      <p:sp>
        <p:nvSpPr>
          <p:cNvPr id="20" name="Straight Connector 19"/>
          <p:cNvSpPr>
            <a:spLocks noChangeShapeType="1"/>
          </p:cNvSpPr>
          <p:nvPr/>
        </p:nvSpPr>
        <p:spPr bwMode="auto">
          <a:xfrm>
            <a:off x="6708320"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dirty="0"/>
          </a:p>
        </p:txBody>
      </p:sp>
      <p:sp>
        <p:nvSpPr>
          <p:cNvPr id="17" name="Date Placeholder 16"/>
          <p:cNvSpPr>
            <a:spLocks noGrp="1"/>
          </p:cNvSpPr>
          <p:nvPr>
            <p:ph type="dt" sz="half" idx="10"/>
          </p:nvPr>
        </p:nvSpPr>
        <p:spPr/>
        <p:txBody>
          <a:bodyPr rtlCol="0"/>
          <a:lstStyle/>
          <a:p>
            <a:fld id="{31AD75D2-6997-4634-8533-5B1CA711EDFB}" type="datetimeFigureOut">
              <a:rPr lang="en-US" smtClean="0"/>
              <a:t>4/10/2025</a:t>
            </a:fld>
            <a:endParaRPr lang="en-US"/>
          </a:p>
        </p:txBody>
      </p:sp>
      <p:sp>
        <p:nvSpPr>
          <p:cNvPr id="18" name="Slide Number Placeholder 17"/>
          <p:cNvSpPr>
            <a:spLocks noGrp="1"/>
          </p:cNvSpPr>
          <p:nvPr>
            <p:ph type="sldNum" sz="quarter" idx="11"/>
          </p:nvPr>
        </p:nvSpPr>
        <p:spPr/>
        <p:txBody>
          <a:bodyPr rtlCol="0"/>
          <a:lstStyle/>
          <a:p>
            <a:fld id="{DA3F6A48-0F7F-488C-AF53-38029562AE97}"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1AD75D2-6997-4634-8533-5B1CA711EDFB}"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F6A48-0F7F-488C-AF53-38029562AE9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18161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95301" y="274638"/>
            <a:ext cx="652145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1AD75D2-6997-4634-8533-5B1CA711EDFB}"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F6A48-0F7F-488C-AF53-38029562AE9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949325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86013" tIns="43006" rIns="86013" bIns="43006" anchor="t" compatLnSpc="1"/>
          <a:lstStyle/>
          <a:p>
            <a:endParaRPr kumimoji="0" lang="en-US" dirty="0"/>
          </a:p>
        </p:txBody>
      </p:sp>
      <p:sp>
        <p:nvSpPr>
          <p:cNvPr id="22" name="Title Placeholder 21"/>
          <p:cNvSpPr>
            <a:spLocks noGrp="1"/>
          </p:cNvSpPr>
          <p:nvPr>
            <p:ph type="title"/>
          </p:nvPr>
        </p:nvSpPr>
        <p:spPr>
          <a:xfrm>
            <a:off x="495300" y="274638"/>
            <a:ext cx="8089900" cy="1143000"/>
          </a:xfrm>
          <a:prstGeom prst="rect">
            <a:avLst/>
          </a:prstGeom>
        </p:spPr>
        <p:txBody>
          <a:bodyPr vert="horz" lIns="86013" tIns="43006" rIns="86013" bIns="43006"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95300" y="1600200"/>
            <a:ext cx="8089900" cy="4873752"/>
          </a:xfrm>
          <a:prstGeom prst="rect">
            <a:avLst/>
          </a:prstGeom>
        </p:spPr>
        <p:txBody>
          <a:bodyPr vert="horz" lIns="86013" tIns="43006" rIns="86013" bIns="43006">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8305800" y="1065850"/>
            <a:ext cx="2011680" cy="416052"/>
          </a:xfrm>
          <a:prstGeom prst="rect">
            <a:avLst/>
          </a:prstGeom>
        </p:spPr>
        <p:txBody>
          <a:bodyPr vert="horz" lIns="86013" tIns="43006" rIns="86013" bIns="43006" anchor="ctr" anchorCtr="0"/>
          <a:lstStyle>
            <a:lvl1pPr algn="r" eaLnBrk="1" latinLnBrk="0" hangingPunct="1">
              <a:defRPr kumimoji="0" sz="1200">
                <a:solidFill>
                  <a:schemeClr val="tx2"/>
                </a:solidFill>
              </a:defRPr>
            </a:lvl1pPr>
          </a:lstStyle>
          <a:p>
            <a:fld id="{31AD75D2-6997-4634-8533-5B1CA711EDFB}" type="datetimeFigureOut">
              <a:rPr lang="en-US" smtClean="0"/>
              <a:t>4/10/2025</a:t>
            </a:fld>
            <a:endParaRPr lang="en-US"/>
          </a:p>
        </p:txBody>
      </p:sp>
      <p:sp>
        <p:nvSpPr>
          <p:cNvPr id="3" name="Footer Placeholder 2"/>
          <p:cNvSpPr>
            <a:spLocks noGrp="1"/>
          </p:cNvSpPr>
          <p:nvPr>
            <p:ph type="ftr" sz="quarter" idx="3"/>
          </p:nvPr>
        </p:nvSpPr>
        <p:spPr>
          <a:xfrm rot="5400000">
            <a:off x="7706052" y="3722000"/>
            <a:ext cx="3200400" cy="396240"/>
          </a:xfrm>
          <a:prstGeom prst="rect">
            <a:avLst/>
          </a:prstGeom>
        </p:spPr>
        <p:txBody>
          <a:bodyPr vert="horz" lIns="86013" tIns="43006" rIns="86013" bIns="43006"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8255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9" name="Straight Connector 8"/>
          <p:cNvSpPr>
            <a:spLocks noChangeShapeType="1"/>
          </p:cNvSpPr>
          <p:nvPr/>
        </p:nvSpPr>
        <p:spPr bwMode="auto">
          <a:xfrm>
            <a:off x="97409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0" name="Rectangle 9"/>
          <p:cNvSpPr/>
          <p:nvPr/>
        </p:nvSpPr>
        <p:spPr bwMode="auto">
          <a:xfrm>
            <a:off x="9575800" y="0"/>
            <a:ext cx="3302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a:p>
        </p:txBody>
      </p:sp>
      <p:sp>
        <p:nvSpPr>
          <p:cNvPr id="11" name="Straight Connector 10"/>
          <p:cNvSpPr>
            <a:spLocks noChangeShapeType="1"/>
          </p:cNvSpPr>
          <p:nvPr/>
        </p:nvSpPr>
        <p:spPr bwMode="auto">
          <a:xfrm>
            <a:off x="965835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86013" tIns="43006" rIns="86013" bIns="43006" anchor="t" compatLnSpc="1"/>
          <a:lstStyle/>
          <a:p>
            <a:endParaRPr kumimoji="0" lang="en-US"/>
          </a:p>
        </p:txBody>
      </p:sp>
      <p:sp>
        <p:nvSpPr>
          <p:cNvPr id="12" name="Oval 11"/>
          <p:cNvSpPr/>
          <p:nvPr/>
        </p:nvSpPr>
        <p:spPr>
          <a:xfrm>
            <a:off x="8836152" y="5715000"/>
            <a:ext cx="59436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86013" tIns="43006" rIns="86013" bIns="43006"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806434" y="5734050"/>
            <a:ext cx="660400" cy="521208"/>
          </a:xfrm>
          <a:prstGeom prst="rect">
            <a:avLst/>
          </a:prstGeom>
        </p:spPr>
        <p:txBody>
          <a:bodyPr vert="horz" lIns="86013" tIns="43006" rIns="86013" bIns="43006" anchor="ctr"/>
          <a:lstStyle>
            <a:lvl1pPr algn="ctr" eaLnBrk="1" latinLnBrk="0" hangingPunct="1">
              <a:defRPr kumimoji="0" sz="1300" b="1">
                <a:solidFill>
                  <a:srgbClr val="FFFFFF"/>
                </a:solidFill>
              </a:defRPr>
            </a:lvl1pPr>
          </a:lstStyle>
          <a:p>
            <a:fld id="{DA3F6A48-0F7F-488C-AF53-38029562AE9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l" rtl="0" eaLnBrk="1" latinLnBrk="0" hangingPunct="1">
        <a:spcBef>
          <a:spcPct val="0"/>
        </a:spcBef>
        <a:buNone/>
        <a:defRPr kumimoji="0" sz="2800" b="0" kern="1200" cap="small" baseline="0">
          <a:solidFill>
            <a:schemeClr val="tx2"/>
          </a:solidFill>
          <a:latin typeface="+mj-lt"/>
          <a:ea typeface="+mj-ea"/>
          <a:cs typeface="+mj-cs"/>
        </a:defRPr>
      </a:lvl1pPr>
    </p:titleStyle>
    <p:bodyStyle>
      <a:lvl1pPr marL="258037" indent="-258037" algn="l" rtl="0" eaLnBrk="1" latinLnBrk="0" hangingPunct="1">
        <a:spcBef>
          <a:spcPts val="565"/>
        </a:spcBef>
        <a:buClr>
          <a:schemeClr val="accent1"/>
        </a:buClr>
        <a:buSzPct val="70000"/>
        <a:buFont typeface="Wingdings"/>
        <a:buChar char=""/>
        <a:defRPr kumimoji="0" sz="2200" kern="1200">
          <a:solidFill>
            <a:schemeClr val="tx1"/>
          </a:solidFill>
          <a:latin typeface="+mn-lt"/>
          <a:ea typeface="+mn-ea"/>
          <a:cs typeface="+mn-cs"/>
        </a:defRPr>
      </a:lvl1pPr>
      <a:lvl2pPr marL="602085" indent="-258037" algn="l" rtl="0" eaLnBrk="1" latinLnBrk="0" hangingPunct="1">
        <a:spcBef>
          <a:spcPct val="20000"/>
        </a:spcBef>
        <a:buClr>
          <a:schemeClr val="accent1"/>
        </a:buClr>
        <a:buSzPct val="80000"/>
        <a:buFont typeface="Wingdings 2"/>
        <a:buChar char=""/>
        <a:defRPr kumimoji="0" sz="2000" kern="1200">
          <a:solidFill>
            <a:schemeClr val="tx1"/>
          </a:solidFill>
          <a:latin typeface="+mn-lt"/>
          <a:ea typeface="+mn-ea"/>
          <a:cs typeface="+mn-cs"/>
        </a:defRPr>
      </a:lvl2pPr>
      <a:lvl3pPr marL="860121" indent="-172024" algn="l" rtl="0" eaLnBrk="1" latinLnBrk="0" hangingPunct="1">
        <a:spcBef>
          <a:spcPct val="20000"/>
        </a:spcBef>
        <a:buClr>
          <a:schemeClr val="accent1">
            <a:shade val="75000"/>
          </a:schemeClr>
        </a:buClr>
        <a:buSzPct val="60000"/>
        <a:buFont typeface="Wingdings"/>
        <a:buChar char=""/>
        <a:defRPr kumimoji="0" sz="1700" kern="1200">
          <a:solidFill>
            <a:schemeClr val="tx1"/>
          </a:solidFill>
          <a:latin typeface="+mn-lt"/>
          <a:ea typeface="+mn-ea"/>
          <a:cs typeface="+mn-cs"/>
        </a:defRPr>
      </a:lvl3pPr>
      <a:lvl4pPr marL="1118158" indent="-172024" algn="l" rtl="0" eaLnBrk="1" latinLnBrk="0" hangingPunct="1">
        <a:spcBef>
          <a:spcPct val="20000"/>
        </a:spcBef>
        <a:buClr>
          <a:schemeClr val="accent1">
            <a:tint val="60000"/>
          </a:schemeClr>
        </a:buClr>
        <a:buSzPct val="60000"/>
        <a:buFont typeface="Wingdings"/>
        <a:buChar char=""/>
        <a:defRPr kumimoji="0" sz="1700" kern="1200">
          <a:solidFill>
            <a:schemeClr val="tx1"/>
          </a:solidFill>
          <a:latin typeface="+mn-lt"/>
          <a:ea typeface="+mn-ea"/>
          <a:cs typeface="+mn-cs"/>
        </a:defRPr>
      </a:lvl4pPr>
      <a:lvl5pPr marL="1376194" indent="-172024" algn="l" rtl="0" eaLnBrk="1" latinLnBrk="0" hangingPunct="1">
        <a:spcBef>
          <a:spcPct val="20000"/>
        </a:spcBef>
        <a:buClr>
          <a:schemeClr val="accent2">
            <a:tint val="60000"/>
          </a:schemeClr>
        </a:buClr>
        <a:buSzPct val="68000"/>
        <a:buFont typeface="Wingdings 2"/>
        <a:buChar char=""/>
        <a:defRPr kumimoji="0" sz="1500" kern="1200">
          <a:solidFill>
            <a:schemeClr val="tx1"/>
          </a:solidFill>
          <a:latin typeface="+mn-lt"/>
          <a:ea typeface="+mn-ea"/>
          <a:cs typeface="+mn-cs"/>
        </a:defRPr>
      </a:lvl5pPr>
      <a:lvl6pPr marL="1634230" indent="-172024" algn="l" rtl="0" eaLnBrk="1" latinLnBrk="0" hangingPunct="1">
        <a:spcBef>
          <a:spcPct val="20000"/>
        </a:spcBef>
        <a:buClr>
          <a:schemeClr val="accent1"/>
        </a:buClr>
        <a:buChar char="•"/>
        <a:defRPr kumimoji="0" sz="1500" kern="1200">
          <a:solidFill>
            <a:schemeClr val="tx2"/>
          </a:solidFill>
          <a:latin typeface="+mn-lt"/>
          <a:ea typeface="+mn-ea"/>
          <a:cs typeface="+mn-cs"/>
        </a:defRPr>
      </a:lvl6pPr>
      <a:lvl7pPr marL="1892267" indent="-172024" algn="l" rtl="0" eaLnBrk="1" latinLnBrk="0" hangingPunct="1">
        <a:spcBef>
          <a:spcPct val="20000"/>
        </a:spcBef>
        <a:buClr>
          <a:schemeClr val="accent1">
            <a:tint val="60000"/>
          </a:schemeClr>
        </a:buClr>
        <a:buSzPct val="60000"/>
        <a:buFont typeface="Wingdings"/>
        <a:buChar char=""/>
        <a:defRPr kumimoji="0" sz="1300" kern="1200" baseline="0">
          <a:solidFill>
            <a:schemeClr val="tx2"/>
          </a:solidFill>
          <a:latin typeface="+mn-lt"/>
          <a:ea typeface="+mn-ea"/>
          <a:cs typeface="+mn-cs"/>
        </a:defRPr>
      </a:lvl7pPr>
      <a:lvl8pPr marL="2150303" indent="-172024" algn="l" rtl="0" eaLnBrk="1" latinLnBrk="0" hangingPunct="1">
        <a:spcBef>
          <a:spcPct val="20000"/>
        </a:spcBef>
        <a:buClr>
          <a:schemeClr val="accent2"/>
        </a:buClr>
        <a:buChar char="•"/>
        <a:defRPr kumimoji="0" sz="1300" kern="1200" cap="small" baseline="0">
          <a:solidFill>
            <a:schemeClr val="tx2"/>
          </a:solidFill>
          <a:latin typeface="+mn-lt"/>
          <a:ea typeface="+mn-ea"/>
          <a:cs typeface="+mn-cs"/>
        </a:defRPr>
      </a:lvl8pPr>
      <a:lvl9pPr marL="2408339" indent="-172024" algn="l" rtl="0" eaLnBrk="1" latinLnBrk="0" hangingPunct="1">
        <a:spcBef>
          <a:spcPct val="20000"/>
        </a:spcBef>
        <a:buClr>
          <a:schemeClr val="accent1">
            <a:shade val="75000"/>
          </a:schemeClr>
        </a:buClr>
        <a:buChar char="•"/>
        <a:defRPr kumimoji="0" sz="13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30061" algn="l" rtl="0" eaLnBrk="1" latinLnBrk="0" hangingPunct="1">
        <a:defRPr kumimoji="0" kern="1200">
          <a:solidFill>
            <a:schemeClr val="tx1"/>
          </a:solidFill>
          <a:latin typeface="+mn-lt"/>
          <a:ea typeface="+mn-ea"/>
          <a:cs typeface="+mn-cs"/>
        </a:defRPr>
      </a:lvl2pPr>
      <a:lvl3pPr marL="860121" algn="l" rtl="0" eaLnBrk="1" latinLnBrk="0" hangingPunct="1">
        <a:defRPr kumimoji="0" kern="1200">
          <a:solidFill>
            <a:schemeClr val="tx1"/>
          </a:solidFill>
          <a:latin typeface="+mn-lt"/>
          <a:ea typeface="+mn-ea"/>
          <a:cs typeface="+mn-cs"/>
        </a:defRPr>
      </a:lvl3pPr>
      <a:lvl4pPr marL="1290182" algn="l" rtl="0" eaLnBrk="1" latinLnBrk="0" hangingPunct="1">
        <a:defRPr kumimoji="0" kern="1200">
          <a:solidFill>
            <a:schemeClr val="tx1"/>
          </a:solidFill>
          <a:latin typeface="+mn-lt"/>
          <a:ea typeface="+mn-ea"/>
          <a:cs typeface="+mn-cs"/>
        </a:defRPr>
      </a:lvl4pPr>
      <a:lvl5pPr marL="1720243" algn="l" rtl="0" eaLnBrk="1" latinLnBrk="0" hangingPunct="1">
        <a:defRPr kumimoji="0" kern="1200">
          <a:solidFill>
            <a:schemeClr val="tx1"/>
          </a:solidFill>
          <a:latin typeface="+mn-lt"/>
          <a:ea typeface="+mn-ea"/>
          <a:cs typeface="+mn-cs"/>
        </a:defRPr>
      </a:lvl5pPr>
      <a:lvl6pPr marL="2150303" algn="l" rtl="0" eaLnBrk="1" latinLnBrk="0" hangingPunct="1">
        <a:defRPr kumimoji="0" kern="1200">
          <a:solidFill>
            <a:schemeClr val="tx1"/>
          </a:solidFill>
          <a:latin typeface="+mn-lt"/>
          <a:ea typeface="+mn-ea"/>
          <a:cs typeface="+mn-cs"/>
        </a:defRPr>
      </a:lvl6pPr>
      <a:lvl7pPr marL="2580363" algn="l" rtl="0" eaLnBrk="1" latinLnBrk="0" hangingPunct="1">
        <a:defRPr kumimoji="0" kern="1200">
          <a:solidFill>
            <a:schemeClr val="tx1"/>
          </a:solidFill>
          <a:latin typeface="+mn-lt"/>
          <a:ea typeface="+mn-ea"/>
          <a:cs typeface="+mn-cs"/>
        </a:defRPr>
      </a:lvl7pPr>
      <a:lvl8pPr marL="3010424" algn="l" rtl="0" eaLnBrk="1" latinLnBrk="0" hangingPunct="1">
        <a:defRPr kumimoji="0" kern="1200">
          <a:solidFill>
            <a:schemeClr val="tx1"/>
          </a:solidFill>
          <a:latin typeface="+mn-lt"/>
          <a:ea typeface="+mn-ea"/>
          <a:cs typeface="+mn-cs"/>
        </a:defRPr>
      </a:lvl8pPr>
      <a:lvl9pPr marL="3440485"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24.xml"/><Relationship Id="rId3" Type="http://schemas.openxmlformats.org/officeDocument/2006/relationships/slide" Target="slide9.xml"/><Relationship Id="rId7" Type="http://schemas.openxmlformats.org/officeDocument/2006/relationships/slide" Target="slide16.xml"/><Relationship Id="rId12" Type="http://schemas.openxmlformats.org/officeDocument/2006/relationships/slide" Target="slide23.xml"/><Relationship Id="rId2" Type="http://schemas.openxmlformats.org/officeDocument/2006/relationships/slide" Target="slide3.xml"/><Relationship Id="rId16" Type="http://schemas.openxmlformats.org/officeDocument/2006/relationships/slide" Target="slide2.xml"/><Relationship Id="rId1" Type="http://schemas.openxmlformats.org/officeDocument/2006/relationships/slideLayout" Target="../slideLayouts/slideLayout3.xml"/><Relationship Id="rId6" Type="http://schemas.openxmlformats.org/officeDocument/2006/relationships/slide" Target="slide14.xml"/><Relationship Id="rId11" Type="http://schemas.openxmlformats.org/officeDocument/2006/relationships/slide" Target="slide22.xml"/><Relationship Id="rId5" Type="http://schemas.openxmlformats.org/officeDocument/2006/relationships/slide" Target="slide10.xml"/><Relationship Id="rId15" Type="http://schemas.openxmlformats.org/officeDocument/2006/relationships/slide" Target="slide26.xml"/><Relationship Id="rId10" Type="http://schemas.openxmlformats.org/officeDocument/2006/relationships/slide" Target="slide21.xml"/><Relationship Id="rId4" Type="http://schemas.openxmlformats.org/officeDocument/2006/relationships/slide" Target="slide11.xml"/><Relationship Id="rId9" Type="http://schemas.openxmlformats.org/officeDocument/2006/relationships/slide" Target="slide20.xml"/><Relationship Id="rId14" Type="http://schemas.openxmlformats.org/officeDocument/2006/relationships/slide" Target="slide2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slide" Target="slide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slide" Target="slide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slide" Target="slide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slide" Target="slide2.xml"/><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slide" Target="slide2.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slide" Target="slide2.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slide" Target="slide2.xml"/><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hyperlink" Target="https://www.geeksforgeeks.org/" TargetMode="External"/><Relationship Id="rId2" Type="http://schemas.openxmlformats.org/officeDocument/2006/relationships/hyperlink" Target="https://developer.hashicorp.com/terraform/docs." TargetMode="External"/><Relationship Id="rId1" Type="http://schemas.openxmlformats.org/officeDocument/2006/relationships/slideLayout" Target="../slideLayouts/slideLayout1.xml"/><Relationship Id="rId5" Type="http://schemas.openxmlformats.org/officeDocument/2006/relationships/slide" Target="slide2.xml"/><Relationship Id="rId4" Type="http://schemas.openxmlformats.org/officeDocument/2006/relationships/hyperlink" Target="https://www.terraform.io/"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14300"/>
            <a:ext cx="7772400" cy="762000"/>
          </a:xfrm>
        </p:spPr>
        <p:txBody>
          <a:bodyPr>
            <a:normAutofit fontScale="90000"/>
          </a:bodyPr>
          <a:lstStyle/>
          <a:p>
            <a:pPr algn="ctr"/>
            <a:r>
              <a:rPr lang="en-US" sz="3100" dirty="0">
                <a:solidFill>
                  <a:srgbClr val="0070C0"/>
                </a:solidFill>
                <a:latin typeface="Times New Roman" pitchFamily="18" charset="0"/>
                <a:cs typeface="Times New Roman" pitchFamily="18" charset="0"/>
              </a:rPr>
              <a:t>SHREE UTTAR GUJARAT BCA COLLEGE</a:t>
            </a:r>
            <a:endParaRPr lang="en-US" sz="3100" dirty="0">
              <a:solidFill>
                <a:srgbClr val="0070C0"/>
              </a:solidFill>
            </a:endParaRPr>
          </a:p>
        </p:txBody>
      </p:sp>
      <p:sp>
        <p:nvSpPr>
          <p:cNvPr id="3" name="Subtitle 2"/>
          <p:cNvSpPr>
            <a:spLocks noGrp="1"/>
          </p:cNvSpPr>
          <p:nvPr>
            <p:ph type="subTitle" idx="1"/>
          </p:nvPr>
        </p:nvSpPr>
        <p:spPr>
          <a:xfrm>
            <a:off x="2438400" y="1818092"/>
            <a:ext cx="6686550" cy="4357839"/>
          </a:xfrm>
        </p:spPr>
        <p:txBody>
          <a:bodyPr>
            <a:normAutofit/>
          </a:bodyPr>
          <a:lstStyle/>
          <a:p>
            <a:pPr algn="ctr"/>
            <a:r>
              <a:rPr lang="en-US" sz="2200" dirty="0">
                <a:solidFill>
                  <a:srgbClr val="0070C0"/>
                </a:solidFill>
                <a:latin typeface="Times New Roman" pitchFamily="18" charset="0"/>
                <a:cs typeface="Times New Roman" pitchFamily="18" charset="0"/>
              </a:rPr>
              <a:t>A</a:t>
            </a:r>
          </a:p>
          <a:p>
            <a:pPr algn="ctr"/>
            <a:r>
              <a:rPr lang="en-US" sz="2200" dirty="0">
                <a:solidFill>
                  <a:srgbClr val="0070C0"/>
                </a:solidFill>
                <a:latin typeface="Times New Roman" pitchFamily="18" charset="0"/>
                <a:cs typeface="Times New Roman" pitchFamily="18" charset="0"/>
              </a:rPr>
              <a:t>Seminar Presentation on </a:t>
            </a:r>
          </a:p>
          <a:p>
            <a:pPr algn="ctr"/>
            <a:r>
              <a:rPr lang="en-US" sz="2200" dirty="0">
                <a:solidFill>
                  <a:schemeClr val="accent1">
                    <a:lumMod val="50000"/>
                  </a:schemeClr>
                </a:solidFill>
                <a:latin typeface="Times New Roman" pitchFamily="18" charset="0"/>
                <a:cs typeface="Times New Roman" pitchFamily="18" charset="0"/>
              </a:rPr>
              <a:t>TERRAFORM</a:t>
            </a:r>
          </a:p>
          <a:p>
            <a:pPr algn="ctr"/>
            <a:endParaRPr lang="en-US" sz="2200" dirty="0">
              <a:solidFill>
                <a:srgbClr val="0070C0"/>
              </a:solidFill>
              <a:latin typeface="Times New Roman" pitchFamily="18" charset="0"/>
              <a:cs typeface="Times New Roman" pitchFamily="18" charset="0"/>
            </a:endParaRPr>
          </a:p>
          <a:p>
            <a:pPr algn="ctr"/>
            <a:r>
              <a:rPr lang="en-US" sz="2200" dirty="0">
                <a:solidFill>
                  <a:srgbClr val="0070C0"/>
                </a:solidFill>
                <a:latin typeface="Times New Roman" pitchFamily="18" charset="0"/>
                <a:cs typeface="Times New Roman" pitchFamily="18" charset="0"/>
              </a:rPr>
              <a:t>Submited By:</a:t>
            </a:r>
          </a:p>
          <a:p>
            <a:pPr algn="ctr"/>
            <a:r>
              <a:rPr lang="en-US" sz="2200" dirty="0">
                <a:solidFill>
                  <a:schemeClr val="accent1">
                    <a:lumMod val="50000"/>
                  </a:schemeClr>
                </a:solidFill>
                <a:latin typeface="Times New Roman" pitchFamily="18" charset="0"/>
                <a:cs typeface="Times New Roman" pitchFamily="18" charset="0"/>
              </a:rPr>
              <a:t> Patel Vaishnavi Rajneshkumar</a:t>
            </a:r>
          </a:p>
          <a:p>
            <a:pPr algn="ctr"/>
            <a:r>
              <a:rPr lang="en-US" sz="2200" dirty="0">
                <a:solidFill>
                  <a:schemeClr val="accent1">
                    <a:lumMod val="50000"/>
                  </a:schemeClr>
                </a:solidFill>
                <a:latin typeface="Times New Roman" pitchFamily="18" charset="0"/>
                <a:cs typeface="Times New Roman" pitchFamily="18" charset="0"/>
              </a:rPr>
              <a:t>Exam no : 3715</a:t>
            </a:r>
          </a:p>
          <a:p>
            <a:pPr algn="ctr"/>
            <a:endParaRPr lang="en-US" sz="2200" dirty="0">
              <a:solidFill>
                <a:srgbClr val="0070C0"/>
              </a:solidFill>
              <a:latin typeface="Times New Roman" pitchFamily="18" charset="0"/>
              <a:cs typeface="Times New Roman" pitchFamily="18" charset="0"/>
            </a:endParaRPr>
          </a:p>
          <a:p>
            <a:pPr algn="ctr"/>
            <a:r>
              <a:rPr lang="en-US" sz="2200" dirty="0">
                <a:solidFill>
                  <a:srgbClr val="0070C0"/>
                </a:solidFill>
                <a:latin typeface="Times New Roman" pitchFamily="18" charset="0"/>
                <a:cs typeface="Times New Roman" pitchFamily="18" charset="0"/>
              </a:rPr>
              <a:t>Guided By:</a:t>
            </a:r>
          </a:p>
          <a:p>
            <a:pPr algn="ctr"/>
            <a:r>
              <a:rPr lang="en-US" sz="2200" dirty="0">
                <a:solidFill>
                  <a:schemeClr val="accent1">
                    <a:lumMod val="50000"/>
                  </a:schemeClr>
                </a:solidFill>
                <a:latin typeface="Times New Roman" pitchFamily="18" charset="0"/>
                <a:cs typeface="Times New Roman" pitchFamily="18" charset="0"/>
              </a:rPr>
              <a:t>Dr. </a:t>
            </a:r>
            <a:r>
              <a:rPr lang="en-US" sz="2200" dirty="0" smtClean="0">
                <a:solidFill>
                  <a:schemeClr val="accent1">
                    <a:lumMod val="50000"/>
                  </a:schemeClr>
                </a:solidFill>
                <a:latin typeface="Times New Roman" pitchFamily="18" charset="0"/>
                <a:cs typeface="Times New Roman" pitchFamily="18" charset="0"/>
              </a:rPr>
              <a:t>Khushbu A.Patel</a:t>
            </a:r>
            <a:endParaRPr lang="en-US" sz="2200" dirty="0">
              <a:solidFill>
                <a:schemeClr val="accent1">
                  <a:lumMod val="50000"/>
                </a:schemeClr>
              </a:solidFill>
              <a:latin typeface="Times New Roman" pitchFamily="18" charset="0"/>
              <a:cs typeface="Times New Roman" pitchFamily="18" charset="0"/>
            </a:endParaRPr>
          </a:p>
          <a:p>
            <a:pPr algn="ctr"/>
            <a:endParaRPr lang="en-US" sz="2600" dirty="0">
              <a:solidFill>
                <a:srgbClr val="0070C0"/>
              </a:solidFill>
              <a:latin typeface="Times New Roman" pitchFamily="18" charset="0"/>
              <a:cs typeface="Times New Roman" pitchFamily="18" charset="0"/>
            </a:endParaRPr>
          </a:p>
          <a:p>
            <a:pPr algn="ctr"/>
            <a:endParaRPr lang="en-US" sz="2600" dirty="0">
              <a:solidFill>
                <a:srgbClr val="0070C0"/>
              </a:solidFill>
              <a:latin typeface="Times New Roman" pitchFamily="18" charset="0"/>
              <a:cs typeface="Times New Roman" pitchFamily="18" charset="0"/>
            </a:endParaRPr>
          </a:p>
          <a:p>
            <a:endParaRPr lang="en-US" sz="2600" dirty="0">
              <a:solidFill>
                <a:srgbClr val="0070C0"/>
              </a:solidFill>
            </a:endParaRPr>
          </a:p>
        </p:txBody>
      </p:sp>
      <p:sp>
        <p:nvSpPr>
          <p:cNvPr id="5" name="Action Button: Go Forward or Next 3">
            <a:hlinkClick r:id="" action="ppaction://hlinkshowjump?jump=nextslide" highlightClick="1"/>
            <a:extLst>
              <a:ext uri="{FF2B5EF4-FFF2-40B4-BE49-F238E27FC236}">
                <a16:creationId xmlns:a16="http://schemas.microsoft.com/office/drawing/2014/main" xmlns="" id="{B2D0B3D7-68DE-5D53-3B0C-DFA13E67594E}"/>
              </a:ext>
            </a:extLst>
          </p:cNvPr>
          <p:cNvSpPr/>
          <p:nvPr/>
        </p:nvSpPr>
        <p:spPr>
          <a:xfrm>
            <a:off x="9410700" y="6560080"/>
            <a:ext cx="495300" cy="277091"/>
          </a:xfrm>
          <a:prstGeom prst="actionButtonForwardNext">
            <a:avLst/>
          </a:prstGeom>
        </p:spPr>
        <p:style>
          <a:lnRef idx="2">
            <a:schemeClr val="accent1">
              <a:shade val="15000"/>
            </a:schemeClr>
          </a:lnRef>
          <a:fillRef idx="1">
            <a:schemeClr val="accent1"/>
          </a:fillRef>
          <a:effectRef idx="0">
            <a:schemeClr val="accent1"/>
          </a:effectRef>
          <a:fontRef idx="minor">
            <a:schemeClr val="lt1"/>
          </a:fontRef>
        </p:style>
        <p:txBody>
          <a:bodyPr lIns="86013" tIns="43006" rIns="86013" bIns="43006" rtlCol="0" anchor="ctr"/>
          <a:lstStyle/>
          <a:p>
            <a:pPr algn="ctr"/>
            <a:endParaRPr lang="en-IN"/>
          </a:p>
        </p:txBody>
      </p:sp>
    </p:spTree>
    <p:extLst>
      <p:ext uri="{BB962C8B-B14F-4D97-AF65-F5344CB8AC3E}">
        <p14:creationId xmlns:p14="http://schemas.microsoft.com/office/powerpoint/2010/main" val="32993259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15610715"/>
              </p:ext>
            </p:extLst>
          </p:nvPr>
        </p:nvGraphicFramePr>
        <p:xfrm>
          <a:off x="2559050" y="533401"/>
          <a:ext cx="6704459" cy="5817489"/>
        </p:xfrm>
        <a:graphic>
          <a:graphicData uri="http://schemas.openxmlformats.org/drawingml/2006/table">
            <a:tbl>
              <a:tblPr>
                <a:tableStyleId>{5C22544A-7EE6-4342-B048-85BDC9FD1C3A}</a:tableStyleId>
              </a:tblPr>
              <a:tblGrid>
                <a:gridCol w="893929"/>
                <a:gridCol w="5810530"/>
              </a:tblGrid>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Sr No.</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Title</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1</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2" action="ppaction://hlinksldjump"/>
                        </a:rPr>
                        <a:t>Introduction </a:t>
                      </a:r>
                      <a:r>
                        <a:rPr lang="en-US" sz="1800" b="1" kern="1200" dirty="0" smtClean="0">
                          <a:solidFill>
                            <a:srgbClr val="0070C0"/>
                          </a:solidFill>
                          <a:effectLst/>
                          <a:hlinkClick r:id="rId2" action="ppaction://hlinksldjump"/>
                        </a:rPr>
                        <a:t> Of  Terraform</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2</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3" action="ppaction://hlinksldjump"/>
                        </a:rPr>
                        <a:t>Installing and Setting Up Terraform</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3</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4" action="ppaction://hlinksldjump"/>
                        </a:rPr>
                        <a:t>Terraform Core Architecture &amp; Components</a:t>
                      </a:r>
                      <a:endParaRPr lang="en-US" sz="1000" b="1" dirty="0">
                        <a:solidFill>
                          <a:srgbClr val="0070C0"/>
                        </a:solidFill>
                        <a:effectLst/>
                        <a:latin typeface="Calibri"/>
                        <a:ea typeface="Calibri"/>
                        <a:cs typeface="Times New Roman"/>
                      </a:endParaRPr>
                    </a:p>
                  </a:txBody>
                  <a:tcPr marL="9311" marR="9311" marT="8595" marB="0" anchor="ctr"/>
                </a:tc>
              </a:tr>
              <a:tr h="639531">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4</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5" action="ppaction://hlinksldjump"/>
                        </a:rPr>
                        <a:t>Configuration and Management with Terraform</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5</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6" action="ppaction://hlinksldjump"/>
                        </a:rPr>
                        <a:t>Terraform Workflow &amp; Lifecycle</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6</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7" action="ppaction://hlinksldjump"/>
                        </a:rPr>
                        <a:t>Configuring Terraform for Cloud Providers</a:t>
                      </a:r>
                      <a:endParaRPr lang="en-US" sz="1000" b="1" dirty="0">
                        <a:solidFill>
                          <a:srgbClr val="0070C0"/>
                        </a:solidFill>
                        <a:effectLst/>
                        <a:latin typeface="Calibri"/>
                        <a:ea typeface="Calibri"/>
                        <a:cs typeface="Times New Roman"/>
                      </a:endParaRPr>
                    </a:p>
                  </a:txBody>
                  <a:tcPr marL="9311" marR="9311" marT="8595" marB="0" anchor="ctr"/>
                </a:tc>
              </a:tr>
              <a:tr h="639531">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7</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fr-FR" sz="1800" b="1" kern="1200" dirty="0">
                          <a:solidFill>
                            <a:srgbClr val="0070C0"/>
                          </a:solidFill>
                          <a:effectLst/>
                          <a:hlinkClick r:id="rId8" action="ppaction://hlinksldjump"/>
                        </a:rPr>
                        <a:t>Terraform for Infrastructure Automation (CI/CD)</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8</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9" action="ppaction://hlinksldjump"/>
                        </a:rPr>
                        <a:t>Terraform for Containers</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9</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10" action="ppaction://hlinksldjump"/>
                        </a:rPr>
                        <a:t>Terraform for Kubernetes</a:t>
                      </a:r>
                      <a:endParaRPr lang="en-US" sz="1000" b="1" dirty="0">
                        <a:solidFill>
                          <a:srgbClr val="0070C0"/>
                        </a:solidFill>
                        <a:effectLst/>
                        <a:latin typeface="Calibri"/>
                        <a:ea typeface="Calibri"/>
                        <a:cs typeface="Times New Roman"/>
                      </a:endParaRPr>
                    </a:p>
                  </a:txBody>
                  <a:tcPr marL="9311" marR="9311" marT="8595" marB="0" anchor="ctr"/>
                </a:tc>
              </a:tr>
              <a:tr h="639531">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10</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11" action="ppaction://hlinksldjump"/>
                        </a:rPr>
                        <a:t>Real-World Case Studies &amp; Industry Applications</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11</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12" action="ppaction://hlinksldjump"/>
                        </a:rPr>
                        <a:t>Security &amp; Compliance in Terraform</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12</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ctr">
                        <a:lnSpc>
                          <a:spcPct val="115000"/>
                        </a:lnSpc>
                        <a:spcBef>
                          <a:spcPts val="0"/>
                        </a:spcBef>
                        <a:spcAft>
                          <a:spcPts val="0"/>
                        </a:spcAft>
                      </a:pPr>
                      <a:r>
                        <a:rPr lang="en-US" sz="1800" b="1" kern="1200" dirty="0">
                          <a:solidFill>
                            <a:srgbClr val="0070C0"/>
                          </a:solidFill>
                          <a:effectLst/>
                          <a:hlinkClick r:id="rId13" action="ppaction://hlinksldjump"/>
                        </a:rPr>
                        <a:t>Future of Terraform</a:t>
                      </a:r>
                      <a:endParaRPr lang="en-US" sz="1000" b="1" dirty="0">
                        <a:solidFill>
                          <a:srgbClr val="0070C0"/>
                        </a:solidFill>
                        <a:effectLst/>
                        <a:latin typeface="Calibri"/>
                        <a:ea typeface="Calibri"/>
                        <a:cs typeface="Times New Roman"/>
                      </a:endParaRPr>
                    </a:p>
                  </a:txBody>
                  <a:tcPr marL="9311" marR="9311" marT="8595" marB="0" anchor="ctr"/>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13</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b">
                        <a:lnSpc>
                          <a:spcPct val="115000"/>
                        </a:lnSpc>
                        <a:spcBef>
                          <a:spcPts val="0"/>
                        </a:spcBef>
                        <a:spcAft>
                          <a:spcPts val="0"/>
                        </a:spcAft>
                      </a:pPr>
                      <a:r>
                        <a:rPr lang="en-US" sz="1800" b="1" kern="1200" dirty="0">
                          <a:solidFill>
                            <a:srgbClr val="0070C0"/>
                          </a:solidFill>
                          <a:effectLst/>
                          <a:hlinkClick r:id="rId14" action="ppaction://hlinksldjump"/>
                        </a:rPr>
                        <a:t>Conclusion</a:t>
                      </a:r>
                      <a:endParaRPr lang="en-US" sz="1000" b="1" dirty="0">
                        <a:solidFill>
                          <a:srgbClr val="0070C0"/>
                        </a:solidFill>
                        <a:effectLst/>
                        <a:latin typeface="Calibri"/>
                        <a:ea typeface="Calibri"/>
                        <a:cs typeface="Times New Roman"/>
                      </a:endParaRPr>
                    </a:p>
                  </a:txBody>
                  <a:tcPr marL="9311" marR="9311" marT="8595" marB="0" anchor="b"/>
                </a:tc>
              </a:tr>
              <a:tr h="324908">
                <a:tc>
                  <a:txBody>
                    <a:bodyPr/>
                    <a:lstStyle/>
                    <a:p>
                      <a:pPr marL="0" marR="0" algn="ctr" fontAlgn="ctr">
                        <a:lnSpc>
                          <a:spcPct val="115000"/>
                        </a:lnSpc>
                        <a:spcBef>
                          <a:spcPts val="0"/>
                        </a:spcBef>
                        <a:spcAft>
                          <a:spcPts val="0"/>
                        </a:spcAft>
                      </a:pPr>
                      <a:r>
                        <a:rPr lang="en-US" sz="1800" b="1" kern="1200" dirty="0">
                          <a:solidFill>
                            <a:schemeClr val="tx1">
                              <a:lumMod val="95000"/>
                              <a:lumOff val="5000"/>
                            </a:schemeClr>
                          </a:solidFill>
                          <a:effectLst/>
                        </a:rPr>
                        <a:t>14</a:t>
                      </a:r>
                      <a:endParaRPr lang="en-US" sz="1000" b="1" dirty="0">
                        <a:solidFill>
                          <a:schemeClr val="tx1">
                            <a:lumMod val="95000"/>
                            <a:lumOff val="5000"/>
                          </a:schemeClr>
                        </a:solidFill>
                        <a:effectLst/>
                        <a:latin typeface="Calibri"/>
                        <a:ea typeface="Calibri"/>
                        <a:cs typeface="Times New Roman"/>
                      </a:endParaRPr>
                    </a:p>
                  </a:txBody>
                  <a:tcPr marL="9311" marR="9311" marT="8595" marB="0" anchor="ctr"/>
                </a:tc>
                <a:tc>
                  <a:txBody>
                    <a:bodyPr/>
                    <a:lstStyle/>
                    <a:p>
                      <a:pPr marL="0" marR="0" fontAlgn="b">
                        <a:lnSpc>
                          <a:spcPct val="115000"/>
                        </a:lnSpc>
                        <a:spcBef>
                          <a:spcPts val="0"/>
                        </a:spcBef>
                        <a:spcAft>
                          <a:spcPts val="0"/>
                        </a:spcAft>
                      </a:pPr>
                      <a:r>
                        <a:rPr lang="en-US" sz="1800" b="1" kern="1200" dirty="0">
                          <a:solidFill>
                            <a:srgbClr val="0070C0"/>
                          </a:solidFill>
                          <a:effectLst/>
                          <a:hlinkClick r:id="rId15" action="ppaction://hlinksldjump"/>
                        </a:rPr>
                        <a:t>References</a:t>
                      </a:r>
                      <a:endParaRPr lang="en-US" sz="1000" b="1" dirty="0">
                        <a:solidFill>
                          <a:srgbClr val="0070C0"/>
                        </a:solidFill>
                        <a:effectLst/>
                        <a:latin typeface="Calibri"/>
                        <a:ea typeface="Calibri"/>
                        <a:cs typeface="Times New Roman"/>
                      </a:endParaRPr>
                    </a:p>
                  </a:txBody>
                  <a:tcPr marL="9311" marR="9311" marT="8595" marB="0" anchor="b"/>
                </a:tc>
              </a:tr>
            </a:tbl>
          </a:graphicData>
        </a:graphic>
      </p:graphicFrame>
      <p:sp>
        <p:nvSpPr>
          <p:cNvPr id="11" name="Action Button: Go Back or Previous 4">
            <a:hlinkClick r:id="" action="ppaction://hlinkshowjump?jump=previousslide" highlightClick="1"/>
            <a:extLst>
              <a:ext uri="{FF2B5EF4-FFF2-40B4-BE49-F238E27FC236}">
                <a16:creationId xmlns="" xmlns:a16="http://schemas.microsoft.com/office/drawing/2014/main" id="{3267F42A-604C-F79E-9E45-7183FDD3384E}"/>
              </a:ext>
            </a:extLst>
          </p:cNvPr>
          <p:cNvSpPr/>
          <p:nvPr/>
        </p:nvSpPr>
        <p:spPr>
          <a:xfrm>
            <a:off x="8391498" y="6553203"/>
            <a:ext cx="54483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3" name="Action Button: Go Forward or Next 2">
            <a:hlinkClick r:id="" action="ppaction://hlinkshowjump?jump=nextslide" highlightClick="1"/>
            <a:extLst>
              <a:ext uri="{FF2B5EF4-FFF2-40B4-BE49-F238E27FC236}">
                <a16:creationId xmlns="" xmlns:a16="http://schemas.microsoft.com/office/drawing/2014/main" id="{E579BD50-8E9C-68E3-A5BC-770A879BEC61}"/>
              </a:ext>
            </a:extLst>
          </p:cNvPr>
          <p:cNvSpPr/>
          <p:nvPr/>
        </p:nvSpPr>
        <p:spPr>
          <a:xfrm>
            <a:off x="9369079" y="6553203"/>
            <a:ext cx="54483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7" name="Action Button: Go Home 5">
            <a:hlinkClick r:id="rId16"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0258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2228850" y="240324"/>
            <a:ext cx="9133280" cy="527538"/>
          </a:xfrm>
          <a:prstGeom prst="rect">
            <a:avLst/>
          </a:prstGeom>
        </p:spPr>
        <p:txBody>
          <a:bodyPr vert="horz" lIns="86013" tIns="43006" rIns="86013" bIns="43006" anchor="b">
            <a:noAutofit/>
          </a:bodyPr>
          <a:lstStyle>
            <a:lvl1pPr algn="l" rtl="0" eaLnBrk="1" latinLnBrk="0" hangingPunct="1">
              <a:spcBef>
                <a:spcPct val="0"/>
              </a:spcBef>
              <a:buNone/>
              <a:defRPr kumimoji="0" sz="3000" b="1" kern="1200" cap="small" baseline="0">
                <a:solidFill>
                  <a:schemeClr val="tx2"/>
                </a:solidFill>
                <a:latin typeface="+mj-lt"/>
                <a:ea typeface="+mj-ea"/>
                <a:cs typeface="+mj-cs"/>
              </a:defRPr>
            </a:lvl1pPr>
          </a:lstStyle>
          <a:p>
            <a:endParaRPr lang="en-US" sz="3100" dirty="0">
              <a:solidFill>
                <a:srgbClr val="0070C0"/>
              </a:solidFill>
            </a:endParaRPr>
          </a:p>
        </p:txBody>
      </p:sp>
      <p:sp>
        <p:nvSpPr>
          <p:cNvPr id="16" name="Title 1"/>
          <p:cNvSpPr txBox="1">
            <a:spLocks/>
          </p:cNvSpPr>
          <p:nvPr/>
        </p:nvSpPr>
        <p:spPr>
          <a:xfrm>
            <a:off x="2641600" y="152400"/>
            <a:ext cx="8089900" cy="1143000"/>
          </a:xfrm>
          <a:prstGeom prst="rect">
            <a:avLst/>
          </a:prstGeom>
        </p:spPr>
        <p:txBody>
          <a:bodyPr vert="horz" lIns="86013" tIns="43006" rIns="86013" bIns="43006" anchor="b">
            <a:normAutofit/>
          </a:bodyPr>
          <a:lstStyle>
            <a:lvl1pPr algn="l" rtl="0" eaLnBrk="1" latinLnBrk="0" hangingPunct="1">
              <a:spcBef>
                <a:spcPct val="0"/>
              </a:spcBef>
              <a:buNone/>
              <a:defRPr kumimoji="0" sz="3000" b="1" kern="1200" cap="small" baseline="0">
                <a:solidFill>
                  <a:schemeClr val="tx2"/>
                </a:solidFill>
                <a:latin typeface="+mj-lt"/>
                <a:ea typeface="+mj-ea"/>
                <a:cs typeface="+mj-cs"/>
              </a:defRPr>
            </a:lvl1pPr>
          </a:lstStyle>
          <a:p>
            <a:r>
              <a:rPr lang="en-US" sz="3100" dirty="0">
                <a:solidFill>
                  <a:srgbClr val="0070C0"/>
                </a:solidFill>
                <a:latin typeface="Times New Roman" pitchFamily="18" charset="0"/>
                <a:ea typeface="Fraunces Extra Bold" pitchFamily="34" charset="-122"/>
                <a:cs typeface="Times New Roman" pitchFamily="18" charset="0"/>
              </a:rPr>
              <a:t>Introduction to Terraform</a:t>
            </a:r>
            <a:r>
              <a:rPr lang="en-US" sz="3100" dirty="0">
                <a:solidFill>
                  <a:srgbClr val="0070C0"/>
                </a:solidFill>
                <a:latin typeface="Times New Roman" pitchFamily="18" charset="0"/>
                <a:cs typeface="Times New Roman" pitchFamily="18" charset="0"/>
              </a:rPr>
              <a:t/>
            </a:r>
            <a:br>
              <a:rPr lang="en-US" sz="3100" dirty="0">
                <a:solidFill>
                  <a:srgbClr val="0070C0"/>
                </a:solidFill>
                <a:latin typeface="Times New Roman" pitchFamily="18" charset="0"/>
                <a:cs typeface="Times New Roman" pitchFamily="18" charset="0"/>
              </a:rPr>
            </a:br>
            <a:endParaRPr lang="en-US" dirty="0">
              <a:solidFill>
                <a:srgbClr val="0070C0"/>
              </a:solidFill>
            </a:endParaRPr>
          </a:p>
        </p:txBody>
      </p:sp>
      <p:sp>
        <p:nvSpPr>
          <p:cNvPr id="17" name="Action Button: Go Back or Previous 4">
            <a:hlinkClick r:id="" action="ppaction://hlinkshowjump?jump=previousslide" highlightClick="1"/>
            <a:extLst>
              <a:ext uri="{FF2B5EF4-FFF2-40B4-BE49-F238E27FC236}">
                <a16:creationId xmlns="" xmlns:a16="http://schemas.microsoft.com/office/drawing/2014/main" id="{3267F42A-604C-F79E-9E45-7183FDD3384E}"/>
              </a:ext>
            </a:extLst>
          </p:cNvPr>
          <p:cNvSpPr/>
          <p:nvPr/>
        </p:nvSpPr>
        <p:spPr>
          <a:xfrm>
            <a:off x="8391498" y="6553203"/>
            <a:ext cx="54483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8"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9" name="Action Button: Go Forward or Next 2">
            <a:hlinkClick r:id="" action="ppaction://hlinkshowjump?jump=nextslide" highlightClick="1"/>
            <a:extLst>
              <a:ext uri="{FF2B5EF4-FFF2-40B4-BE49-F238E27FC236}">
                <a16:creationId xmlns="" xmlns:a16="http://schemas.microsoft.com/office/drawing/2014/main" id="{E579BD50-8E9C-68E3-A5BC-770A879BEC61}"/>
              </a:ext>
            </a:extLst>
          </p:cNvPr>
          <p:cNvSpPr/>
          <p:nvPr/>
        </p:nvSpPr>
        <p:spPr>
          <a:xfrm>
            <a:off x="9423909" y="6553203"/>
            <a:ext cx="54483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pic>
        <p:nvPicPr>
          <p:cNvPr id="20" name="Picture 8" descr="初めてのTerraform開発でよく起きたトラブルとその解決方法 - RevComm Tech Blo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78000"/>
                    </a14:imgEffect>
                    <a14:imgEffect>
                      <a14:brightnessContrast bright="13000" contrast="-45000"/>
                    </a14:imgEffect>
                  </a14:imgLayer>
                </a14:imgProps>
              </a:ext>
              <a:ext uri="{28A0092B-C50C-407E-A947-70E740481C1C}">
                <a14:useLocalDpi xmlns:a14="http://schemas.microsoft.com/office/drawing/2010/main" val="0"/>
              </a:ext>
            </a:extLst>
          </a:blip>
          <a:srcRect/>
          <a:stretch>
            <a:fillRect/>
          </a:stretch>
        </p:blipFill>
        <p:spPr bwMode="auto">
          <a:xfrm>
            <a:off x="6604002" y="1066800"/>
            <a:ext cx="3232658" cy="2171310"/>
          </a:xfrm>
          <a:prstGeom prst="rect">
            <a:avLst/>
          </a:prstGeom>
          <a:noFill/>
          <a:extLst>
            <a:ext uri="{909E8E84-426E-40DD-AFC4-6F175D3DCCD1}">
              <a14:hiddenFill xmlns:a14="http://schemas.microsoft.com/office/drawing/2010/main">
                <a:solidFill>
                  <a:srgbClr val="FFFFFF"/>
                </a:solidFill>
              </a14:hiddenFill>
            </a:ext>
          </a:extLst>
        </p:spPr>
      </p:pic>
      <p:sp>
        <p:nvSpPr>
          <p:cNvPr id="25" name="Shape 7"/>
          <p:cNvSpPr/>
          <p:nvPr/>
        </p:nvSpPr>
        <p:spPr>
          <a:xfrm>
            <a:off x="2228850" y="1447802"/>
            <a:ext cx="4233186" cy="1043800"/>
          </a:xfrm>
          <a:prstGeom prst="roundRect">
            <a:avLst>
              <a:gd name="adj" fmla="val 12225"/>
            </a:avLst>
          </a:prstGeom>
          <a:solidFill>
            <a:srgbClr val="E8F3E8"/>
          </a:solidFill>
          <a:ln/>
        </p:spPr>
        <p:txBody>
          <a:bodyPr lIns="86013" tIns="43006" rIns="86013" bIns="43006"/>
          <a:lstStyle/>
          <a:p>
            <a:r>
              <a:rPr lang="en-US" dirty="0"/>
              <a:t>Terraform is open-source infrastructure as code (IaC) tool.</a:t>
            </a:r>
          </a:p>
        </p:txBody>
      </p:sp>
      <p:sp>
        <p:nvSpPr>
          <p:cNvPr id="26" name="Shape 7"/>
          <p:cNvSpPr/>
          <p:nvPr/>
        </p:nvSpPr>
        <p:spPr>
          <a:xfrm>
            <a:off x="5463138" y="3417396"/>
            <a:ext cx="4233187" cy="2659063"/>
          </a:xfrm>
          <a:prstGeom prst="roundRect">
            <a:avLst>
              <a:gd name="adj" fmla="val 12225"/>
            </a:avLst>
          </a:prstGeom>
          <a:solidFill>
            <a:srgbClr val="E8F3E8"/>
          </a:solidFill>
          <a:ln/>
        </p:spPr>
        <p:txBody>
          <a:bodyPr lIns="86013" tIns="43006" rIns="86013" bIns="43006"/>
          <a:lstStyle/>
          <a:p>
            <a:r>
              <a:rPr lang="en-US" dirty="0">
                <a:solidFill>
                  <a:schemeClr val="tx1">
                    <a:lumMod val="95000"/>
                    <a:lumOff val="5000"/>
                  </a:schemeClr>
                </a:solidFill>
              </a:rPr>
              <a:t>It’s developed by HashiCorp that  allows you to define, provision, and manage infrastructure using a declarative configuration language called HashiCorp Configuration Language (HCL) or JSON.</a:t>
            </a:r>
          </a:p>
        </p:txBody>
      </p:sp>
      <p:pic>
        <p:nvPicPr>
          <p:cNvPr id="1032" name="Picture 8" descr="Terraform static code analysi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3365" y="2656947"/>
            <a:ext cx="2829836" cy="3419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270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3"/>
            <a:ext cx="9906000" cy="1981200"/>
          </a:xfrm>
          <a:prstGeom prst="rect">
            <a:avLst/>
          </a:prstGeom>
        </p:spPr>
      </p:pic>
      <p:sp>
        <p:nvSpPr>
          <p:cNvPr id="3" name="Text 0"/>
          <p:cNvSpPr/>
          <p:nvPr/>
        </p:nvSpPr>
        <p:spPr>
          <a:xfrm>
            <a:off x="821152" y="2217640"/>
            <a:ext cx="6877770" cy="558602"/>
          </a:xfrm>
          <a:prstGeom prst="rect">
            <a:avLst/>
          </a:prstGeom>
          <a:noFill/>
          <a:ln/>
        </p:spPr>
        <p:txBody>
          <a:bodyPr wrap="none" lIns="0" tIns="0" rIns="0" bIns="0" rtlCol="0" anchor="t"/>
          <a:lstStyle/>
          <a:p>
            <a:pPr>
              <a:lnSpc>
                <a:spcPts val="3457"/>
              </a:lnSpc>
            </a:pPr>
            <a:r>
              <a:rPr lang="en-US" sz="2700" b="1" dirty="0">
                <a:solidFill>
                  <a:srgbClr val="0070C0"/>
                </a:solidFill>
                <a:latin typeface="Fraunces Extra Bold" pitchFamily="34" charset="0"/>
                <a:ea typeface="Fraunces Extra Bold" pitchFamily="34" charset="-122"/>
                <a:cs typeface="Fraunces Extra Bold" pitchFamily="34" charset="-120"/>
              </a:rPr>
              <a:t>What is Infrastructure as Code (IaC)?</a:t>
            </a:r>
            <a:endParaRPr lang="en-US" sz="2700" dirty="0">
              <a:solidFill>
                <a:srgbClr val="0070C0"/>
              </a:solidFill>
            </a:endParaRPr>
          </a:p>
        </p:txBody>
      </p:sp>
      <p:sp>
        <p:nvSpPr>
          <p:cNvPr id="8" name="Text 5"/>
          <p:cNvSpPr/>
          <p:nvPr/>
        </p:nvSpPr>
        <p:spPr>
          <a:xfrm>
            <a:off x="4508984" y="4462563"/>
            <a:ext cx="3381771" cy="457995"/>
          </a:xfrm>
          <a:prstGeom prst="rect">
            <a:avLst/>
          </a:prstGeom>
          <a:noFill/>
          <a:ln/>
        </p:spPr>
        <p:txBody>
          <a:bodyPr wrap="none" lIns="0" tIns="0" rIns="0" bIns="0" rtlCol="0" anchor="t"/>
          <a:lstStyle/>
          <a:p>
            <a:pPr>
              <a:lnSpc>
                <a:spcPts val="1712"/>
              </a:lnSpc>
            </a:pPr>
            <a:endParaRPr lang="en-US" sz="1400" dirty="0"/>
          </a:p>
        </p:txBody>
      </p:sp>
      <p:sp>
        <p:nvSpPr>
          <p:cNvPr id="9" name="Text 6"/>
          <p:cNvSpPr/>
          <p:nvPr/>
        </p:nvSpPr>
        <p:spPr>
          <a:xfrm>
            <a:off x="4622577" y="4771596"/>
            <a:ext cx="3381771" cy="572095"/>
          </a:xfrm>
          <a:prstGeom prst="rect">
            <a:avLst/>
          </a:prstGeom>
          <a:noFill/>
          <a:ln/>
        </p:spPr>
        <p:txBody>
          <a:bodyPr wrap="square" lIns="0" tIns="0" rIns="0" bIns="0" rtlCol="0" anchor="t"/>
          <a:lstStyle/>
          <a:p>
            <a:pPr>
              <a:lnSpc>
                <a:spcPts val="1778"/>
              </a:lnSpc>
            </a:pPr>
            <a:endParaRPr lang="en-US" sz="1300" dirty="0"/>
          </a:p>
        </p:txBody>
      </p:sp>
      <p:sp>
        <p:nvSpPr>
          <p:cNvPr id="10" name="Shape 7"/>
          <p:cNvSpPr/>
          <p:nvPr/>
        </p:nvSpPr>
        <p:spPr>
          <a:xfrm>
            <a:off x="1155702" y="3124203"/>
            <a:ext cx="7156109" cy="1025925"/>
          </a:xfrm>
          <a:prstGeom prst="roundRect">
            <a:avLst>
              <a:gd name="adj" fmla="val 12225"/>
            </a:avLst>
          </a:prstGeom>
          <a:solidFill>
            <a:srgbClr val="E8F3E8"/>
          </a:solidFill>
          <a:ln>
            <a:solidFill>
              <a:schemeClr val="accent1"/>
            </a:solidFill>
          </a:ln>
        </p:spPr>
        <p:txBody>
          <a:bodyPr lIns="86013" tIns="43006" rIns="86013" bIns="43006"/>
          <a:lstStyle/>
          <a:p>
            <a:r>
              <a:rPr lang="en-US" dirty="0"/>
              <a:t>Tools allow You to manage infrastructure with configuration files rather than through a graphical user interface.</a:t>
            </a:r>
          </a:p>
        </p:txBody>
      </p:sp>
      <p:sp>
        <p:nvSpPr>
          <p:cNvPr id="11" name="Text 8"/>
          <p:cNvSpPr/>
          <p:nvPr/>
        </p:nvSpPr>
        <p:spPr>
          <a:xfrm>
            <a:off x="341829" y="5614197"/>
            <a:ext cx="3322116" cy="386556"/>
          </a:xfrm>
          <a:prstGeom prst="rect">
            <a:avLst/>
          </a:prstGeom>
          <a:noFill/>
          <a:ln/>
        </p:spPr>
        <p:txBody>
          <a:bodyPr wrap="none" lIns="0" tIns="0" rIns="0" bIns="0" rtlCol="0" anchor="t"/>
          <a:lstStyle/>
          <a:p>
            <a:pPr>
              <a:lnSpc>
                <a:spcPts val="1712"/>
              </a:lnSpc>
            </a:pPr>
            <a:endParaRPr lang="en-US" sz="1400" dirty="0"/>
          </a:p>
        </p:txBody>
      </p:sp>
      <p:sp>
        <p:nvSpPr>
          <p:cNvPr id="12" name="Text 9"/>
          <p:cNvSpPr/>
          <p:nvPr/>
        </p:nvSpPr>
        <p:spPr>
          <a:xfrm>
            <a:off x="341828" y="5899249"/>
            <a:ext cx="3714750" cy="572095"/>
          </a:xfrm>
          <a:prstGeom prst="rect">
            <a:avLst/>
          </a:prstGeom>
          <a:noFill/>
          <a:ln/>
        </p:spPr>
        <p:txBody>
          <a:bodyPr wrap="square" lIns="0" tIns="0" rIns="0" bIns="0" rtlCol="0" anchor="t"/>
          <a:lstStyle/>
          <a:p>
            <a:pPr>
              <a:lnSpc>
                <a:spcPts val="1778"/>
              </a:lnSpc>
            </a:pPr>
            <a:endParaRPr lang="en-US" sz="1300" dirty="0"/>
          </a:p>
        </p:txBody>
      </p:sp>
      <p:sp>
        <p:nvSpPr>
          <p:cNvPr id="14" name="Text 11"/>
          <p:cNvSpPr/>
          <p:nvPr/>
        </p:nvSpPr>
        <p:spPr>
          <a:xfrm>
            <a:off x="4713263" y="5539868"/>
            <a:ext cx="3381770" cy="279301"/>
          </a:xfrm>
          <a:prstGeom prst="rect">
            <a:avLst/>
          </a:prstGeom>
          <a:noFill/>
          <a:ln/>
        </p:spPr>
        <p:txBody>
          <a:bodyPr wrap="none" lIns="0" tIns="0" rIns="0" bIns="0" rtlCol="0" anchor="t"/>
          <a:lstStyle/>
          <a:p>
            <a:pPr>
              <a:lnSpc>
                <a:spcPts val="1712"/>
              </a:lnSpc>
            </a:pPr>
            <a:endParaRPr lang="en-US" sz="1400" dirty="0"/>
          </a:p>
        </p:txBody>
      </p:sp>
      <p:sp>
        <p:nvSpPr>
          <p:cNvPr id="15" name="Text 12"/>
          <p:cNvSpPr/>
          <p:nvPr/>
        </p:nvSpPr>
        <p:spPr>
          <a:xfrm>
            <a:off x="4703963" y="5899248"/>
            <a:ext cx="3879850" cy="572095"/>
          </a:xfrm>
          <a:prstGeom prst="rect">
            <a:avLst/>
          </a:prstGeom>
          <a:noFill/>
          <a:ln/>
        </p:spPr>
        <p:txBody>
          <a:bodyPr wrap="square" lIns="0" tIns="0" rIns="0" bIns="0" rtlCol="0" anchor="t"/>
          <a:lstStyle/>
          <a:p>
            <a:pPr>
              <a:lnSpc>
                <a:spcPts val="1778"/>
              </a:lnSpc>
            </a:pPr>
            <a:endParaRPr lang="en-US" sz="1300" dirty="0"/>
          </a:p>
        </p:txBody>
      </p:sp>
      <p:sp>
        <p:nvSpPr>
          <p:cNvPr id="17" name="Action Button: Go Forward or Next 16">
            <a:hlinkClick r:id="" action="ppaction://hlinkshowjump?jump=nextslide" highlightClick="1"/>
            <a:extLst>
              <a:ext uri="{FF2B5EF4-FFF2-40B4-BE49-F238E27FC236}">
                <a16:creationId xmlns:a16="http://schemas.microsoft.com/office/drawing/2014/main" xmlns="" id="{026ED0E0-B437-877C-8564-9D0C62724476}"/>
              </a:ext>
            </a:extLst>
          </p:cNvPr>
          <p:cNvSpPr/>
          <p:nvPr/>
        </p:nvSpPr>
        <p:spPr>
          <a:xfrm>
            <a:off x="9414188" y="6553200"/>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8" name="Action Button: Go Back or Previous 17">
            <a:hlinkClick r:id="" action="ppaction://hlinkshowjump?jump=previousslide" highlightClick="1"/>
            <a:extLst>
              <a:ext uri="{FF2B5EF4-FFF2-40B4-BE49-F238E27FC236}">
                <a16:creationId xmlns:a16="http://schemas.microsoft.com/office/drawing/2014/main" xmlns="" id="{6FF5EBFC-3467-8073-0BEB-DA2C75384BBE}"/>
              </a:ext>
            </a:extLst>
          </p:cNvPr>
          <p:cNvSpPr/>
          <p:nvPr/>
        </p:nvSpPr>
        <p:spPr>
          <a:xfrm>
            <a:off x="8302879" y="6553203"/>
            <a:ext cx="599314"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0" name="Action Button: Go Home 5">
            <a:hlinkClick r:id="rId3" action="ppaction://hlinksldjump" highlightClick="1"/>
            <a:extLst>
              <a:ext uri="{FF2B5EF4-FFF2-40B4-BE49-F238E27FC236}">
                <a16:creationId xmlns="" xmlns:a16="http://schemas.microsoft.com/office/drawing/2014/main" id="{6239DA23-C1E6-C56A-99F0-9FED80273A69}"/>
              </a:ext>
            </a:extLst>
          </p:cNvPr>
          <p:cNvSpPr/>
          <p:nvPr/>
        </p:nvSpPr>
        <p:spPr>
          <a:xfrm>
            <a:off x="8902193"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1" name="Shape 7"/>
          <p:cNvSpPr/>
          <p:nvPr/>
        </p:nvSpPr>
        <p:spPr>
          <a:xfrm>
            <a:off x="1125910" y="4614137"/>
            <a:ext cx="7156109" cy="1386614"/>
          </a:xfrm>
          <a:prstGeom prst="roundRect">
            <a:avLst>
              <a:gd name="adj" fmla="val 12225"/>
            </a:avLst>
          </a:prstGeom>
          <a:solidFill>
            <a:srgbClr val="E8F3E8"/>
          </a:solidFill>
          <a:ln>
            <a:solidFill>
              <a:schemeClr val="accent1"/>
            </a:solidFill>
          </a:ln>
        </p:spPr>
        <p:txBody>
          <a:bodyPr lIns="86013" tIns="43006" rIns="86013" bIns="43006"/>
          <a:lstStyle/>
          <a:p>
            <a:r>
              <a:rPr lang="en-US" dirty="0" smtClean="0"/>
              <a:t>IaC allows you to build, change, and manage your infrastructure in a safe, consistent, and repeatable way by defining resource configurations that you can version, reuse and share. </a:t>
            </a:r>
            <a:endParaRPr lang="en-US" dirty="0"/>
          </a:p>
        </p:txBody>
      </p:sp>
    </p:spTree>
    <p:extLst>
      <p:ext uri="{BB962C8B-B14F-4D97-AF65-F5344CB8AC3E}">
        <p14:creationId xmlns:p14="http://schemas.microsoft.com/office/powerpoint/2010/main" val="42086423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9366" y="304801"/>
            <a:ext cx="4117261" cy="1155404"/>
          </a:xfrm>
          <a:prstGeom prst="rect">
            <a:avLst/>
          </a:prstGeom>
          <a:noFill/>
          <a:ln/>
        </p:spPr>
        <p:txBody>
          <a:bodyPr wrap="none" lIns="0" tIns="0" rIns="0" bIns="0" rtlCol="0" anchor="t"/>
          <a:lstStyle/>
          <a:p>
            <a:pPr algn="ctr">
              <a:lnSpc>
                <a:spcPts val="3654"/>
              </a:lnSpc>
            </a:pPr>
            <a:r>
              <a:rPr lang="en-US" sz="3100" b="1" dirty="0">
                <a:solidFill>
                  <a:srgbClr val="0070C0"/>
                </a:solidFill>
                <a:latin typeface="Times New Roman" pitchFamily="18" charset="0"/>
                <a:ea typeface="Fraunces Extra Bold" pitchFamily="34" charset="-122"/>
                <a:cs typeface="Times New Roman" pitchFamily="18" charset="0"/>
              </a:rPr>
              <a:t>Terraform Workflow</a:t>
            </a:r>
            <a:endParaRPr lang="en-US" sz="3100" dirty="0">
              <a:solidFill>
                <a:srgbClr val="0070C0"/>
              </a:solidFill>
              <a:latin typeface="Times New Roman" pitchFamily="18" charset="0"/>
              <a:cs typeface="Times New Roman" pitchFamily="18" charset="0"/>
            </a:endParaRPr>
          </a:p>
        </p:txBody>
      </p:sp>
      <p:pic>
        <p:nvPicPr>
          <p:cNvPr id="3" name="Image 0" descr="preencoded.png"/>
          <p:cNvPicPr>
            <a:picLocks noChangeAspect="1"/>
          </p:cNvPicPr>
          <p:nvPr/>
        </p:nvPicPr>
        <p:blipFill>
          <a:blip r:embed="rId2"/>
          <a:stretch>
            <a:fillRect/>
          </a:stretch>
        </p:blipFill>
        <p:spPr>
          <a:xfrm>
            <a:off x="247652" y="1896074"/>
            <a:ext cx="8997950" cy="3939977"/>
          </a:xfrm>
          <a:prstGeom prst="rect">
            <a:avLst/>
          </a:prstGeom>
        </p:spPr>
      </p:pic>
      <p:sp>
        <p:nvSpPr>
          <p:cNvPr id="5" name="Action Button: Go Forward or Next 4">
            <a:hlinkClick r:id="" action="ppaction://hlinkshowjump?jump=nextslide" highlightClick="1"/>
            <a:extLst>
              <a:ext uri="{FF2B5EF4-FFF2-40B4-BE49-F238E27FC236}">
                <a16:creationId xmlns:a16="http://schemas.microsoft.com/office/drawing/2014/main" xmlns="" id="{41F05C50-36E8-6347-C018-9F522CB028E9}"/>
              </a:ext>
            </a:extLst>
          </p:cNvPr>
          <p:cNvSpPr/>
          <p:nvPr/>
        </p:nvSpPr>
        <p:spPr>
          <a:xfrm>
            <a:off x="9410700"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6" name="Action Button: Go Back or Previous 5">
            <a:hlinkClick r:id="" action="ppaction://hlinkshowjump?jump=previousslide" highlightClick="1"/>
            <a:extLst>
              <a:ext uri="{FF2B5EF4-FFF2-40B4-BE49-F238E27FC236}">
                <a16:creationId xmlns:a16="http://schemas.microsoft.com/office/drawing/2014/main" xmlns="" id="{E1FD5126-3182-9142-6909-D7F182C6E87B}"/>
              </a:ext>
            </a:extLst>
          </p:cNvPr>
          <p:cNvSpPr/>
          <p:nvPr/>
        </p:nvSpPr>
        <p:spPr>
          <a:xfrm>
            <a:off x="8420100"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8" name="Action Button: Go Home 5">
            <a:hlinkClick r:id="rId3"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672912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367" y="228600"/>
            <a:ext cx="8089900" cy="1143000"/>
          </a:xfrm>
        </p:spPr>
        <p:txBody>
          <a:bodyPr>
            <a:normAutofit/>
          </a:bodyPr>
          <a:lstStyle/>
          <a:p>
            <a:r>
              <a:rPr lang="en-US" sz="3100" b="1" dirty="0">
                <a:solidFill>
                  <a:srgbClr val="0070C0"/>
                </a:solidFill>
                <a:latin typeface="Fraunces Extra Bold" pitchFamily="34" charset="0"/>
                <a:ea typeface="Fraunces Extra Bold" pitchFamily="34" charset="-122"/>
              </a:rPr>
              <a:t>Terraform Key Features</a:t>
            </a:r>
            <a:r>
              <a:rPr lang="en-US" sz="3100" dirty="0">
                <a:solidFill>
                  <a:srgbClr val="0070C0"/>
                </a:solidFill>
              </a:rPr>
              <a:t/>
            </a:r>
            <a:br>
              <a:rPr lang="en-US" sz="3100" dirty="0">
                <a:solidFill>
                  <a:srgbClr val="0070C0"/>
                </a:solidFill>
              </a:rPr>
            </a:br>
            <a:endParaRPr lang="en-US" dirty="0"/>
          </a:p>
        </p:txBody>
      </p:sp>
      <p:sp>
        <p:nvSpPr>
          <p:cNvPr id="6" name="Shape 1"/>
          <p:cNvSpPr/>
          <p:nvPr/>
        </p:nvSpPr>
        <p:spPr>
          <a:xfrm>
            <a:off x="504680" y="1447802"/>
            <a:ext cx="345517" cy="425252"/>
          </a:xfrm>
          <a:prstGeom prst="roundRect">
            <a:avLst>
              <a:gd name="adj" fmla="val 40005"/>
            </a:avLst>
          </a:prstGeom>
          <a:solidFill>
            <a:srgbClr val="E8F3E8"/>
          </a:solidFill>
          <a:ln/>
        </p:spPr>
      </p:sp>
      <p:sp>
        <p:nvSpPr>
          <p:cNvPr id="7" name="Text 2"/>
          <p:cNvSpPr/>
          <p:nvPr/>
        </p:nvSpPr>
        <p:spPr>
          <a:xfrm>
            <a:off x="537464" y="1518644"/>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1</a:t>
            </a:r>
            <a:endParaRPr lang="en-US" sz="1800" dirty="0"/>
          </a:p>
        </p:txBody>
      </p:sp>
      <p:sp>
        <p:nvSpPr>
          <p:cNvPr id="8" name="Text 3"/>
          <p:cNvSpPr/>
          <p:nvPr/>
        </p:nvSpPr>
        <p:spPr>
          <a:xfrm>
            <a:off x="1058454" y="1429984"/>
            <a:ext cx="1919690" cy="295275"/>
          </a:xfrm>
          <a:prstGeom prst="rect">
            <a:avLst/>
          </a:prstGeom>
          <a:noFill/>
          <a:ln/>
        </p:spPr>
        <p:txBody>
          <a:bodyPr wrap="none" lIns="0" tIns="0" rIns="0" bIns="0" rtlCol="0" anchor="t"/>
          <a:lstStyle/>
          <a:p>
            <a:pPr>
              <a:lnSpc>
                <a:spcPts val="1811"/>
              </a:lnSpc>
            </a:pPr>
            <a:r>
              <a:rPr lang="en-US" sz="1500" b="1" dirty="0">
                <a:latin typeface="+mj-lt"/>
                <a:cs typeface="Times New Roman" pitchFamily="18" charset="0"/>
              </a:rPr>
              <a:t>Infrastructure as Code (IaC)</a:t>
            </a:r>
            <a:endParaRPr lang="en-US" sz="1400" b="1" dirty="0">
              <a:latin typeface="+mj-lt"/>
              <a:cs typeface="Times New Roman" pitchFamily="18" charset="0"/>
            </a:endParaRPr>
          </a:p>
        </p:txBody>
      </p:sp>
      <p:sp>
        <p:nvSpPr>
          <p:cNvPr id="9" name="Text 4"/>
          <p:cNvSpPr/>
          <p:nvPr/>
        </p:nvSpPr>
        <p:spPr>
          <a:xfrm>
            <a:off x="1093832" y="1734967"/>
            <a:ext cx="3839703" cy="604838"/>
          </a:xfrm>
          <a:prstGeom prst="rect">
            <a:avLst/>
          </a:prstGeom>
          <a:noFill/>
          <a:ln/>
        </p:spPr>
        <p:txBody>
          <a:bodyPr wrap="square" lIns="0" tIns="0" rIns="0" bIns="0" rtlCol="0" anchor="t"/>
          <a:lstStyle/>
          <a:p>
            <a:pPr>
              <a:lnSpc>
                <a:spcPts val="1877"/>
              </a:lnSpc>
            </a:pPr>
            <a:r>
              <a:rPr lang="en-US" sz="1200" dirty="0">
                <a:latin typeface="Bookman Old Style" pitchFamily="18" charset="0"/>
                <a:cs typeface="Times New Roman" pitchFamily="18" charset="0"/>
              </a:rPr>
              <a:t>Define infrastructure using declarative configuration files.(HCL -HashiCorp Configuration Language)</a:t>
            </a:r>
          </a:p>
        </p:txBody>
      </p:sp>
      <p:sp>
        <p:nvSpPr>
          <p:cNvPr id="10" name="Shape 5"/>
          <p:cNvSpPr/>
          <p:nvPr/>
        </p:nvSpPr>
        <p:spPr>
          <a:xfrm>
            <a:off x="4914668" y="1382813"/>
            <a:ext cx="345517" cy="425252"/>
          </a:xfrm>
          <a:prstGeom prst="roundRect">
            <a:avLst>
              <a:gd name="adj" fmla="val 50000"/>
            </a:avLst>
          </a:prstGeom>
          <a:solidFill>
            <a:srgbClr val="E8F3E8"/>
          </a:solidFill>
          <a:ln/>
        </p:spPr>
      </p:sp>
      <p:sp>
        <p:nvSpPr>
          <p:cNvPr id="11" name="Text 6"/>
          <p:cNvSpPr/>
          <p:nvPr/>
        </p:nvSpPr>
        <p:spPr>
          <a:xfrm>
            <a:off x="4972270" y="1453654"/>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2</a:t>
            </a:r>
            <a:endParaRPr lang="en-US" sz="1800" dirty="0"/>
          </a:p>
        </p:txBody>
      </p:sp>
      <p:sp>
        <p:nvSpPr>
          <p:cNvPr id="12" name="Text 7"/>
          <p:cNvSpPr/>
          <p:nvPr/>
        </p:nvSpPr>
        <p:spPr>
          <a:xfrm>
            <a:off x="5267261" y="1439695"/>
            <a:ext cx="1919690" cy="295275"/>
          </a:xfrm>
          <a:prstGeom prst="rect">
            <a:avLst/>
          </a:prstGeom>
          <a:noFill/>
          <a:ln/>
        </p:spPr>
        <p:txBody>
          <a:bodyPr wrap="none" lIns="0" tIns="0" rIns="0" bIns="0" rtlCol="0" anchor="t"/>
          <a:lstStyle/>
          <a:p>
            <a:pPr>
              <a:lnSpc>
                <a:spcPts val="1811"/>
              </a:lnSpc>
            </a:pPr>
            <a:r>
              <a:rPr lang="en-US" sz="1500" b="1" dirty="0">
                <a:latin typeface="+mj-lt"/>
              </a:rPr>
              <a:t>   Multi-Cloud Support</a:t>
            </a:r>
            <a:r>
              <a:rPr lang="en-US" sz="1500" dirty="0">
                <a:latin typeface="+mj-lt"/>
              </a:rPr>
              <a:t> </a:t>
            </a:r>
            <a:endParaRPr lang="en-US" sz="1400" dirty="0">
              <a:latin typeface="+mj-lt"/>
            </a:endParaRPr>
          </a:p>
        </p:txBody>
      </p:sp>
      <p:sp>
        <p:nvSpPr>
          <p:cNvPr id="13" name="Text 8"/>
          <p:cNvSpPr/>
          <p:nvPr/>
        </p:nvSpPr>
        <p:spPr>
          <a:xfrm>
            <a:off x="5526593" y="1780174"/>
            <a:ext cx="3839703" cy="604838"/>
          </a:xfrm>
          <a:prstGeom prst="rect">
            <a:avLst/>
          </a:prstGeom>
          <a:noFill/>
          <a:ln/>
        </p:spPr>
        <p:txBody>
          <a:bodyPr wrap="square" lIns="0" tIns="0" rIns="0" bIns="0" rtlCol="0" anchor="t"/>
          <a:lstStyle/>
          <a:p>
            <a:pPr>
              <a:lnSpc>
                <a:spcPts val="1877"/>
              </a:lnSpc>
            </a:pPr>
            <a:r>
              <a:rPr lang="en-US" sz="1200" dirty="0">
                <a:latin typeface="Bookman Old Style" pitchFamily="18" charset="0"/>
                <a:cs typeface="Times New Roman" pitchFamily="18" charset="0"/>
              </a:rPr>
              <a:t>Works with AWS, Azure, GCP, and many other providers.</a:t>
            </a:r>
          </a:p>
        </p:txBody>
      </p:sp>
      <p:sp>
        <p:nvSpPr>
          <p:cNvPr id="14" name="Shape 9"/>
          <p:cNvSpPr/>
          <p:nvPr/>
        </p:nvSpPr>
        <p:spPr>
          <a:xfrm>
            <a:off x="512418" y="2667003"/>
            <a:ext cx="345517" cy="425252"/>
          </a:xfrm>
          <a:prstGeom prst="roundRect">
            <a:avLst>
              <a:gd name="adj" fmla="val 40005"/>
            </a:avLst>
          </a:prstGeom>
          <a:solidFill>
            <a:srgbClr val="E8F3E8"/>
          </a:solidFill>
          <a:ln/>
        </p:spPr>
      </p:sp>
      <p:sp>
        <p:nvSpPr>
          <p:cNvPr id="15" name="Text 10"/>
          <p:cNvSpPr/>
          <p:nvPr/>
        </p:nvSpPr>
        <p:spPr>
          <a:xfrm>
            <a:off x="644839" y="2795076"/>
            <a:ext cx="57580" cy="209541"/>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3</a:t>
            </a:r>
            <a:endParaRPr lang="en-US" sz="1800" dirty="0"/>
          </a:p>
        </p:txBody>
      </p:sp>
      <p:sp>
        <p:nvSpPr>
          <p:cNvPr id="16" name="Text 11"/>
          <p:cNvSpPr/>
          <p:nvPr/>
        </p:nvSpPr>
        <p:spPr>
          <a:xfrm>
            <a:off x="1036714" y="2738231"/>
            <a:ext cx="1919690" cy="295275"/>
          </a:xfrm>
          <a:prstGeom prst="rect">
            <a:avLst/>
          </a:prstGeom>
          <a:noFill/>
          <a:ln/>
        </p:spPr>
        <p:txBody>
          <a:bodyPr wrap="none" lIns="0" tIns="0" rIns="0" bIns="0" rtlCol="0" anchor="t"/>
          <a:lstStyle/>
          <a:p>
            <a:pPr>
              <a:lnSpc>
                <a:spcPts val="1811"/>
              </a:lnSpc>
            </a:pPr>
            <a:endParaRPr lang="en-US" sz="1400" b="1" dirty="0">
              <a:latin typeface="Arial Black" pitchFamily="34" charset="0"/>
            </a:endParaRPr>
          </a:p>
        </p:txBody>
      </p:sp>
      <p:sp>
        <p:nvSpPr>
          <p:cNvPr id="17" name="Text 12"/>
          <p:cNvSpPr/>
          <p:nvPr/>
        </p:nvSpPr>
        <p:spPr>
          <a:xfrm>
            <a:off x="1074965" y="3126809"/>
            <a:ext cx="3839703" cy="604838"/>
          </a:xfrm>
          <a:prstGeom prst="rect">
            <a:avLst/>
          </a:prstGeom>
          <a:noFill/>
          <a:ln/>
        </p:spPr>
        <p:txBody>
          <a:bodyPr wrap="square" lIns="0" tIns="0" rIns="0" bIns="0" rtlCol="0" anchor="t"/>
          <a:lstStyle/>
          <a:p>
            <a:pPr>
              <a:lnSpc>
                <a:spcPts val="1877"/>
              </a:lnSpc>
            </a:pPr>
            <a:endParaRPr lang="en-US" sz="1200" dirty="0">
              <a:latin typeface="Bookman Old Style" pitchFamily="18" charset="0"/>
              <a:cs typeface="Times New Roman" pitchFamily="18" charset="0"/>
            </a:endParaRPr>
          </a:p>
        </p:txBody>
      </p:sp>
      <p:sp>
        <p:nvSpPr>
          <p:cNvPr id="18" name="Shape 13"/>
          <p:cNvSpPr/>
          <p:nvPr/>
        </p:nvSpPr>
        <p:spPr>
          <a:xfrm>
            <a:off x="4914668" y="2608254"/>
            <a:ext cx="345517" cy="425252"/>
          </a:xfrm>
          <a:prstGeom prst="roundRect">
            <a:avLst>
              <a:gd name="adj" fmla="val 40005"/>
            </a:avLst>
          </a:prstGeom>
          <a:solidFill>
            <a:srgbClr val="E8F3E8"/>
          </a:solidFill>
          <a:ln/>
        </p:spPr>
      </p:sp>
      <p:sp>
        <p:nvSpPr>
          <p:cNvPr id="19" name="Text 14"/>
          <p:cNvSpPr/>
          <p:nvPr/>
        </p:nvSpPr>
        <p:spPr>
          <a:xfrm>
            <a:off x="4972270" y="2679095"/>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4</a:t>
            </a:r>
            <a:endParaRPr lang="en-US" sz="1800" dirty="0"/>
          </a:p>
        </p:txBody>
      </p:sp>
      <p:sp>
        <p:nvSpPr>
          <p:cNvPr id="20" name="Text 15"/>
          <p:cNvSpPr/>
          <p:nvPr/>
        </p:nvSpPr>
        <p:spPr>
          <a:xfrm>
            <a:off x="1094288" y="2708664"/>
            <a:ext cx="1919690" cy="295275"/>
          </a:xfrm>
          <a:prstGeom prst="rect">
            <a:avLst/>
          </a:prstGeom>
          <a:noFill/>
          <a:ln/>
        </p:spPr>
        <p:txBody>
          <a:bodyPr wrap="none" lIns="0" tIns="0" rIns="0" bIns="0" rtlCol="0" anchor="t"/>
          <a:lstStyle/>
          <a:p>
            <a:pPr>
              <a:lnSpc>
                <a:spcPts val="1811"/>
              </a:lnSpc>
            </a:pPr>
            <a:r>
              <a:rPr lang="en-US" sz="1500" b="1" dirty="0">
                <a:latin typeface="+mj-lt"/>
              </a:rPr>
              <a:t>State Management</a:t>
            </a:r>
            <a:endParaRPr lang="en-US" sz="1400" b="1" dirty="0">
              <a:latin typeface="+mj-lt"/>
            </a:endParaRPr>
          </a:p>
        </p:txBody>
      </p:sp>
      <p:sp>
        <p:nvSpPr>
          <p:cNvPr id="21" name="Text 16"/>
          <p:cNvSpPr/>
          <p:nvPr/>
        </p:nvSpPr>
        <p:spPr>
          <a:xfrm>
            <a:off x="1132565" y="3054486"/>
            <a:ext cx="3839703" cy="604838"/>
          </a:xfrm>
          <a:prstGeom prst="rect">
            <a:avLst/>
          </a:prstGeom>
          <a:noFill/>
          <a:ln/>
        </p:spPr>
        <p:txBody>
          <a:bodyPr wrap="square" lIns="0" tIns="0" rIns="0" bIns="0" rtlCol="0" anchor="t"/>
          <a:lstStyle/>
          <a:p>
            <a:pPr>
              <a:lnSpc>
                <a:spcPts val="1877"/>
              </a:lnSpc>
            </a:pPr>
            <a:r>
              <a:rPr lang="en-US" sz="1200" dirty="0">
                <a:latin typeface="Bookman Old Style" pitchFamily="18" charset="0"/>
                <a:cs typeface="Times New Roman" pitchFamily="18" charset="0"/>
              </a:rPr>
              <a:t>Maintains a state file to track infrastructure changes.</a:t>
            </a:r>
          </a:p>
        </p:txBody>
      </p:sp>
      <p:sp>
        <p:nvSpPr>
          <p:cNvPr id="23" name="Text 14"/>
          <p:cNvSpPr/>
          <p:nvPr/>
        </p:nvSpPr>
        <p:spPr>
          <a:xfrm>
            <a:off x="562281" y="4042268"/>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5</a:t>
            </a:r>
            <a:endParaRPr lang="en-US" sz="1800" dirty="0"/>
          </a:p>
        </p:txBody>
      </p:sp>
      <p:sp>
        <p:nvSpPr>
          <p:cNvPr id="24" name="Shape 13"/>
          <p:cNvSpPr/>
          <p:nvPr/>
        </p:nvSpPr>
        <p:spPr>
          <a:xfrm>
            <a:off x="512418" y="3971428"/>
            <a:ext cx="345517" cy="425252"/>
          </a:xfrm>
          <a:prstGeom prst="roundRect">
            <a:avLst>
              <a:gd name="adj" fmla="val 40005"/>
            </a:avLst>
          </a:prstGeom>
          <a:solidFill>
            <a:srgbClr val="E8F3E8"/>
          </a:solidFill>
          <a:ln/>
        </p:spPr>
        <p:txBody>
          <a:bodyPr lIns="86013" tIns="43006" rIns="86013" bIns="43006"/>
          <a:lstStyle/>
          <a:p>
            <a:r>
              <a:rPr lang="en-US" b="1" dirty="0" smtClean="0"/>
              <a:t>5</a:t>
            </a:r>
            <a:endParaRPr lang="en-US" b="1" dirty="0"/>
          </a:p>
        </p:txBody>
      </p:sp>
      <p:sp>
        <p:nvSpPr>
          <p:cNvPr id="25" name="Rectangle 24"/>
          <p:cNvSpPr/>
          <p:nvPr/>
        </p:nvSpPr>
        <p:spPr>
          <a:xfrm>
            <a:off x="990732" y="3907360"/>
            <a:ext cx="1799151" cy="317684"/>
          </a:xfrm>
          <a:prstGeom prst="rect">
            <a:avLst/>
          </a:prstGeom>
        </p:spPr>
        <p:txBody>
          <a:bodyPr wrap="none" lIns="86013" tIns="43006" rIns="86013" bIns="43006">
            <a:spAutoFit/>
          </a:bodyPr>
          <a:lstStyle/>
          <a:p>
            <a:r>
              <a:rPr lang="en-US" sz="1500" b="1" dirty="0">
                <a:latin typeface="+mj-lt"/>
              </a:rPr>
              <a:t>Execution Plans</a:t>
            </a:r>
          </a:p>
        </p:txBody>
      </p:sp>
      <p:sp>
        <p:nvSpPr>
          <p:cNvPr id="27" name="Rectangle 26"/>
          <p:cNvSpPr/>
          <p:nvPr/>
        </p:nvSpPr>
        <p:spPr>
          <a:xfrm>
            <a:off x="1053737" y="4245917"/>
            <a:ext cx="3742889" cy="470688"/>
          </a:xfrm>
          <a:prstGeom prst="rect">
            <a:avLst/>
          </a:prstGeom>
        </p:spPr>
        <p:txBody>
          <a:bodyPr wrap="square" lIns="86013" tIns="43006" rIns="86013" bIns="43006">
            <a:spAutoFit/>
          </a:bodyPr>
          <a:lstStyle/>
          <a:p>
            <a:r>
              <a:rPr lang="en-US" sz="1200" dirty="0">
                <a:latin typeface="Bookman Old Style" pitchFamily="18" charset="0"/>
                <a:cs typeface="Times New Roman" pitchFamily="18" charset="0"/>
              </a:rPr>
              <a:t>Previews changes before applying them to infrastructure.</a:t>
            </a:r>
          </a:p>
        </p:txBody>
      </p:sp>
      <p:sp>
        <p:nvSpPr>
          <p:cNvPr id="32" name="Shape 9"/>
          <p:cNvSpPr/>
          <p:nvPr/>
        </p:nvSpPr>
        <p:spPr>
          <a:xfrm>
            <a:off x="4914668" y="3979793"/>
            <a:ext cx="345517" cy="425252"/>
          </a:xfrm>
          <a:prstGeom prst="roundRect">
            <a:avLst>
              <a:gd name="adj" fmla="val 40005"/>
            </a:avLst>
          </a:prstGeom>
          <a:solidFill>
            <a:srgbClr val="E8F3E8"/>
          </a:solidFill>
          <a:ln/>
        </p:spPr>
        <p:txBody>
          <a:bodyPr lIns="86013" tIns="43006" rIns="86013" bIns="43006"/>
          <a:lstStyle/>
          <a:p>
            <a:r>
              <a:rPr lang="en-US" dirty="0" smtClean="0"/>
              <a:t>6</a:t>
            </a:r>
            <a:endParaRPr lang="en-US" dirty="0"/>
          </a:p>
        </p:txBody>
      </p:sp>
      <p:sp>
        <p:nvSpPr>
          <p:cNvPr id="33" name="Shape 9"/>
          <p:cNvSpPr/>
          <p:nvPr/>
        </p:nvSpPr>
        <p:spPr>
          <a:xfrm>
            <a:off x="4914668" y="5334003"/>
            <a:ext cx="345517" cy="394523"/>
          </a:xfrm>
          <a:prstGeom prst="roundRect">
            <a:avLst>
              <a:gd name="adj" fmla="val 40005"/>
            </a:avLst>
          </a:prstGeom>
          <a:solidFill>
            <a:srgbClr val="E8F3E8"/>
          </a:solidFill>
          <a:ln/>
        </p:spPr>
        <p:txBody>
          <a:bodyPr lIns="86013" tIns="43006" rIns="86013" bIns="43006"/>
          <a:lstStyle/>
          <a:p>
            <a:r>
              <a:rPr lang="en-US" dirty="0" smtClean="0"/>
              <a:t>8</a:t>
            </a:r>
            <a:endParaRPr lang="en-US" dirty="0"/>
          </a:p>
        </p:txBody>
      </p:sp>
      <p:sp>
        <p:nvSpPr>
          <p:cNvPr id="34" name="Shape 9"/>
          <p:cNvSpPr/>
          <p:nvPr/>
        </p:nvSpPr>
        <p:spPr>
          <a:xfrm>
            <a:off x="595022" y="5334002"/>
            <a:ext cx="345517" cy="425252"/>
          </a:xfrm>
          <a:prstGeom prst="roundRect">
            <a:avLst>
              <a:gd name="adj" fmla="val 40005"/>
            </a:avLst>
          </a:prstGeom>
          <a:solidFill>
            <a:srgbClr val="E8F3E8"/>
          </a:solidFill>
          <a:ln/>
        </p:spPr>
        <p:txBody>
          <a:bodyPr lIns="86013" tIns="43006" rIns="86013" bIns="43006"/>
          <a:lstStyle/>
          <a:p>
            <a:r>
              <a:rPr lang="en-US" b="1" dirty="0" smtClean="0"/>
              <a:t>7</a:t>
            </a:r>
            <a:endParaRPr lang="en-US" b="1" dirty="0"/>
          </a:p>
        </p:txBody>
      </p:sp>
      <p:sp>
        <p:nvSpPr>
          <p:cNvPr id="37" name="Rectangle 36"/>
          <p:cNvSpPr/>
          <p:nvPr/>
        </p:nvSpPr>
        <p:spPr>
          <a:xfrm>
            <a:off x="5351101" y="3891974"/>
            <a:ext cx="2076471" cy="348462"/>
          </a:xfrm>
          <a:prstGeom prst="rect">
            <a:avLst/>
          </a:prstGeom>
        </p:spPr>
        <p:txBody>
          <a:bodyPr wrap="none" lIns="86013" tIns="43006" rIns="86013" bIns="43006">
            <a:spAutoFit/>
          </a:bodyPr>
          <a:lstStyle/>
          <a:p>
            <a:r>
              <a:rPr lang="en-US" b="1" dirty="0" smtClean="0">
                <a:latin typeface="+mj-lt"/>
              </a:rPr>
              <a:t>Resource </a:t>
            </a:r>
            <a:r>
              <a:rPr lang="en-US" b="1" dirty="0">
                <a:latin typeface="+mj-lt"/>
              </a:rPr>
              <a:t>Graph</a:t>
            </a:r>
            <a:r>
              <a:rPr lang="en-US" b="1" dirty="0" smtClean="0">
                <a:latin typeface="+mj-lt"/>
              </a:rPr>
              <a:t> </a:t>
            </a:r>
            <a:endParaRPr lang="en-US" b="1" dirty="0">
              <a:latin typeface="+mj-lt"/>
            </a:endParaRPr>
          </a:p>
        </p:txBody>
      </p:sp>
      <p:sp>
        <p:nvSpPr>
          <p:cNvPr id="38" name="Rectangle 37"/>
          <p:cNvSpPr/>
          <p:nvPr/>
        </p:nvSpPr>
        <p:spPr>
          <a:xfrm>
            <a:off x="5295563" y="5306981"/>
            <a:ext cx="2212726" cy="317684"/>
          </a:xfrm>
          <a:prstGeom prst="rect">
            <a:avLst/>
          </a:prstGeom>
        </p:spPr>
        <p:txBody>
          <a:bodyPr wrap="none" lIns="86013" tIns="43006" rIns="86013" bIns="43006">
            <a:spAutoFit/>
          </a:bodyPr>
          <a:lstStyle/>
          <a:p>
            <a:r>
              <a:rPr lang="en-US" sz="1500" b="1" dirty="0">
                <a:latin typeface="+mj-lt"/>
              </a:rPr>
              <a:t> Secret Management</a:t>
            </a:r>
            <a:endParaRPr lang="en-US" sz="1500" dirty="0">
              <a:latin typeface="+mj-lt"/>
            </a:endParaRPr>
          </a:p>
        </p:txBody>
      </p:sp>
      <p:sp>
        <p:nvSpPr>
          <p:cNvPr id="39" name="Rectangle 38"/>
          <p:cNvSpPr/>
          <p:nvPr/>
        </p:nvSpPr>
        <p:spPr>
          <a:xfrm>
            <a:off x="5328583" y="2625798"/>
            <a:ext cx="2709657" cy="317684"/>
          </a:xfrm>
          <a:prstGeom prst="rect">
            <a:avLst/>
          </a:prstGeom>
        </p:spPr>
        <p:txBody>
          <a:bodyPr wrap="none" lIns="86013" tIns="43006" rIns="86013" bIns="43006">
            <a:spAutoFit/>
          </a:bodyPr>
          <a:lstStyle/>
          <a:p>
            <a:r>
              <a:rPr lang="en-US" sz="1500" b="1" dirty="0">
                <a:latin typeface="+mj-lt"/>
              </a:rPr>
              <a:t>Modularity &amp; Reusability</a:t>
            </a:r>
          </a:p>
        </p:txBody>
      </p:sp>
      <p:sp>
        <p:nvSpPr>
          <p:cNvPr id="41" name="Rectangle 40"/>
          <p:cNvSpPr/>
          <p:nvPr/>
        </p:nvSpPr>
        <p:spPr>
          <a:xfrm>
            <a:off x="5430235" y="4269886"/>
            <a:ext cx="3866445" cy="574165"/>
          </a:xfrm>
          <a:prstGeom prst="rect">
            <a:avLst/>
          </a:prstGeom>
        </p:spPr>
        <p:txBody>
          <a:bodyPr wrap="square" lIns="86013" tIns="43006" rIns="86013" bIns="43006">
            <a:spAutoFit/>
          </a:bodyPr>
          <a:lstStyle/>
          <a:p>
            <a:pPr>
              <a:lnSpc>
                <a:spcPts val="1877"/>
              </a:lnSpc>
            </a:pPr>
            <a:r>
              <a:rPr lang="en-US" sz="1200" dirty="0">
                <a:latin typeface="Bookman Old Style" pitchFamily="18" charset="0"/>
                <a:cs typeface="Times New Roman" pitchFamily="18" charset="0"/>
              </a:rPr>
              <a:t>Builds and manages dependencies between resources efficiently</a:t>
            </a:r>
            <a:r>
              <a:rPr lang="en-US" sz="1200" dirty="0">
                <a:latin typeface="Bookman Old Style" pitchFamily="18" charset="0"/>
              </a:rPr>
              <a:t>.</a:t>
            </a:r>
          </a:p>
        </p:txBody>
      </p:sp>
      <p:sp>
        <p:nvSpPr>
          <p:cNvPr id="42" name="Rectangle 41"/>
          <p:cNvSpPr/>
          <p:nvPr/>
        </p:nvSpPr>
        <p:spPr>
          <a:xfrm>
            <a:off x="5399228" y="3017000"/>
            <a:ext cx="3818776" cy="574165"/>
          </a:xfrm>
          <a:prstGeom prst="rect">
            <a:avLst/>
          </a:prstGeom>
        </p:spPr>
        <p:txBody>
          <a:bodyPr wrap="square" lIns="86013" tIns="43006" rIns="86013" bIns="43006">
            <a:spAutoFit/>
          </a:bodyPr>
          <a:lstStyle/>
          <a:p>
            <a:pPr>
              <a:lnSpc>
                <a:spcPts val="1877"/>
              </a:lnSpc>
            </a:pPr>
            <a:r>
              <a:rPr lang="en-US" sz="1200" dirty="0">
                <a:latin typeface="Bookman Old Style" pitchFamily="18" charset="0"/>
              </a:rPr>
              <a:t>Supports reusable modules for better organization.</a:t>
            </a:r>
          </a:p>
        </p:txBody>
      </p:sp>
      <p:sp>
        <p:nvSpPr>
          <p:cNvPr id="43" name="Rectangle 42"/>
          <p:cNvSpPr/>
          <p:nvPr/>
        </p:nvSpPr>
        <p:spPr>
          <a:xfrm>
            <a:off x="5454479" y="5645536"/>
            <a:ext cx="3510685" cy="470688"/>
          </a:xfrm>
          <a:prstGeom prst="rect">
            <a:avLst/>
          </a:prstGeom>
        </p:spPr>
        <p:txBody>
          <a:bodyPr wrap="square" lIns="86013" tIns="43006" rIns="86013" bIns="43006">
            <a:spAutoFit/>
          </a:bodyPr>
          <a:lstStyle/>
          <a:p>
            <a:r>
              <a:rPr lang="en-US" sz="1200" dirty="0">
                <a:latin typeface="Bookman Old Style" pitchFamily="18" charset="0"/>
              </a:rPr>
              <a:t>Integrates with Vault and environment       variables for secrets.</a:t>
            </a:r>
          </a:p>
        </p:txBody>
      </p:sp>
      <p:sp>
        <p:nvSpPr>
          <p:cNvPr id="3" name="Rectangle 2"/>
          <p:cNvSpPr/>
          <p:nvPr/>
        </p:nvSpPr>
        <p:spPr>
          <a:xfrm>
            <a:off x="1053736" y="5183869"/>
            <a:ext cx="2531724" cy="548517"/>
          </a:xfrm>
          <a:prstGeom prst="rect">
            <a:avLst/>
          </a:prstGeom>
        </p:spPr>
        <p:txBody>
          <a:bodyPr wrap="none" lIns="86013" tIns="43006" rIns="86013" bIns="43006">
            <a:spAutoFit/>
          </a:bodyPr>
          <a:lstStyle/>
          <a:p>
            <a:r>
              <a:rPr lang="en-US" sz="1500" b="1" dirty="0"/>
              <a:t>Integration with CI/CD </a:t>
            </a:r>
          </a:p>
          <a:p>
            <a:r>
              <a:rPr lang="en-US" sz="1500" b="1" dirty="0"/>
              <a:t>Pipelines</a:t>
            </a:r>
          </a:p>
        </p:txBody>
      </p:sp>
      <p:sp>
        <p:nvSpPr>
          <p:cNvPr id="5" name="Rectangle 4"/>
          <p:cNvSpPr/>
          <p:nvPr/>
        </p:nvSpPr>
        <p:spPr>
          <a:xfrm>
            <a:off x="1132566" y="5728524"/>
            <a:ext cx="3551559" cy="574165"/>
          </a:xfrm>
          <a:prstGeom prst="rect">
            <a:avLst/>
          </a:prstGeom>
        </p:spPr>
        <p:txBody>
          <a:bodyPr wrap="square" lIns="86013" tIns="43006" rIns="86013" bIns="43006">
            <a:spAutoFit/>
          </a:bodyPr>
          <a:lstStyle/>
          <a:p>
            <a:pPr>
              <a:lnSpc>
                <a:spcPts val="1877"/>
              </a:lnSpc>
            </a:pPr>
            <a:r>
              <a:rPr lang="en-US" sz="1200" dirty="0"/>
              <a:t>Works with GitHub Actions, Jenkins, GitLab CI/CD, and other DevOps tools.</a:t>
            </a:r>
            <a:endParaRPr lang="en-US" sz="1200" dirty="0">
              <a:latin typeface="Bookman Old Style" pitchFamily="18" charset="0"/>
              <a:cs typeface="Times New Roman" pitchFamily="18" charset="0"/>
            </a:endParaRPr>
          </a:p>
        </p:txBody>
      </p:sp>
      <p:sp>
        <p:nvSpPr>
          <p:cNvPr id="35" name="Action Button: Go Back or Previous 5">
            <a:hlinkClick r:id="" action="ppaction://hlinkshowjump?jump=previousslide" highlightClick="1"/>
            <a:extLst>
              <a:ext uri="{FF2B5EF4-FFF2-40B4-BE49-F238E27FC236}">
                <a16:creationId xmlns:a16="http://schemas.microsoft.com/office/drawing/2014/main" xmlns="" id="{E1FD5126-3182-9142-6909-D7F182C6E87B}"/>
              </a:ext>
            </a:extLst>
          </p:cNvPr>
          <p:cNvSpPr/>
          <p:nvPr/>
        </p:nvSpPr>
        <p:spPr>
          <a:xfrm>
            <a:off x="8406892"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36"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40" name="Action Button: Go Forward or Next 4">
            <a:hlinkClick r:id="" action="ppaction://hlinkshowjump?jump=nextslide" highlightClick="1"/>
            <a:extLst>
              <a:ext uri="{FF2B5EF4-FFF2-40B4-BE49-F238E27FC236}">
                <a16:creationId xmlns:a16="http://schemas.microsoft.com/office/drawing/2014/main" xmlns="" id="{41F05C50-36E8-6347-C018-9F522CB028E9}"/>
              </a:ext>
            </a:extLst>
          </p:cNvPr>
          <p:cNvSpPr/>
          <p:nvPr/>
        </p:nvSpPr>
        <p:spPr>
          <a:xfrm>
            <a:off x="9410700"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392057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2423" y="228600"/>
            <a:ext cx="6553200" cy="1066800"/>
          </a:xfrm>
        </p:spPr>
        <p:txBody>
          <a:bodyPr>
            <a:normAutofit/>
          </a:bodyPr>
          <a:lstStyle/>
          <a:p>
            <a:pPr algn="ctr"/>
            <a:r>
              <a:rPr lang="en-US" dirty="0">
                <a:solidFill>
                  <a:srgbClr val="0070C0"/>
                </a:solidFill>
                <a:latin typeface="Fraunces Extra Bold" pitchFamily="34" charset="0"/>
                <a:ea typeface="Fraunces Extra Bold" pitchFamily="34" charset="-122"/>
              </a:rPr>
              <a:t>Advantages </a:t>
            </a:r>
            <a:r>
              <a:rPr lang="en-US" dirty="0" smtClean="0">
                <a:solidFill>
                  <a:srgbClr val="0070C0"/>
                </a:solidFill>
                <a:latin typeface="Fraunces Extra Bold" pitchFamily="34" charset="0"/>
                <a:ea typeface="Fraunces Extra Bold" pitchFamily="34" charset="-122"/>
              </a:rPr>
              <a:t>of Terraform</a:t>
            </a:r>
            <a:r>
              <a:rPr lang="en-US" dirty="0">
                <a:solidFill>
                  <a:srgbClr val="0070C0"/>
                </a:solidFill>
              </a:rPr>
              <a:t/>
            </a:r>
            <a:br>
              <a:rPr lang="en-US" dirty="0">
                <a:solidFill>
                  <a:srgbClr val="0070C0"/>
                </a:solidFill>
              </a:rPr>
            </a:br>
            <a:endParaRPr lang="en-US" dirty="0"/>
          </a:p>
        </p:txBody>
      </p:sp>
      <p:sp>
        <p:nvSpPr>
          <p:cNvPr id="4" name="Shape 7"/>
          <p:cNvSpPr/>
          <p:nvPr/>
        </p:nvSpPr>
        <p:spPr>
          <a:xfrm>
            <a:off x="2671354" y="1295400"/>
            <a:ext cx="6398623" cy="4267200"/>
          </a:xfrm>
          <a:prstGeom prst="roundRect">
            <a:avLst>
              <a:gd name="adj" fmla="val 12225"/>
            </a:avLst>
          </a:prstGeom>
          <a:solidFill>
            <a:srgbClr val="E8F3E8"/>
          </a:solidFill>
          <a:ln>
            <a:solidFill>
              <a:schemeClr val="accent1"/>
            </a:solidFill>
          </a:ln>
        </p:spPr>
        <p:txBody>
          <a:bodyPr lIns="86013" tIns="43006" rIns="86013" bIns="43006"/>
          <a:lstStyle/>
          <a:p>
            <a:pPr marL="285750" indent="-285750">
              <a:buFont typeface="Wingdings" pitchFamily="2" charset="2"/>
              <a:buChar char="§"/>
            </a:pPr>
            <a:r>
              <a:rPr lang="en-US" sz="1800" b="1" dirty="0">
                <a:latin typeface="Times New Roman" pitchFamily="18" charset="0"/>
                <a:cs typeface="Times New Roman" pitchFamily="18" charset="0"/>
              </a:rPr>
              <a:t>Consistency</a:t>
            </a:r>
            <a:r>
              <a:rPr lang="en-US" sz="1800" dirty="0">
                <a:latin typeface="Times New Roman" pitchFamily="18" charset="0"/>
                <a:cs typeface="Times New Roman" pitchFamily="18" charset="0"/>
              </a:rPr>
              <a:t>: Eliminates manual errors with codified infrastructure.</a:t>
            </a:r>
          </a:p>
          <a:p>
            <a:endParaRPr lang="en-US" sz="1800" dirty="0">
              <a:latin typeface="Times New Roman" pitchFamily="18" charset="0"/>
              <a:cs typeface="Times New Roman" pitchFamily="18" charset="0"/>
            </a:endParaRPr>
          </a:p>
          <a:p>
            <a:pPr marL="285750" indent="-285750">
              <a:buFont typeface="Wingdings" pitchFamily="2" charset="2"/>
              <a:buChar char="§"/>
            </a:pPr>
            <a:r>
              <a:rPr lang="en-US" sz="1800" b="1" dirty="0">
                <a:latin typeface="Times New Roman" pitchFamily="18" charset="0"/>
                <a:cs typeface="Times New Roman" pitchFamily="18" charset="0"/>
              </a:rPr>
              <a:t>Version Control</a:t>
            </a:r>
            <a:r>
              <a:rPr lang="en-US" sz="1800" dirty="0">
                <a:latin typeface="Times New Roman" pitchFamily="18" charset="0"/>
                <a:cs typeface="Times New Roman" pitchFamily="18" charset="0"/>
              </a:rPr>
              <a:t>: Integrates with Git for change tracking.</a:t>
            </a:r>
          </a:p>
          <a:p>
            <a:endParaRPr lang="en-US" sz="1800" dirty="0">
              <a:latin typeface="Times New Roman" pitchFamily="18" charset="0"/>
              <a:cs typeface="Times New Roman" pitchFamily="18" charset="0"/>
            </a:endParaRPr>
          </a:p>
          <a:p>
            <a:pPr marL="285750" indent="-285750">
              <a:buFont typeface="Wingdings" pitchFamily="2" charset="2"/>
              <a:buChar char="§"/>
            </a:pPr>
            <a:r>
              <a:rPr lang="en-US" sz="1800" b="1" dirty="0">
                <a:latin typeface="Times New Roman" pitchFamily="18" charset="0"/>
                <a:cs typeface="Times New Roman" pitchFamily="18" charset="0"/>
              </a:rPr>
              <a:t>Automation</a:t>
            </a:r>
            <a:r>
              <a:rPr lang="en-US" sz="1800" dirty="0">
                <a:latin typeface="Times New Roman" pitchFamily="18" charset="0"/>
                <a:cs typeface="Times New Roman" pitchFamily="18" charset="0"/>
              </a:rPr>
              <a:t>: Faster deployments compared to manual processes.</a:t>
            </a:r>
          </a:p>
          <a:p>
            <a:endParaRPr lang="en-US" sz="1800" dirty="0">
              <a:latin typeface="Times New Roman" pitchFamily="18" charset="0"/>
              <a:cs typeface="Times New Roman" pitchFamily="18" charset="0"/>
            </a:endParaRPr>
          </a:p>
          <a:p>
            <a:pPr marL="285750" indent="-285750">
              <a:buFont typeface="Wingdings" pitchFamily="2" charset="2"/>
              <a:buChar char="§"/>
            </a:pPr>
            <a:r>
              <a:rPr lang="en-US" sz="1800" b="1" dirty="0">
                <a:latin typeface="Times New Roman" pitchFamily="18" charset="0"/>
                <a:cs typeface="Times New Roman" pitchFamily="18" charset="0"/>
              </a:rPr>
              <a:t>Community &amp; Ecosystem</a:t>
            </a:r>
            <a:r>
              <a:rPr lang="en-US" sz="1800" dirty="0">
                <a:latin typeface="Times New Roman" pitchFamily="18" charset="0"/>
                <a:cs typeface="Times New Roman" pitchFamily="18" charset="0"/>
              </a:rPr>
              <a:t>: Large community + registry of pre-built modules.</a:t>
            </a:r>
          </a:p>
          <a:p>
            <a:endParaRPr lang="en-US" sz="1800" dirty="0">
              <a:latin typeface="Times New Roman" pitchFamily="18" charset="0"/>
              <a:cs typeface="Times New Roman" pitchFamily="18" charset="0"/>
            </a:endParaRPr>
          </a:p>
          <a:p>
            <a:pPr marL="285750" indent="-285750">
              <a:buFont typeface="Wingdings" pitchFamily="2" charset="2"/>
              <a:buChar char="§"/>
            </a:pPr>
            <a:r>
              <a:rPr lang="en-US" sz="1800" b="1" dirty="0">
                <a:latin typeface="Times New Roman" pitchFamily="18" charset="0"/>
                <a:cs typeface="Times New Roman" pitchFamily="18" charset="0"/>
              </a:rPr>
              <a:t>Immutable Infrastructure</a:t>
            </a:r>
            <a:r>
              <a:rPr lang="en-US" sz="1800" dirty="0">
                <a:latin typeface="Times New Roman" pitchFamily="18" charset="0"/>
                <a:cs typeface="Times New Roman" pitchFamily="18" charset="0"/>
              </a:rPr>
              <a:t>: Replaces resources instead of modifying them (reduces drift).</a:t>
            </a:r>
          </a:p>
          <a:p>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sp>
        <p:nvSpPr>
          <p:cNvPr id="5" name="Action Button: Go Forward or Next 4">
            <a:hlinkClick r:id="" action="ppaction://hlinkshowjump?jump=nextslide" highlightClick="1"/>
            <a:extLst>
              <a:ext uri="{FF2B5EF4-FFF2-40B4-BE49-F238E27FC236}">
                <a16:creationId xmlns:a16="http://schemas.microsoft.com/office/drawing/2014/main" xmlns="" id="{41F05C50-36E8-6347-C018-9F522CB028E9}"/>
              </a:ext>
            </a:extLst>
          </p:cNvPr>
          <p:cNvSpPr/>
          <p:nvPr/>
        </p:nvSpPr>
        <p:spPr>
          <a:xfrm>
            <a:off x="9410700"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6"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7" name="Action Button: Go Back or Previous 5">
            <a:hlinkClick r:id="" action="ppaction://hlinkshowjump?jump=previousslide" highlightClick="1"/>
            <a:extLst>
              <a:ext uri="{FF2B5EF4-FFF2-40B4-BE49-F238E27FC236}">
                <a16:creationId xmlns:a16="http://schemas.microsoft.com/office/drawing/2014/main" xmlns="" id="{E1FD5126-3182-9142-6909-D7F182C6E87B}"/>
              </a:ext>
            </a:extLst>
          </p:cNvPr>
          <p:cNvSpPr/>
          <p:nvPr/>
        </p:nvSpPr>
        <p:spPr>
          <a:xfrm>
            <a:off x="8420100" y="6553200"/>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41797472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28600"/>
            <a:ext cx="6457950" cy="1132362"/>
          </a:xfrm>
        </p:spPr>
        <p:txBody>
          <a:bodyPr/>
          <a:lstStyle/>
          <a:p>
            <a:pPr algn="ctr"/>
            <a:r>
              <a:rPr lang="en-US" dirty="0" smtClean="0">
                <a:solidFill>
                  <a:srgbClr val="0070C0"/>
                </a:solidFill>
                <a:latin typeface="Fraunces Extra Bold" pitchFamily="34" charset="0"/>
                <a:ea typeface="Fraunces Extra Bold" pitchFamily="34" charset="-122"/>
              </a:rPr>
              <a:t>Disadvantages of </a:t>
            </a:r>
            <a:r>
              <a:rPr lang="en-US" dirty="0">
                <a:solidFill>
                  <a:srgbClr val="0070C0"/>
                </a:solidFill>
                <a:latin typeface="Fraunces Extra Bold" pitchFamily="34" charset="0"/>
                <a:ea typeface="Fraunces Extra Bold" pitchFamily="34" charset="-122"/>
              </a:rPr>
              <a:t>Terraform</a:t>
            </a:r>
            <a:r>
              <a:rPr lang="en-US" dirty="0">
                <a:solidFill>
                  <a:srgbClr val="0070C0"/>
                </a:solidFill>
              </a:rPr>
              <a:t/>
            </a:r>
            <a:br>
              <a:rPr lang="en-US" dirty="0">
                <a:solidFill>
                  <a:srgbClr val="0070C0"/>
                </a:solidFill>
              </a:rPr>
            </a:br>
            <a:endParaRPr lang="en-US" dirty="0"/>
          </a:p>
        </p:txBody>
      </p:sp>
      <p:sp>
        <p:nvSpPr>
          <p:cNvPr id="4" name="Rectangle 3"/>
          <p:cNvSpPr/>
          <p:nvPr/>
        </p:nvSpPr>
        <p:spPr>
          <a:xfrm>
            <a:off x="4114469" y="3252029"/>
            <a:ext cx="184731" cy="353943"/>
          </a:xfrm>
          <a:prstGeom prst="rect">
            <a:avLst/>
          </a:prstGeom>
        </p:spPr>
        <p:txBody>
          <a:bodyPr wrap="none">
            <a:spAutoFit/>
          </a:bodyPr>
          <a:lstStyle/>
          <a:p>
            <a:endParaRPr lang="en-US" dirty="0"/>
          </a:p>
        </p:txBody>
      </p:sp>
      <p:sp>
        <p:nvSpPr>
          <p:cNvPr id="5" name="Shape 7"/>
          <p:cNvSpPr/>
          <p:nvPr/>
        </p:nvSpPr>
        <p:spPr>
          <a:xfrm>
            <a:off x="2667000" y="1524000"/>
            <a:ext cx="6398623" cy="3962400"/>
          </a:xfrm>
          <a:prstGeom prst="roundRect">
            <a:avLst>
              <a:gd name="adj" fmla="val 12225"/>
            </a:avLst>
          </a:prstGeom>
          <a:solidFill>
            <a:srgbClr val="E8F3E8"/>
          </a:solidFill>
          <a:ln>
            <a:solidFill>
              <a:schemeClr val="accent1"/>
            </a:solidFill>
          </a:ln>
        </p:spPr>
        <p:txBody>
          <a:bodyPr lIns="86013" tIns="43006" rIns="86013" bIns="43006"/>
          <a:lstStyle/>
          <a:p>
            <a:pPr marL="285750" indent="-285750">
              <a:buFont typeface="Wingdings" pitchFamily="2" charset="2"/>
              <a:buChar char="§"/>
            </a:pPr>
            <a:r>
              <a:rPr lang="en-US" sz="1800" b="1" dirty="0"/>
              <a:t>State file risks</a:t>
            </a:r>
            <a:r>
              <a:rPr lang="en-US" sz="1800" dirty="0"/>
              <a:t> – can expose sensitive data if not secured properly</a:t>
            </a:r>
            <a:r>
              <a:rPr lang="en-US" sz="1800" dirty="0" smtClean="0"/>
              <a:t>.</a:t>
            </a:r>
          </a:p>
          <a:p>
            <a:endParaRPr lang="en-US" sz="1800" dirty="0"/>
          </a:p>
          <a:p>
            <a:pPr marL="285750" indent="-285750">
              <a:buFont typeface="Wingdings" pitchFamily="2" charset="2"/>
              <a:buChar char="§"/>
            </a:pPr>
            <a:r>
              <a:rPr lang="en-US" sz="1800" b="1" dirty="0"/>
              <a:t>Learning curve</a:t>
            </a:r>
            <a:r>
              <a:rPr lang="en-US" sz="1800" dirty="0"/>
              <a:t> for HCL and complex logic</a:t>
            </a:r>
            <a:r>
              <a:rPr lang="en-US" sz="1800" dirty="0" smtClean="0"/>
              <a:t>.</a:t>
            </a:r>
          </a:p>
          <a:p>
            <a:endParaRPr lang="en-US" sz="1800" dirty="0"/>
          </a:p>
          <a:p>
            <a:pPr marL="285750" indent="-285750">
              <a:buFont typeface="Wingdings" pitchFamily="2" charset="2"/>
              <a:buChar char="§"/>
            </a:pPr>
            <a:r>
              <a:rPr lang="en-US" sz="1800" b="1" dirty="0"/>
              <a:t>Lack of native rollback</a:t>
            </a:r>
            <a:r>
              <a:rPr lang="en-US" sz="1800" dirty="0"/>
              <a:t> on </a:t>
            </a:r>
            <a:r>
              <a:rPr lang="en-US" sz="1800" dirty="0" smtClean="0"/>
              <a:t>failure.</a:t>
            </a:r>
          </a:p>
          <a:p>
            <a:endParaRPr lang="en-US" sz="1800" dirty="0"/>
          </a:p>
          <a:p>
            <a:pPr marL="285750" indent="-285750">
              <a:buFont typeface="Wingdings" pitchFamily="2" charset="2"/>
              <a:buChar char="§"/>
            </a:pPr>
            <a:r>
              <a:rPr lang="en-US" sz="1800" b="1" dirty="0"/>
              <a:t>Recreation of resources</a:t>
            </a:r>
            <a:r>
              <a:rPr lang="en-US" sz="1800" dirty="0"/>
              <a:t> for minor changes can cause downtime</a:t>
            </a:r>
            <a:r>
              <a:rPr lang="en-US" sz="1800" dirty="0" smtClean="0"/>
              <a:t>.</a:t>
            </a:r>
          </a:p>
          <a:p>
            <a:endParaRPr lang="en-US" sz="1800" dirty="0"/>
          </a:p>
          <a:p>
            <a:pPr marL="285750" indent="-285750">
              <a:buFont typeface="Wingdings" pitchFamily="2" charset="2"/>
              <a:buChar char="§"/>
            </a:pPr>
            <a:r>
              <a:rPr lang="en-US" sz="1800" dirty="0"/>
              <a:t>Managing </a:t>
            </a:r>
            <a:r>
              <a:rPr lang="en-US" sz="1800" b="1" dirty="0"/>
              <a:t>large environments</a:t>
            </a:r>
            <a:r>
              <a:rPr lang="en-US" sz="1800" dirty="0"/>
              <a:t> requires strong structuring and best practices.</a:t>
            </a:r>
          </a:p>
          <a:p>
            <a:endParaRPr lang="en-US" sz="1800" dirty="0">
              <a:latin typeface="Times New Roman" pitchFamily="18" charset="0"/>
              <a:cs typeface="Times New Roman" pitchFamily="18" charset="0"/>
            </a:endParaRPr>
          </a:p>
        </p:txBody>
      </p:sp>
      <p:sp>
        <p:nvSpPr>
          <p:cNvPr id="6" name="Action Button: Go Back or Previous 5">
            <a:hlinkClick r:id="" action="ppaction://hlinkshowjump?jump=previousslide" highlightClick="1"/>
            <a:extLst>
              <a:ext uri="{FF2B5EF4-FFF2-40B4-BE49-F238E27FC236}">
                <a16:creationId xmlns:a16="http://schemas.microsoft.com/office/drawing/2014/main" xmlns="" id="{E1FD5126-3182-9142-6909-D7F182C6E87B}"/>
              </a:ext>
            </a:extLst>
          </p:cNvPr>
          <p:cNvSpPr/>
          <p:nvPr/>
        </p:nvSpPr>
        <p:spPr>
          <a:xfrm>
            <a:off x="8420100" y="6553200"/>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7" name="Action Button: Go Forward or Next 4">
            <a:hlinkClick r:id="" action="ppaction://hlinkshowjump?jump=nextslide" highlightClick="1"/>
            <a:extLst>
              <a:ext uri="{FF2B5EF4-FFF2-40B4-BE49-F238E27FC236}">
                <a16:creationId xmlns:a16="http://schemas.microsoft.com/office/drawing/2014/main" xmlns="" id="{41F05C50-36E8-6347-C018-9F522CB028E9}"/>
              </a:ext>
            </a:extLst>
          </p:cNvPr>
          <p:cNvSpPr/>
          <p:nvPr/>
        </p:nvSpPr>
        <p:spPr>
          <a:xfrm>
            <a:off x="9410700"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8"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6113244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3797300" cy="6858000"/>
          </a:xfrm>
          <a:prstGeom prst="rect">
            <a:avLst/>
          </a:prstGeom>
        </p:spPr>
      </p:pic>
      <p:sp>
        <p:nvSpPr>
          <p:cNvPr id="3" name="Text 0"/>
          <p:cNvSpPr/>
          <p:nvPr/>
        </p:nvSpPr>
        <p:spPr>
          <a:xfrm>
            <a:off x="4544896" y="381003"/>
            <a:ext cx="4158736" cy="590649"/>
          </a:xfrm>
          <a:prstGeom prst="rect">
            <a:avLst/>
          </a:prstGeom>
          <a:noFill/>
          <a:ln/>
        </p:spPr>
        <p:txBody>
          <a:bodyPr wrap="none" lIns="0" tIns="0" rIns="0" bIns="0" rtlCol="0" anchor="t"/>
          <a:lstStyle/>
          <a:p>
            <a:pPr>
              <a:lnSpc>
                <a:spcPts val="3654"/>
              </a:lnSpc>
            </a:pPr>
            <a:r>
              <a:rPr lang="en-US" sz="3400" b="1" dirty="0">
                <a:solidFill>
                  <a:srgbClr val="0070C0"/>
                </a:solidFill>
                <a:latin typeface="Times New Roman" pitchFamily="18" charset="0"/>
                <a:ea typeface="Fraunces Extra Bold" pitchFamily="34" charset="-122"/>
                <a:cs typeface="Times New Roman" pitchFamily="18" charset="0"/>
              </a:rPr>
              <a:t>Installing Terraform</a:t>
            </a:r>
            <a:endParaRPr lang="en-US" sz="3400" dirty="0">
              <a:solidFill>
                <a:srgbClr val="0070C0"/>
              </a:solidFill>
              <a:latin typeface="Times New Roman" pitchFamily="18" charset="0"/>
              <a:cs typeface="Times New Roman" pitchFamily="18" charset="0"/>
            </a:endParaRPr>
          </a:p>
        </p:txBody>
      </p:sp>
      <p:sp>
        <p:nvSpPr>
          <p:cNvPr id="4" name="Shape 1"/>
          <p:cNvSpPr/>
          <p:nvPr/>
        </p:nvSpPr>
        <p:spPr>
          <a:xfrm>
            <a:off x="4127502" y="1219202"/>
            <a:ext cx="2496764" cy="2438400"/>
          </a:xfrm>
          <a:prstGeom prst="roundRect">
            <a:avLst>
              <a:gd name="adj" fmla="val 10043"/>
            </a:avLst>
          </a:prstGeom>
          <a:solidFill>
            <a:srgbClr val="E8F3E8"/>
          </a:solidFill>
          <a:ln/>
        </p:spPr>
      </p:sp>
      <p:sp>
        <p:nvSpPr>
          <p:cNvPr id="5" name="Text 2"/>
          <p:cNvSpPr/>
          <p:nvPr/>
        </p:nvSpPr>
        <p:spPr>
          <a:xfrm>
            <a:off x="4292602" y="1371603"/>
            <a:ext cx="2873340" cy="1492648"/>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Windows</a:t>
            </a:r>
            <a:endParaRPr lang="en-US" sz="1400" dirty="0"/>
          </a:p>
        </p:txBody>
      </p:sp>
      <p:sp>
        <p:nvSpPr>
          <p:cNvPr id="6" name="Text 3"/>
          <p:cNvSpPr/>
          <p:nvPr/>
        </p:nvSpPr>
        <p:spPr>
          <a:xfrm>
            <a:off x="4292601" y="1980755"/>
            <a:ext cx="3020432" cy="1766988"/>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Download the Terraform </a:t>
            </a:r>
          </a:p>
          <a:p>
            <a:pPr>
              <a:lnSpc>
                <a:spcPts val="1877"/>
              </a:lnSpc>
            </a:pPr>
            <a:r>
              <a:rPr lang="en-US" sz="1300" dirty="0">
                <a:solidFill>
                  <a:srgbClr val="405449"/>
                </a:solidFill>
                <a:latin typeface="Nobile" pitchFamily="34" charset="0"/>
                <a:ea typeface="Nobile" pitchFamily="34" charset="-122"/>
                <a:cs typeface="Nobile" pitchFamily="34" charset="-120"/>
              </a:rPr>
              <a:t>binary. Add it to your </a:t>
            </a:r>
          </a:p>
          <a:p>
            <a:pPr>
              <a:lnSpc>
                <a:spcPts val="1877"/>
              </a:lnSpc>
            </a:pPr>
            <a:r>
              <a:rPr lang="en-US" sz="1300" dirty="0">
                <a:solidFill>
                  <a:srgbClr val="405449"/>
                </a:solidFill>
                <a:latin typeface="Nobile" pitchFamily="34" charset="0"/>
                <a:ea typeface="Nobile" pitchFamily="34" charset="-122"/>
                <a:cs typeface="Nobile" pitchFamily="34" charset="-120"/>
              </a:rPr>
              <a:t>system's PATH.</a:t>
            </a:r>
            <a:endParaRPr lang="en-US" sz="1300" dirty="0"/>
          </a:p>
        </p:txBody>
      </p:sp>
      <p:sp>
        <p:nvSpPr>
          <p:cNvPr id="7" name="Shape 4"/>
          <p:cNvSpPr/>
          <p:nvPr/>
        </p:nvSpPr>
        <p:spPr>
          <a:xfrm>
            <a:off x="6769101" y="1219202"/>
            <a:ext cx="2559050" cy="2438400"/>
          </a:xfrm>
          <a:prstGeom prst="roundRect">
            <a:avLst>
              <a:gd name="adj" fmla="val 10043"/>
            </a:avLst>
          </a:prstGeom>
          <a:solidFill>
            <a:srgbClr val="E8F3E8"/>
          </a:solidFill>
          <a:ln/>
        </p:spPr>
      </p:sp>
      <p:sp>
        <p:nvSpPr>
          <p:cNvPr id="8" name="Text 5"/>
          <p:cNvSpPr/>
          <p:nvPr/>
        </p:nvSpPr>
        <p:spPr>
          <a:xfrm>
            <a:off x="6934203" y="1371602"/>
            <a:ext cx="2866730" cy="1492647"/>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Linux</a:t>
            </a:r>
            <a:endParaRPr lang="en-US" sz="1400" dirty="0"/>
          </a:p>
        </p:txBody>
      </p:sp>
      <p:sp>
        <p:nvSpPr>
          <p:cNvPr id="9" name="Text 6"/>
          <p:cNvSpPr/>
          <p:nvPr/>
        </p:nvSpPr>
        <p:spPr>
          <a:xfrm>
            <a:off x="6934200" y="1905003"/>
            <a:ext cx="3013823" cy="1979912"/>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Use a package manager </a:t>
            </a:r>
          </a:p>
          <a:p>
            <a:pPr>
              <a:lnSpc>
                <a:spcPts val="1877"/>
              </a:lnSpc>
            </a:pPr>
            <a:r>
              <a:rPr lang="en-US" sz="1300" dirty="0">
                <a:solidFill>
                  <a:srgbClr val="405449"/>
                </a:solidFill>
                <a:latin typeface="Nobile" pitchFamily="34" charset="0"/>
                <a:ea typeface="Nobile" pitchFamily="34" charset="-122"/>
                <a:cs typeface="Nobile" pitchFamily="34" charset="-120"/>
              </a:rPr>
              <a:t>like apt or yum. Install the </a:t>
            </a:r>
            <a:endParaRPr lang="en-US" sz="1300" dirty="0" smtClean="0">
              <a:solidFill>
                <a:srgbClr val="405449"/>
              </a:solidFill>
              <a:latin typeface="Nobile" pitchFamily="34" charset="0"/>
              <a:ea typeface="Nobile" pitchFamily="34" charset="-122"/>
              <a:cs typeface="Nobile" pitchFamily="34" charset="-120"/>
            </a:endParaRPr>
          </a:p>
          <a:p>
            <a:pPr>
              <a:lnSpc>
                <a:spcPts val="1877"/>
              </a:lnSpc>
            </a:pPr>
            <a:r>
              <a:rPr lang="en-US" sz="1300" dirty="0" smtClean="0">
                <a:solidFill>
                  <a:srgbClr val="405449"/>
                </a:solidFill>
                <a:latin typeface="Nobile" pitchFamily="34" charset="0"/>
                <a:ea typeface="Nobile" pitchFamily="34" charset="-122"/>
                <a:cs typeface="Nobile" pitchFamily="34" charset="-120"/>
              </a:rPr>
              <a:t>Terraform </a:t>
            </a:r>
            <a:r>
              <a:rPr lang="en-US" sz="1300" dirty="0">
                <a:solidFill>
                  <a:srgbClr val="405449"/>
                </a:solidFill>
                <a:latin typeface="Nobile" pitchFamily="34" charset="0"/>
                <a:ea typeface="Nobile" pitchFamily="34" charset="-122"/>
                <a:cs typeface="Nobile" pitchFamily="34" charset="-120"/>
              </a:rPr>
              <a:t>package.</a:t>
            </a:r>
            <a:endParaRPr lang="en-US" sz="1300" dirty="0"/>
          </a:p>
        </p:txBody>
      </p:sp>
      <p:sp>
        <p:nvSpPr>
          <p:cNvPr id="10" name="Shape 7"/>
          <p:cNvSpPr/>
          <p:nvPr/>
        </p:nvSpPr>
        <p:spPr>
          <a:xfrm>
            <a:off x="4022111" y="3949750"/>
            <a:ext cx="4731813" cy="1299666"/>
          </a:xfrm>
          <a:prstGeom prst="roundRect">
            <a:avLst>
              <a:gd name="adj" fmla="val 15620"/>
            </a:avLst>
          </a:prstGeom>
          <a:solidFill>
            <a:srgbClr val="E8F3E8"/>
          </a:solidFill>
          <a:ln/>
        </p:spPr>
      </p:sp>
      <p:sp>
        <p:nvSpPr>
          <p:cNvPr id="11" name="Text 8"/>
          <p:cNvSpPr/>
          <p:nvPr/>
        </p:nvSpPr>
        <p:spPr>
          <a:xfrm>
            <a:off x="4292602" y="4038603"/>
            <a:ext cx="2873340" cy="708621"/>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Mac</a:t>
            </a:r>
            <a:endParaRPr lang="en-US" sz="1400" dirty="0"/>
          </a:p>
        </p:txBody>
      </p:sp>
      <p:sp>
        <p:nvSpPr>
          <p:cNvPr id="12" name="Text 9"/>
          <p:cNvSpPr/>
          <p:nvPr/>
        </p:nvSpPr>
        <p:spPr>
          <a:xfrm>
            <a:off x="4127502" y="4392914"/>
            <a:ext cx="4355934" cy="770138"/>
          </a:xfrm>
          <a:prstGeom prst="rect">
            <a:avLst/>
          </a:prstGeom>
          <a:noFill/>
          <a:ln/>
        </p:spPr>
        <p:txBody>
          <a:bodyPr wrap="non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Use Homebrew to install Terraform. </a:t>
            </a:r>
          </a:p>
          <a:p>
            <a:pPr>
              <a:lnSpc>
                <a:spcPts val="1877"/>
              </a:lnSpc>
            </a:pPr>
            <a:r>
              <a:rPr lang="en-US" sz="1300" dirty="0">
                <a:solidFill>
                  <a:srgbClr val="405449"/>
                </a:solidFill>
                <a:latin typeface="Nobile" pitchFamily="34" charset="0"/>
                <a:ea typeface="Nobile" pitchFamily="34" charset="-122"/>
                <a:cs typeface="Nobile" pitchFamily="34" charset="-120"/>
              </a:rPr>
              <a:t>Run </a:t>
            </a:r>
            <a:r>
              <a:rPr lang="en-US" sz="1300" b="1" dirty="0">
                <a:solidFill>
                  <a:srgbClr val="405449"/>
                </a:solidFill>
                <a:latin typeface="Nobile" pitchFamily="34" charset="0"/>
                <a:ea typeface="Nobile" pitchFamily="34" charset="-122"/>
                <a:cs typeface="Nobile" pitchFamily="34" charset="-120"/>
              </a:rPr>
              <a:t>brew install terraform</a:t>
            </a:r>
            <a:r>
              <a:rPr lang="en-US" sz="1300" dirty="0">
                <a:solidFill>
                  <a:srgbClr val="405449"/>
                </a:solidFill>
                <a:latin typeface="Nobile" pitchFamily="34" charset="0"/>
                <a:ea typeface="Nobile" pitchFamily="34" charset="-122"/>
                <a:cs typeface="Nobile" pitchFamily="34" charset="-120"/>
              </a:rPr>
              <a:t>.</a:t>
            </a:r>
            <a:endParaRPr lang="en-US" sz="1300" dirty="0"/>
          </a:p>
          <a:p>
            <a:pPr>
              <a:lnSpc>
                <a:spcPts val="1877"/>
              </a:lnSpc>
            </a:pPr>
            <a:endParaRPr lang="en-US" sz="1200" b="1" dirty="0">
              <a:solidFill>
                <a:srgbClr val="405449"/>
              </a:solidFill>
              <a:latin typeface="Nobile" pitchFamily="34" charset="0"/>
              <a:ea typeface="Nobile" pitchFamily="34" charset="-122"/>
              <a:cs typeface="Nobile" pitchFamily="34" charset="-120"/>
            </a:endParaRPr>
          </a:p>
        </p:txBody>
      </p:sp>
      <p:sp>
        <p:nvSpPr>
          <p:cNvPr id="14" name="Action Button: Go Forward or Next 13">
            <a:hlinkClick r:id="" action="ppaction://hlinkshowjump?jump=nextslide" highlightClick="1"/>
            <a:extLst>
              <a:ext uri="{FF2B5EF4-FFF2-40B4-BE49-F238E27FC236}">
                <a16:creationId xmlns:a16="http://schemas.microsoft.com/office/drawing/2014/main" xmlns="" id="{BEDCFC15-F02F-FBA4-B539-E28470A69BD9}"/>
              </a:ext>
            </a:extLst>
          </p:cNvPr>
          <p:cNvSpPr/>
          <p:nvPr/>
        </p:nvSpPr>
        <p:spPr>
          <a:xfrm>
            <a:off x="9381245" y="6552043"/>
            <a:ext cx="506307"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5" name="Action Button: Go Back or Previous 14">
            <a:hlinkClick r:id="" action="ppaction://hlinkshowjump?jump=previousslide" highlightClick="1"/>
            <a:extLst>
              <a:ext uri="{FF2B5EF4-FFF2-40B4-BE49-F238E27FC236}">
                <a16:creationId xmlns:a16="http://schemas.microsoft.com/office/drawing/2014/main" xmlns="" id="{9AE85952-3638-C221-CF58-8D11F8904E31}"/>
              </a:ext>
            </a:extLst>
          </p:cNvPr>
          <p:cNvSpPr/>
          <p:nvPr/>
        </p:nvSpPr>
        <p:spPr>
          <a:xfrm>
            <a:off x="8409094" y="6552043"/>
            <a:ext cx="506307"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Home 5">
            <a:hlinkClick r:id="rId3"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832983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2"/>
          <a:stretch>
            <a:fillRect/>
          </a:stretch>
        </p:blipFill>
        <p:spPr>
          <a:xfrm>
            <a:off x="0" y="2"/>
            <a:ext cx="9906000" cy="2362696"/>
          </a:xfrm>
          <a:prstGeom prst="rect">
            <a:avLst/>
          </a:prstGeom>
        </p:spPr>
      </p:pic>
      <p:sp>
        <p:nvSpPr>
          <p:cNvPr id="5" name="Text 0"/>
          <p:cNvSpPr/>
          <p:nvPr/>
        </p:nvSpPr>
        <p:spPr>
          <a:xfrm>
            <a:off x="2124483" y="2590803"/>
            <a:ext cx="3839462"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First Configuration</a:t>
            </a:r>
            <a:endParaRPr lang="en-US" sz="2900" dirty="0">
              <a:solidFill>
                <a:srgbClr val="0070C0"/>
              </a:solidFill>
            </a:endParaRPr>
          </a:p>
        </p:txBody>
      </p:sp>
      <p:pic>
        <p:nvPicPr>
          <p:cNvPr id="6" name="Image 1" descr="preencoded.png"/>
          <p:cNvPicPr>
            <a:picLocks noChangeAspect="1"/>
          </p:cNvPicPr>
          <p:nvPr/>
        </p:nvPicPr>
        <p:blipFill>
          <a:blip r:embed="rId3"/>
          <a:stretch>
            <a:fillRect/>
          </a:stretch>
        </p:blipFill>
        <p:spPr>
          <a:xfrm>
            <a:off x="2951634" y="3782535"/>
            <a:ext cx="383890" cy="472480"/>
          </a:xfrm>
          <a:prstGeom prst="rect">
            <a:avLst/>
          </a:prstGeom>
        </p:spPr>
      </p:pic>
      <p:sp>
        <p:nvSpPr>
          <p:cNvPr id="7" name="Text 1"/>
          <p:cNvSpPr/>
          <p:nvPr/>
        </p:nvSpPr>
        <p:spPr>
          <a:xfrm>
            <a:off x="2536498" y="4543426"/>
            <a:ext cx="1343735" cy="381000"/>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Create a File</a:t>
            </a:r>
            <a:endParaRPr lang="en-US" sz="1400" dirty="0"/>
          </a:p>
        </p:txBody>
      </p:sp>
      <p:sp>
        <p:nvSpPr>
          <p:cNvPr id="8" name="Text 2"/>
          <p:cNvSpPr/>
          <p:nvPr/>
        </p:nvSpPr>
        <p:spPr>
          <a:xfrm>
            <a:off x="2398803" y="5140785"/>
            <a:ext cx="1481431" cy="563465"/>
          </a:xfrm>
          <a:prstGeom prst="rect">
            <a:avLst/>
          </a:prstGeom>
          <a:noFill/>
          <a:ln/>
        </p:spPr>
        <p:txBody>
          <a:bodyPr wrap="non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Create a file named</a:t>
            </a:r>
          </a:p>
          <a:p>
            <a:pPr>
              <a:lnSpc>
                <a:spcPts val="1877"/>
              </a:lnSpc>
            </a:pPr>
            <a:r>
              <a:rPr lang="en-US" sz="1300" dirty="0">
                <a:solidFill>
                  <a:srgbClr val="405449"/>
                </a:solidFill>
                <a:latin typeface="Nobile" pitchFamily="34" charset="0"/>
                <a:ea typeface="Nobile" pitchFamily="34" charset="-122"/>
                <a:cs typeface="Nobile" pitchFamily="34" charset="-120"/>
              </a:rPr>
              <a:t> </a:t>
            </a:r>
            <a:r>
              <a:rPr lang="en-US" sz="1300" b="1" dirty="0">
                <a:solidFill>
                  <a:srgbClr val="405449"/>
                </a:solidFill>
                <a:latin typeface="Nobile" pitchFamily="34" charset="0"/>
                <a:ea typeface="Nobile" pitchFamily="34" charset="-122"/>
                <a:cs typeface="Nobile" pitchFamily="34" charset="-120"/>
              </a:rPr>
              <a:t>main.tf</a:t>
            </a:r>
            <a:r>
              <a:rPr lang="en-US" sz="1300" dirty="0">
                <a:solidFill>
                  <a:srgbClr val="405449"/>
                </a:solidFill>
                <a:latin typeface="Nobile" pitchFamily="34" charset="0"/>
                <a:ea typeface="Nobile" pitchFamily="34" charset="-122"/>
                <a:cs typeface="Nobile" pitchFamily="34" charset="-120"/>
              </a:rPr>
              <a:t>.</a:t>
            </a:r>
            <a:endParaRPr lang="en-US" sz="1300" dirty="0"/>
          </a:p>
        </p:txBody>
      </p:sp>
      <p:pic>
        <p:nvPicPr>
          <p:cNvPr id="9" name="Image 2" descr="preencoded.png"/>
          <p:cNvPicPr>
            <a:picLocks noChangeAspect="1"/>
          </p:cNvPicPr>
          <p:nvPr/>
        </p:nvPicPr>
        <p:blipFill>
          <a:blip r:embed="rId4"/>
          <a:stretch>
            <a:fillRect/>
          </a:stretch>
        </p:blipFill>
        <p:spPr>
          <a:xfrm>
            <a:off x="5580053" y="3787935"/>
            <a:ext cx="383890" cy="472480"/>
          </a:xfrm>
          <a:prstGeom prst="rect">
            <a:avLst/>
          </a:prstGeom>
        </p:spPr>
      </p:pic>
      <p:sp>
        <p:nvSpPr>
          <p:cNvPr id="10" name="Text 3"/>
          <p:cNvSpPr/>
          <p:nvPr/>
        </p:nvSpPr>
        <p:spPr>
          <a:xfrm>
            <a:off x="4654687" y="4504872"/>
            <a:ext cx="2114486" cy="380999"/>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Write Configuration</a:t>
            </a:r>
            <a:endParaRPr lang="en-US" sz="1400" dirty="0"/>
          </a:p>
        </p:txBody>
      </p:sp>
      <p:sp>
        <p:nvSpPr>
          <p:cNvPr id="11" name="Text 4"/>
          <p:cNvSpPr/>
          <p:nvPr/>
        </p:nvSpPr>
        <p:spPr>
          <a:xfrm>
            <a:off x="4654687" y="5140782"/>
            <a:ext cx="2114486" cy="604838"/>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Define a resource. </a:t>
            </a:r>
          </a:p>
          <a:p>
            <a:pPr>
              <a:lnSpc>
                <a:spcPts val="1877"/>
              </a:lnSpc>
            </a:pPr>
            <a:r>
              <a:rPr lang="en-US" sz="1300" dirty="0">
                <a:solidFill>
                  <a:srgbClr val="405449"/>
                </a:solidFill>
                <a:latin typeface="Nobile" pitchFamily="34" charset="0"/>
                <a:ea typeface="Nobile" pitchFamily="34" charset="-122"/>
                <a:cs typeface="Nobile" pitchFamily="34" charset="-120"/>
              </a:rPr>
              <a:t>Example: AWS EC2 instance.</a:t>
            </a:r>
            <a:endParaRPr lang="en-US" sz="1300" dirty="0"/>
          </a:p>
        </p:txBody>
      </p:sp>
      <p:pic>
        <p:nvPicPr>
          <p:cNvPr id="12" name="Image 3" descr="preencoded.png"/>
          <p:cNvPicPr>
            <a:picLocks noChangeAspect="1"/>
          </p:cNvPicPr>
          <p:nvPr/>
        </p:nvPicPr>
        <p:blipFill>
          <a:blip r:embed="rId5"/>
          <a:stretch>
            <a:fillRect/>
          </a:stretch>
        </p:blipFill>
        <p:spPr>
          <a:xfrm>
            <a:off x="7759701" y="3807848"/>
            <a:ext cx="383890" cy="472480"/>
          </a:xfrm>
          <a:prstGeom prst="rect">
            <a:avLst/>
          </a:prstGeom>
        </p:spPr>
      </p:pic>
      <p:sp>
        <p:nvSpPr>
          <p:cNvPr id="13" name="Text 5"/>
          <p:cNvSpPr/>
          <p:nvPr/>
        </p:nvSpPr>
        <p:spPr>
          <a:xfrm>
            <a:off x="7487221" y="4543427"/>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Apply</a:t>
            </a:r>
            <a:endParaRPr lang="en-US" sz="1400" dirty="0"/>
          </a:p>
        </p:txBody>
      </p:sp>
      <p:sp>
        <p:nvSpPr>
          <p:cNvPr id="14" name="Text 6"/>
          <p:cNvSpPr/>
          <p:nvPr/>
        </p:nvSpPr>
        <p:spPr>
          <a:xfrm>
            <a:off x="7487223" y="5086919"/>
            <a:ext cx="2171129" cy="604838"/>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Run </a:t>
            </a:r>
            <a:r>
              <a:rPr lang="en-US" sz="1300" b="1" dirty="0">
                <a:solidFill>
                  <a:srgbClr val="405449"/>
                </a:solidFill>
                <a:latin typeface="Nobile" pitchFamily="34" charset="0"/>
                <a:ea typeface="Nobile" pitchFamily="34" charset="-122"/>
                <a:cs typeface="Nobile" pitchFamily="34" charset="-120"/>
              </a:rPr>
              <a:t>terraform apply</a:t>
            </a:r>
            <a:r>
              <a:rPr lang="en-US" sz="1300" dirty="0">
                <a:solidFill>
                  <a:srgbClr val="405449"/>
                </a:solidFill>
                <a:latin typeface="Nobile" pitchFamily="34" charset="0"/>
                <a:ea typeface="Nobile" pitchFamily="34" charset="-122"/>
                <a:cs typeface="Nobile" pitchFamily="34" charset="-120"/>
              </a:rPr>
              <a:t> to </a:t>
            </a:r>
          </a:p>
          <a:p>
            <a:pPr>
              <a:lnSpc>
                <a:spcPts val="1877"/>
              </a:lnSpc>
            </a:pPr>
            <a:r>
              <a:rPr lang="en-US" sz="1300" dirty="0">
                <a:solidFill>
                  <a:srgbClr val="405449"/>
                </a:solidFill>
                <a:latin typeface="Nobile" pitchFamily="34" charset="0"/>
                <a:ea typeface="Nobile" pitchFamily="34" charset="-122"/>
                <a:cs typeface="Nobile" pitchFamily="34" charset="-120"/>
              </a:rPr>
              <a:t>provision infrastructure.</a:t>
            </a:r>
            <a:endParaRPr lang="en-US" sz="1300" dirty="0"/>
          </a:p>
        </p:txBody>
      </p:sp>
      <p:sp>
        <p:nvSpPr>
          <p:cNvPr id="16" name="Action Button: Go Forward or Next 13">
            <a:hlinkClick r:id="" action="ppaction://hlinkshowjump?jump=nextslide" highlightClick="1"/>
            <a:extLst>
              <a:ext uri="{FF2B5EF4-FFF2-40B4-BE49-F238E27FC236}">
                <a16:creationId xmlns:a16="http://schemas.microsoft.com/office/drawing/2014/main" xmlns="" id="{ED451E0E-0644-66B6-D383-7DA2D29F85A3}"/>
              </a:ext>
            </a:extLst>
          </p:cNvPr>
          <p:cNvSpPr/>
          <p:nvPr/>
        </p:nvSpPr>
        <p:spPr>
          <a:xfrm>
            <a:off x="9410702" y="6553200"/>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Back or Previous 14">
            <a:hlinkClick r:id="" action="ppaction://hlinkshowjump?jump=previousslide" highlightClick="1"/>
            <a:extLst>
              <a:ext uri="{FF2B5EF4-FFF2-40B4-BE49-F238E27FC236}">
                <a16:creationId xmlns:a16="http://schemas.microsoft.com/office/drawing/2014/main" xmlns="" id="{48D46899-F1A0-53B5-DEA9-95E228B82746}"/>
              </a:ext>
            </a:extLst>
          </p:cNvPr>
          <p:cNvSpPr/>
          <p:nvPr/>
        </p:nvSpPr>
        <p:spPr>
          <a:xfrm>
            <a:off x="8447066" y="6544494"/>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9" name="Action Button: Go Home 5">
            <a:hlinkClick r:id="rId6"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452644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4686" y="600075"/>
            <a:ext cx="8831078" cy="1181298"/>
          </a:xfrm>
          <a:prstGeom prst="rect">
            <a:avLst/>
          </a:prstGeom>
          <a:noFill/>
          <a:ln/>
        </p:spPr>
        <p:txBody>
          <a:bodyPr wrap="square" lIns="0" tIns="0" rIns="0" bIns="0" rtlCol="0" anchor="t"/>
          <a:lstStyle/>
          <a:p>
            <a:pPr>
              <a:lnSpc>
                <a:spcPts val="3654"/>
              </a:lnSpc>
            </a:pPr>
            <a:r>
              <a:rPr lang="en-US" sz="4500" dirty="0">
                <a:solidFill>
                  <a:srgbClr val="0070C0"/>
                </a:solidFill>
                <a:latin typeface="Times New Roman" pitchFamily="18" charset="0"/>
                <a:cs typeface="Times New Roman" pitchFamily="18" charset="0"/>
              </a:rPr>
              <a:t>Terraform Architecture</a:t>
            </a:r>
          </a:p>
          <a:p>
            <a:pPr>
              <a:lnSpc>
                <a:spcPts val="3654"/>
              </a:lnSpc>
            </a:pPr>
            <a:endParaRPr lang="en-US" sz="2900" dirty="0"/>
          </a:p>
          <a:p>
            <a:pPr>
              <a:lnSpc>
                <a:spcPts val="3654"/>
              </a:lnSpc>
            </a:pPr>
            <a:endParaRPr lang="en-US" sz="2900" dirty="0"/>
          </a:p>
        </p:txBody>
      </p:sp>
      <p:sp>
        <p:nvSpPr>
          <p:cNvPr id="3" name="Text 1"/>
          <p:cNvSpPr/>
          <p:nvPr/>
        </p:nvSpPr>
        <p:spPr>
          <a:xfrm>
            <a:off x="414686" y="1781376"/>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Providers</a:t>
            </a:r>
            <a:endParaRPr lang="en-US" sz="1400" dirty="0"/>
          </a:p>
        </p:txBody>
      </p:sp>
      <p:sp>
        <p:nvSpPr>
          <p:cNvPr id="4" name="Text 2"/>
          <p:cNvSpPr/>
          <p:nvPr/>
        </p:nvSpPr>
        <p:spPr>
          <a:xfrm>
            <a:off x="414686" y="2287787"/>
            <a:ext cx="2693518" cy="907257"/>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Providers interact with cloud platforms. Examples include AWS, Azure, and Google Cloud.</a:t>
            </a:r>
            <a:endParaRPr lang="en-US" sz="1300" dirty="0"/>
          </a:p>
        </p:txBody>
      </p:sp>
      <p:sp>
        <p:nvSpPr>
          <p:cNvPr id="6" name="Shape 4"/>
          <p:cNvSpPr/>
          <p:nvPr/>
        </p:nvSpPr>
        <p:spPr>
          <a:xfrm>
            <a:off x="363480" y="3746450"/>
            <a:ext cx="2708833" cy="888207"/>
          </a:xfrm>
          <a:prstGeom prst="roundRect">
            <a:avLst>
              <a:gd name="adj" fmla="val 3192"/>
            </a:avLst>
          </a:prstGeom>
          <a:solidFill>
            <a:srgbClr val="DDEEE0"/>
          </a:solidFill>
          <a:ln/>
        </p:spPr>
      </p:sp>
      <p:sp>
        <p:nvSpPr>
          <p:cNvPr id="7" name="Text 5"/>
          <p:cNvSpPr/>
          <p:nvPr/>
        </p:nvSpPr>
        <p:spPr>
          <a:xfrm>
            <a:off x="517050" y="3852860"/>
            <a:ext cx="2401690" cy="604838"/>
          </a:xfrm>
          <a:prstGeom prst="rect">
            <a:avLst/>
          </a:prstGeom>
          <a:noFill/>
          <a:ln/>
        </p:spPr>
        <p:txBody>
          <a:bodyPr wrap="square" lIns="0" tIns="0" rIns="0" bIns="0" rtlCol="0" anchor="t"/>
          <a:lstStyle/>
          <a:p>
            <a:pPr>
              <a:lnSpc>
                <a:spcPts val="1877"/>
              </a:lnSpc>
            </a:pPr>
            <a:r>
              <a:rPr lang="en-US" sz="1200" dirty="0">
                <a:solidFill>
                  <a:srgbClr val="405449"/>
                </a:solidFill>
                <a:highlight>
                  <a:srgbClr val="DDEEE0"/>
                </a:highlight>
                <a:latin typeface="Consolas" pitchFamily="34" charset="0"/>
                <a:ea typeface="Consolas" pitchFamily="34" charset="-122"/>
                <a:cs typeface="Consolas" pitchFamily="34" charset="-120"/>
              </a:rPr>
              <a:t>provider "aws" { region = "us-west-2" }</a:t>
            </a:r>
            <a:endParaRPr lang="en-US" sz="1200" dirty="0"/>
          </a:p>
        </p:txBody>
      </p:sp>
      <p:sp>
        <p:nvSpPr>
          <p:cNvPr id="8" name="Text 6"/>
          <p:cNvSpPr/>
          <p:nvPr/>
        </p:nvSpPr>
        <p:spPr>
          <a:xfrm>
            <a:off x="3596310" y="1781376"/>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Resources</a:t>
            </a:r>
            <a:endParaRPr lang="en-US" sz="1400" dirty="0"/>
          </a:p>
        </p:txBody>
      </p:sp>
      <p:sp>
        <p:nvSpPr>
          <p:cNvPr id="9" name="Text 7"/>
          <p:cNvSpPr/>
          <p:nvPr/>
        </p:nvSpPr>
        <p:spPr>
          <a:xfrm>
            <a:off x="3596309" y="2287789"/>
            <a:ext cx="2693518" cy="1209675"/>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A resource is a component of infrastructure. Virtual machines, databases, and networks are examples.</a:t>
            </a:r>
            <a:endParaRPr lang="en-US" sz="1300" dirty="0"/>
          </a:p>
        </p:txBody>
      </p:sp>
      <p:sp>
        <p:nvSpPr>
          <p:cNvPr id="10" name="Shape 8"/>
          <p:cNvSpPr/>
          <p:nvPr/>
        </p:nvSpPr>
        <p:spPr>
          <a:xfrm>
            <a:off x="3389305" y="3746450"/>
            <a:ext cx="2693518" cy="888207"/>
          </a:xfrm>
          <a:prstGeom prst="roundRect">
            <a:avLst>
              <a:gd name="adj" fmla="val 19153"/>
            </a:avLst>
          </a:prstGeom>
          <a:solidFill>
            <a:srgbClr val="DDEEE0"/>
          </a:solidFill>
          <a:ln/>
        </p:spPr>
      </p:sp>
      <p:sp>
        <p:nvSpPr>
          <p:cNvPr id="12" name="Text 10"/>
          <p:cNvSpPr/>
          <p:nvPr/>
        </p:nvSpPr>
        <p:spPr>
          <a:xfrm>
            <a:off x="3535220" y="3855975"/>
            <a:ext cx="2401690" cy="604838"/>
          </a:xfrm>
          <a:prstGeom prst="rect">
            <a:avLst/>
          </a:prstGeom>
          <a:noFill/>
          <a:ln/>
        </p:spPr>
        <p:txBody>
          <a:bodyPr wrap="square" lIns="0" tIns="0" rIns="0" bIns="0" rtlCol="0" anchor="t"/>
          <a:lstStyle/>
          <a:p>
            <a:pPr>
              <a:lnSpc>
                <a:spcPts val="1877"/>
              </a:lnSpc>
            </a:pPr>
            <a:r>
              <a:rPr lang="en-US" sz="1200" dirty="0">
                <a:solidFill>
                  <a:srgbClr val="405449"/>
                </a:solidFill>
                <a:highlight>
                  <a:srgbClr val="DDEEE0"/>
                </a:highlight>
                <a:latin typeface="Consolas" pitchFamily="34" charset="0"/>
                <a:ea typeface="Consolas" pitchFamily="34" charset="-122"/>
                <a:cs typeface="Consolas" pitchFamily="34" charset="-120"/>
              </a:rPr>
              <a:t>resource "aws_instance" "example" { ... }</a:t>
            </a:r>
            <a:endParaRPr lang="en-US" sz="1200" dirty="0"/>
          </a:p>
        </p:txBody>
      </p:sp>
      <p:sp>
        <p:nvSpPr>
          <p:cNvPr id="13" name="Text 11"/>
          <p:cNvSpPr/>
          <p:nvPr/>
        </p:nvSpPr>
        <p:spPr>
          <a:xfrm>
            <a:off x="6973618" y="1781375"/>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State</a:t>
            </a:r>
            <a:endParaRPr lang="en-US" sz="1400" dirty="0"/>
          </a:p>
        </p:txBody>
      </p:sp>
      <p:sp>
        <p:nvSpPr>
          <p:cNvPr id="14" name="Text 12"/>
          <p:cNvSpPr/>
          <p:nvPr/>
        </p:nvSpPr>
        <p:spPr>
          <a:xfrm>
            <a:off x="6637207" y="2287786"/>
            <a:ext cx="2693518" cy="3008138"/>
          </a:xfrm>
          <a:prstGeom prst="rect">
            <a:avLst/>
          </a:prstGeom>
          <a:noFill/>
          <a:ln/>
        </p:spPr>
        <p:txBody>
          <a:bodyPr wrap="square" lIns="0" tIns="0" rIns="0" bIns="0" rtlCol="0" anchor="t"/>
          <a:lstStyle/>
          <a:p>
            <a:pPr>
              <a:lnSpc>
                <a:spcPts val="1877"/>
              </a:lnSpc>
            </a:pPr>
            <a:r>
              <a:rPr lang="en-US" sz="1300" dirty="0">
                <a:solidFill>
                  <a:srgbClr val="405449"/>
                </a:solidFill>
                <a:latin typeface="Nobile" pitchFamily="34" charset="0"/>
                <a:ea typeface="Nobile" pitchFamily="34" charset="-122"/>
                <a:cs typeface="Nobile" pitchFamily="34" charset="-120"/>
              </a:rPr>
              <a:t>Terraform state(</a:t>
            </a:r>
            <a:r>
              <a:rPr lang="en-US" sz="1300" b="1" dirty="0">
                <a:solidFill>
                  <a:srgbClr val="405449"/>
                </a:solidFill>
                <a:latin typeface="Nobile" pitchFamily="34" charset="0"/>
                <a:ea typeface="Nobile" pitchFamily="34" charset="-122"/>
                <a:cs typeface="Nobile" pitchFamily="34" charset="-120"/>
              </a:rPr>
              <a:t>terraform.tfstate</a:t>
            </a:r>
            <a:r>
              <a:rPr lang="en-US" sz="1300" dirty="0">
                <a:solidFill>
                  <a:srgbClr val="405449"/>
                </a:solidFill>
                <a:latin typeface="Nobile" pitchFamily="34" charset="0"/>
                <a:ea typeface="Nobile" pitchFamily="34" charset="-122"/>
                <a:cs typeface="Nobile" pitchFamily="34" charset="-120"/>
              </a:rPr>
              <a:t>) tracks your infrastructure current status. Remote state is recommended for collaboration.</a:t>
            </a:r>
          </a:p>
          <a:p>
            <a:pPr>
              <a:lnSpc>
                <a:spcPts val="1877"/>
              </a:lnSpc>
            </a:pPr>
            <a:endParaRPr lang="en-US" sz="1300" dirty="0">
              <a:solidFill>
                <a:srgbClr val="405449"/>
              </a:solidFill>
              <a:latin typeface="Nobile" pitchFamily="34" charset="0"/>
              <a:ea typeface="Nobile" pitchFamily="34" charset="-122"/>
            </a:endParaRPr>
          </a:p>
          <a:p>
            <a:pPr>
              <a:lnSpc>
                <a:spcPts val="1877"/>
              </a:lnSpc>
            </a:pPr>
            <a:r>
              <a:rPr lang="en-US" sz="1300" dirty="0">
                <a:solidFill>
                  <a:srgbClr val="405449"/>
                </a:solidFill>
                <a:latin typeface="Nobile" pitchFamily="34" charset="0"/>
                <a:ea typeface="Nobile" pitchFamily="34" charset="-122"/>
              </a:rPr>
              <a:t>This state file can be stored locally or remotely , with remote storage options enabling collaboration by sharing the state across teams and environments. </a:t>
            </a:r>
          </a:p>
          <a:p>
            <a:pPr>
              <a:lnSpc>
                <a:spcPts val="1877"/>
              </a:lnSpc>
            </a:pPr>
            <a:endParaRPr lang="en-US" sz="1300" dirty="0"/>
          </a:p>
        </p:txBody>
      </p:sp>
      <p:sp>
        <p:nvSpPr>
          <p:cNvPr id="16" name="Action Button: Go Forward or Next 15">
            <a:hlinkClick r:id="" action="ppaction://hlinkshowjump?jump=nextslide" highlightClick="1"/>
            <a:extLst>
              <a:ext uri="{FF2B5EF4-FFF2-40B4-BE49-F238E27FC236}">
                <a16:creationId xmlns="" xmlns:a16="http://schemas.microsoft.com/office/drawing/2014/main" id="{161A2564-C67C-5CE8-315B-98DA4E33ED29}"/>
              </a:ext>
            </a:extLst>
          </p:cNvPr>
          <p:cNvSpPr/>
          <p:nvPr/>
        </p:nvSpPr>
        <p:spPr>
          <a:xfrm>
            <a:off x="9390812" y="6539384"/>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Back or Previous 16">
            <a:hlinkClick r:id="" action="ppaction://hlinkshowjump?jump=previousslide" highlightClick="1"/>
            <a:extLst>
              <a:ext uri="{FF2B5EF4-FFF2-40B4-BE49-F238E27FC236}">
                <a16:creationId xmlns="" xmlns:a16="http://schemas.microsoft.com/office/drawing/2014/main" id="{E7242FDC-EFD2-5827-A94D-5446B7D49C2F}"/>
              </a:ext>
            </a:extLst>
          </p:cNvPr>
          <p:cNvSpPr/>
          <p:nvPr/>
        </p:nvSpPr>
        <p:spPr>
          <a:xfrm>
            <a:off x="8372431" y="6539384"/>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9"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877405" y="6539384"/>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058288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4601" y="304803"/>
            <a:ext cx="5304079"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Terraform Language (HCL)</a:t>
            </a:r>
            <a:endParaRPr lang="en-US" sz="2900" dirty="0">
              <a:solidFill>
                <a:srgbClr val="0070C0"/>
              </a:solidFill>
            </a:endParaRPr>
          </a:p>
        </p:txBody>
      </p:sp>
      <p:pic>
        <p:nvPicPr>
          <p:cNvPr id="3" name="Image 0" descr="preencoded.png"/>
          <p:cNvPicPr>
            <a:picLocks noChangeAspect="1"/>
          </p:cNvPicPr>
          <p:nvPr/>
        </p:nvPicPr>
        <p:blipFill>
          <a:blip r:embed="rId2"/>
          <a:stretch>
            <a:fillRect/>
          </a:stretch>
        </p:blipFill>
        <p:spPr>
          <a:xfrm>
            <a:off x="1027660" y="855087"/>
            <a:ext cx="698055" cy="1030973"/>
          </a:xfrm>
          <a:prstGeom prst="rect">
            <a:avLst/>
          </a:prstGeom>
        </p:spPr>
      </p:pic>
      <p:sp>
        <p:nvSpPr>
          <p:cNvPr id="4" name="Text 1"/>
          <p:cNvSpPr/>
          <p:nvPr/>
        </p:nvSpPr>
        <p:spPr>
          <a:xfrm>
            <a:off x="1794746" y="1009735"/>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Declarative</a:t>
            </a:r>
            <a:endParaRPr lang="en-US" sz="1400" dirty="0"/>
          </a:p>
        </p:txBody>
      </p:sp>
      <p:sp>
        <p:nvSpPr>
          <p:cNvPr id="5" name="Text 2"/>
          <p:cNvSpPr/>
          <p:nvPr/>
        </p:nvSpPr>
        <p:spPr>
          <a:xfrm>
            <a:off x="1823049" y="1308983"/>
            <a:ext cx="7832898"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Describe the desired end </a:t>
            </a:r>
            <a:r>
              <a:rPr lang="en-US" sz="1200" dirty="0" smtClean="0">
                <a:solidFill>
                  <a:srgbClr val="405449"/>
                </a:solidFill>
                <a:latin typeface="Nobile" pitchFamily="34" charset="0"/>
                <a:ea typeface="Nobile" pitchFamily="34" charset="-122"/>
                <a:cs typeface="Nobile" pitchFamily="34" charset="-120"/>
              </a:rPr>
              <a:t> state</a:t>
            </a:r>
            <a:r>
              <a:rPr lang="en-US" sz="1200" dirty="0">
                <a:solidFill>
                  <a:srgbClr val="405449"/>
                </a:solidFill>
                <a:latin typeface="Nobile" pitchFamily="34" charset="0"/>
                <a:ea typeface="Nobile" pitchFamily="34" charset="-122"/>
                <a:cs typeface="Nobile" pitchFamily="34" charset="-120"/>
              </a:rPr>
              <a:t>. Terraform  figures out how to achieve it.</a:t>
            </a:r>
            <a:endParaRPr lang="en-US" sz="1200" dirty="0"/>
          </a:p>
        </p:txBody>
      </p:sp>
      <p:pic>
        <p:nvPicPr>
          <p:cNvPr id="6" name="Image 1" descr="preencoded.png"/>
          <p:cNvPicPr>
            <a:picLocks noChangeAspect="1"/>
          </p:cNvPicPr>
          <p:nvPr/>
        </p:nvPicPr>
        <p:blipFill>
          <a:blip r:embed="rId3"/>
          <a:stretch>
            <a:fillRect/>
          </a:stretch>
        </p:blipFill>
        <p:spPr>
          <a:xfrm>
            <a:off x="1027660" y="1841953"/>
            <a:ext cx="698055" cy="1030973"/>
          </a:xfrm>
          <a:prstGeom prst="rect">
            <a:avLst/>
          </a:prstGeom>
        </p:spPr>
      </p:pic>
      <p:sp>
        <p:nvSpPr>
          <p:cNvPr id="7" name="Text 3"/>
          <p:cNvSpPr/>
          <p:nvPr/>
        </p:nvSpPr>
        <p:spPr>
          <a:xfrm>
            <a:off x="1794746" y="1928948"/>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 Configuration Files</a:t>
            </a:r>
            <a:endParaRPr lang="en-US" sz="1400" dirty="0"/>
          </a:p>
        </p:txBody>
      </p:sp>
      <p:sp>
        <p:nvSpPr>
          <p:cNvPr id="8" name="Text 4"/>
          <p:cNvSpPr/>
          <p:nvPr/>
        </p:nvSpPr>
        <p:spPr>
          <a:xfrm>
            <a:off x="1825453" y="2231311"/>
            <a:ext cx="7832898"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 Written in HashiCorp Configuration Language (HCL). Easy to read and write.</a:t>
            </a:r>
            <a:endParaRPr lang="en-US" sz="1200" dirty="0"/>
          </a:p>
        </p:txBody>
      </p:sp>
      <p:pic>
        <p:nvPicPr>
          <p:cNvPr id="9" name="Image 2" descr="preencoded.png"/>
          <p:cNvPicPr>
            <a:picLocks noChangeAspect="1"/>
          </p:cNvPicPr>
          <p:nvPr/>
        </p:nvPicPr>
        <p:blipFill>
          <a:blip r:embed="rId4"/>
          <a:stretch>
            <a:fillRect/>
          </a:stretch>
        </p:blipFill>
        <p:spPr>
          <a:xfrm>
            <a:off x="1062122" y="2776421"/>
            <a:ext cx="698055" cy="1030973"/>
          </a:xfrm>
          <a:prstGeom prst="rect">
            <a:avLst/>
          </a:prstGeom>
        </p:spPr>
      </p:pic>
      <p:sp>
        <p:nvSpPr>
          <p:cNvPr id="10" name="Text 5"/>
          <p:cNvSpPr/>
          <p:nvPr/>
        </p:nvSpPr>
        <p:spPr>
          <a:xfrm>
            <a:off x="1825453" y="2875058"/>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 Resources</a:t>
            </a:r>
            <a:endParaRPr lang="en-US" sz="1400" dirty="0"/>
          </a:p>
        </p:txBody>
      </p:sp>
      <p:sp>
        <p:nvSpPr>
          <p:cNvPr id="11" name="Text 6"/>
          <p:cNvSpPr/>
          <p:nvPr/>
        </p:nvSpPr>
        <p:spPr>
          <a:xfrm>
            <a:off x="1840906" y="3159421"/>
            <a:ext cx="7832898"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  Represent infrastructure components. Examples: servers, networks, databases.</a:t>
            </a:r>
            <a:endParaRPr lang="en-US" sz="1200" dirty="0"/>
          </a:p>
        </p:txBody>
      </p:sp>
      <p:sp>
        <p:nvSpPr>
          <p:cNvPr id="13" name="Action Button: Go Forward or Next 12">
            <a:hlinkClick r:id="" action="ppaction://hlinkshowjump?jump=nextslide" highlightClick="1"/>
            <a:extLst>
              <a:ext uri="{FF2B5EF4-FFF2-40B4-BE49-F238E27FC236}">
                <a16:creationId xmlns="" xmlns:a16="http://schemas.microsoft.com/office/drawing/2014/main" id="{C2BD7B0D-3549-BE8F-9C27-08F9C9155BCE}"/>
              </a:ext>
            </a:extLst>
          </p:cNvPr>
          <p:cNvSpPr/>
          <p:nvPr/>
        </p:nvSpPr>
        <p:spPr>
          <a:xfrm>
            <a:off x="9410700" y="65491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4" name="Action Button: Go Back or Previous 13">
            <a:hlinkClick r:id="" action="ppaction://hlinkshowjump?jump=previousslide" highlightClick="1"/>
            <a:extLst>
              <a:ext uri="{FF2B5EF4-FFF2-40B4-BE49-F238E27FC236}">
                <a16:creationId xmlns="" xmlns:a16="http://schemas.microsoft.com/office/drawing/2014/main" id="{B6ADD68E-3AB4-1567-030C-FF1051D7A076}"/>
              </a:ext>
            </a:extLst>
          </p:cNvPr>
          <p:cNvSpPr/>
          <p:nvPr/>
        </p:nvSpPr>
        <p:spPr>
          <a:xfrm>
            <a:off x="8424751"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6" name="Action Button: Go Home 5">
            <a:hlinkClick r:id="rId5"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pic>
        <p:nvPicPr>
          <p:cNvPr id="20" name="Image 5" descr="preencoded.png"/>
          <p:cNvPicPr>
            <a:picLocks noChangeAspect="1"/>
          </p:cNvPicPr>
          <p:nvPr/>
        </p:nvPicPr>
        <p:blipFill>
          <a:blip r:embed="rId6"/>
          <a:stretch>
            <a:fillRect/>
          </a:stretch>
        </p:blipFill>
        <p:spPr>
          <a:xfrm>
            <a:off x="1027662" y="3734648"/>
            <a:ext cx="748217" cy="828813"/>
          </a:xfrm>
          <a:prstGeom prst="rect">
            <a:avLst/>
          </a:prstGeom>
        </p:spPr>
      </p:pic>
      <p:pic>
        <p:nvPicPr>
          <p:cNvPr id="21" name="Image 6" descr="preencoded.png"/>
          <p:cNvPicPr>
            <a:picLocks noChangeAspect="1"/>
          </p:cNvPicPr>
          <p:nvPr/>
        </p:nvPicPr>
        <p:blipFill>
          <a:blip r:embed="rId7"/>
          <a:stretch>
            <a:fillRect/>
          </a:stretch>
        </p:blipFill>
        <p:spPr>
          <a:xfrm>
            <a:off x="1022253" y="4552368"/>
            <a:ext cx="748217" cy="828813"/>
          </a:xfrm>
          <a:prstGeom prst="rect">
            <a:avLst/>
          </a:prstGeom>
        </p:spPr>
      </p:pic>
      <p:pic>
        <p:nvPicPr>
          <p:cNvPr id="22" name="Image 7" descr="preencoded.png"/>
          <p:cNvPicPr>
            <a:picLocks noChangeAspect="1"/>
          </p:cNvPicPr>
          <p:nvPr/>
        </p:nvPicPr>
        <p:blipFill>
          <a:blip r:embed="rId8"/>
          <a:stretch>
            <a:fillRect/>
          </a:stretch>
        </p:blipFill>
        <p:spPr>
          <a:xfrm>
            <a:off x="1027243" y="5334001"/>
            <a:ext cx="748217" cy="828813"/>
          </a:xfrm>
          <a:prstGeom prst="rect">
            <a:avLst/>
          </a:prstGeom>
        </p:spPr>
      </p:pic>
      <p:sp>
        <p:nvSpPr>
          <p:cNvPr id="24" name="Rectangle 23"/>
          <p:cNvSpPr/>
          <p:nvPr/>
        </p:nvSpPr>
        <p:spPr>
          <a:xfrm>
            <a:off x="1770468" y="3792589"/>
            <a:ext cx="1177186" cy="317684"/>
          </a:xfrm>
          <a:prstGeom prst="rect">
            <a:avLst/>
          </a:prstGeom>
        </p:spPr>
        <p:txBody>
          <a:bodyPr wrap="none" lIns="86013" tIns="43006" rIns="86013" bIns="43006">
            <a:spAutoFit/>
          </a:bodyPr>
          <a:lstStyle/>
          <a:p>
            <a:pPr>
              <a:lnSpc>
                <a:spcPts val="1811"/>
              </a:lnSpc>
            </a:pPr>
            <a:r>
              <a:rPr lang="en-US" sz="1500" b="1" dirty="0"/>
              <a:t> Variables</a:t>
            </a:r>
            <a:endParaRPr lang="en-US" sz="1400" b="1" dirty="0"/>
          </a:p>
        </p:txBody>
      </p:sp>
      <p:sp>
        <p:nvSpPr>
          <p:cNvPr id="25" name="Rectangle 24"/>
          <p:cNvSpPr/>
          <p:nvPr/>
        </p:nvSpPr>
        <p:spPr>
          <a:xfrm>
            <a:off x="1769612" y="4611426"/>
            <a:ext cx="1068182" cy="317684"/>
          </a:xfrm>
          <a:prstGeom prst="rect">
            <a:avLst/>
          </a:prstGeom>
        </p:spPr>
        <p:txBody>
          <a:bodyPr wrap="none" lIns="86013" tIns="43006" rIns="86013" bIns="43006">
            <a:spAutoFit/>
          </a:bodyPr>
          <a:lstStyle/>
          <a:p>
            <a:pPr>
              <a:lnSpc>
                <a:spcPts val="1811"/>
              </a:lnSpc>
            </a:pPr>
            <a:r>
              <a:rPr lang="en-US" sz="1500" b="1" dirty="0"/>
              <a:t> Modules</a:t>
            </a:r>
            <a:endParaRPr lang="en-US" sz="1400" b="1" dirty="0"/>
          </a:p>
        </p:txBody>
      </p:sp>
      <p:sp>
        <p:nvSpPr>
          <p:cNvPr id="26" name="Rectangle 25"/>
          <p:cNvSpPr/>
          <p:nvPr/>
        </p:nvSpPr>
        <p:spPr>
          <a:xfrm>
            <a:off x="1810245" y="5424763"/>
            <a:ext cx="984825" cy="317684"/>
          </a:xfrm>
          <a:prstGeom prst="rect">
            <a:avLst/>
          </a:prstGeom>
        </p:spPr>
        <p:txBody>
          <a:bodyPr wrap="none" lIns="86013" tIns="43006" rIns="86013" bIns="43006">
            <a:spAutoFit/>
          </a:bodyPr>
          <a:lstStyle/>
          <a:p>
            <a:pPr>
              <a:lnSpc>
                <a:spcPts val="1811"/>
              </a:lnSpc>
            </a:pPr>
            <a:r>
              <a:rPr lang="en-US" sz="1500" b="1" dirty="0"/>
              <a:t>Outputs</a:t>
            </a:r>
            <a:endParaRPr lang="en-US" sz="1400" b="1" dirty="0"/>
          </a:p>
        </p:txBody>
      </p:sp>
      <p:sp>
        <p:nvSpPr>
          <p:cNvPr id="27" name="Rectangle 26"/>
          <p:cNvSpPr/>
          <p:nvPr/>
        </p:nvSpPr>
        <p:spPr>
          <a:xfrm>
            <a:off x="1829885" y="4083290"/>
            <a:ext cx="7075624" cy="330508"/>
          </a:xfrm>
          <a:prstGeom prst="rect">
            <a:avLst/>
          </a:prstGeom>
        </p:spPr>
        <p:txBody>
          <a:bodyPr wrap="square" lIns="86013" tIns="43006" rIns="86013" bIns="43006">
            <a:spAutoFit/>
          </a:bodyPr>
          <a:lstStyle/>
          <a:p>
            <a:pPr>
              <a:lnSpc>
                <a:spcPts val="1877"/>
              </a:lnSpc>
            </a:pPr>
            <a:r>
              <a:rPr lang="en-US" sz="1200" dirty="0"/>
              <a:t>Define dynamic values to make configurations reusable and flexible.</a:t>
            </a:r>
          </a:p>
        </p:txBody>
      </p:sp>
      <p:sp>
        <p:nvSpPr>
          <p:cNvPr id="28" name="Rectangle 27"/>
          <p:cNvSpPr/>
          <p:nvPr/>
        </p:nvSpPr>
        <p:spPr>
          <a:xfrm>
            <a:off x="1856667" y="4938530"/>
            <a:ext cx="7082488" cy="330508"/>
          </a:xfrm>
          <a:prstGeom prst="rect">
            <a:avLst/>
          </a:prstGeom>
        </p:spPr>
        <p:txBody>
          <a:bodyPr wrap="square" lIns="86013" tIns="43006" rIns="86013" bIns="43006">
            <a:spAutoFit/>
          </a:bodyPr>
          <a:lstStyle/>
          <a:p>
            <a:pPr>
              <a:lnSpc>
                <a:spcPts val="1877"/>
              </a:lnSpc>
            </a:pPr>
            <a:r>
              <a:rPr lang="en-US" sz="1200" dirty="0"/>
              <a:t>Reusable configuration blocks to simplify complex deployments.</a:t>
            </a:r>
          </a:p>
        </p:txBody>
      </p:sp>
      <p:sp>
        <p:nvSpPr>
          <p:cNvPr id="29" name="Rectangle 28"/>
          <p:cNvSpPr/>
          <p:nvPr/>
        </p:nvSpPr>
        <p:spPr>
          <a:xfrm>
            <a:off x="1870909" y="5723344"/>
            <a:ext cx="6553843" cy="330508"/>
          </a:xfrm>
          <a:prstGeom prst="rect">
            <a:avLst/>
          </a:prstGeom>
        </p:spPr>
        <p:txBody>
          <a:bodyPr wrap="square" lIns="86013" tIns="43006" rIns="86013" bIns="43006">
            <a:spAutoFit/>
          </a:bodyPr>
          <a:lstStyle/>
          <a:p>
            <a:pPr>
              <a:lnSpc>
                <a:spcPts val="1877"/>
              </a:lnSpc>
            </a:pPr>
            <a:r>
              <a:rPr lang="en-US" sz="1200" dirty="0"/>
              <a:t>Retrieve and expose values from Terraform configurations for use elsewhere.</a:t>
            </a:r>
          </a:p>
        </p:txBody>
      </p:sp>
    </p:spTree>
    <p:extLst>
      <p:ext uri="{BB962C8B-B14F-4D97-AF65-F5344CB8AC3E}">
        <p14:creationId xmlns:p14="http://schemas.microsoft.com/office/powerpoint/2010/main" val="2674037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8122" y="327553"/>
            <a:ext cx="7426921"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Terraform Configuration: HCL Syntax</a:t>
            </a:r>
            <a:endParaRPr lang="en-US" sz="2900" dirty="0">
              <a:solidFill>
                <a:srgbClr val="0070C0"/>
              </a:solidFill>
            </a:endParaRPr>
          </a:p>
        </p:txBody>
      </p:sp>
      <p:sp>
        <p:nvSpPr>
          <p:cNvPr id="3" name="Text 1"/>
          <p:cNvSpPr/>
          <p:nvPr/>
        </p:nvSpPr>
        <p:spPr>
          <a:xfrm>
            <a:off x="468121" y="1390682"/>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Blocks</a:t>
            </a:r>
            <a:endParaRPr lang="en-US" sz="1400" dirty="0"/>
          </a:p>
        </p:txBody>
      </p:sp>
      <p:sp>
        <p:nvSpPr>
          <p:cNvPr id="4" name="Text 2"/>
          <p:cNvSpPr/>
          <p:nvPr/>
        </p:nvSpPr>
        <p:spPr>
          <a:xfrm>
            <a:off x="468120" y="1874965"/>
            <a:ext cx="1926704"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Define resources like instances. Example:</a:t>
            </a:r>
            <a:endParaRPr lang="en-US" sz="1200" dirty="0"/>
          </a:p>
        </p:txBody>
      </p:sp>
      <p:sp>
        <p:nvSpPr>
          <p:cNvPr id="5" name="Shape 3"/>
          <p:cNvSpPr/>
          <p:nvPr/>
        </p:nvSpPr>
        <p:spPr>
          <a:xfrm>
            <a:off x="468120" y="2692432"/>
            <a:ext cx="1926704" cy="1190625"/>
          </a:xfrm>
          <a:prstGeom prst="roundRect">
            <a:avLst>
              <a:gd name="adj" fmla="val 14288"/>
            </a:avLst>
          </a:prstGeom>
          <a:solidFill>
            <a:srgbClr val="DDEEE0"/>
          </a:solidFill>
          <a:ln/>
        </p:spPr>
      </p:sp>
      <p:sp>
        <p:nvSpPr>
          <p:cNvPr id="6" name="Shape 4"/>
          <p:cNvSpPr/>
          <p:nvPr/>
        </p:nvSpPr>
        <p:spPr>
          <a:xfrm>
            <a:off x="460464" y="2692432"/>
            <a:ext cx="1942021" cy="1190625"/>
          </a:xfrm>
          <a:prstGeom prst="roundRect">
            <a:avLst>
              <a:gd name="adj" fmla="val 2381"/>
            </a:avLst>
          </a:prstGeom>
          <a:solidFill>
            <a:srgbClr val="DDEEE0"/>
          </a:solidFill>
          <a:ln/>
        </p:spPr>
      </p:sp>
      <p:sp>
        <p:nvSpPr>
          <p:cNvPr id="7" name="Text 5"/>
          <p:cNvSpPr/>
          <p:nvPr/>
        </p:nvSpPr>
        <p:spPr>
          <a:xfrm>
            <a:off x="614033" y="2834113"/>
            <a:ext cx="1634878" cy="907257"/>
          </a:xfrm>
          <a:prstGeom prst="rect">
            <a:avLst/>
          </a:prstGeom>
          <a:noFill/>
          <a:ln/>
        </p:spPr>
        <p:txBody>
          <a:bodyPr wrap="square" lIns="0" tIns="0" rIns="0" bIns="0" rtlCol="0" anchor="t"/>
          <a:lstStyle/>
          <a:p>
            <a:pPr>
              <a:lnSpc>
                <a:spcPts val="1877"/>
              </a:lnSpc>
            </a:pPr>
            <a:r>
              <a:rPr lang="en-US" sz="1200" dirty="0">
                <a:solidFill>
                  <a:srgbClr val="405449"/>
                </a:solidFill>
                <a:highlight>
                  <a:srgbClr val="DDEEE0"/>
                </a:highlight>
                <a:latin typeface="Consolas" pitchFamily="34" charset="0"/>
                <a:ea typeface="Consolas" pitchFamily="34" charset="-122"/>
                <a:cs typeface="Consolas" pitchFamily="34" charset="-120"/>
              </a:rPr>
              <a:t>resource "aws_instance" "example" { ... }</a:t>
            </a:r>
            <a:endParaRPr lang="en-US" sz="1200" dirty="0"/>
          </a:p>
        </p:txBody>
      </p:sp>
      <p:sp>
        <p:nvSpPr>
          <p:cNvPr id="8" name="Text 6"/>
          <p:cNvSpPr/>
          <p:nvPr/>
        </p:nvSpPr>
        <p:spPr>
          <a:xfrm>
            <a:off x="2774684" y="1390682"/>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Variables</a:t>
            </a:r>
            <a:endParaRPr lang="en-US" sz="1400" dirty="0"/>
          </a:p>
        </p:txBody>
      </p:sp>
      <p:sp>
        <p:nvSpPr>
          <p:cNvPr id="9" name="Text 7"/>
          <p:cNvSpPr/>
          <p:nvPr/>
        </p:nvSpPr>
        <p:spPr>
          <a:xfrm>
            <a:off x="2774684" y="1874965"/>
            <a:ext cx="1926704"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Parameterize for reuse. Define:</a:t>
            </a:r>
            <a:endParaRPr lang="en-US" sz="1200" dirty="0"/>
          </a:p>
        </p:txBody>
      </p:sp>
      <p:sp>
        <p:nvSpPr>
          <p:cNvPr id="10" name="Shape 8"/>
          <p:cNvSpPr/>
          <p:nvPr/>
        </p:nvSpPr>
        <p:spPr>
          <a:xfrm>
            <a:off x="2774684" y="2692432"/>
            <a:ext cx="1926704" cy="1190625"/>
          </a:xfrm>
          <a:prstGeom prst="roundRect">
            <a:avLst>
              <a:gd name="adj" fmla="val 14288"/>
            </a:avLst>
          </a:prstGeom>
          <a:solidFill>
            <a:srgbClr val="DDEEE0"/>
          </a:solidFill>
          <a:ln/>
        </p:spPr>
      </p:sp>
      <p:sp>
        <p:nvSpPr>
          <p:cNvPr id="11" name="Shape 9"/>
          <p:cNvSpPr/>
          <p:nvPr/>
        </p:nvSpPr>
        <p:spPr>
          <a:xfrm>
            <a:off x="2767027" y="2692432"/>
            <a:ext cx="1942021" cy="1190625"/>
          </a:xfrm>
          <a:prstGeom prst="roundRect">
            <a:avLst>
              <a:gd name="adj" fmla="val 2381"/>
            </a:avLst>
          </a:prstGeom>
          <a:solidFill>
            <a:srgbClr val="DDEEE0"/>
          </a:solidFill>
          <a:ln/>
        </p:spPr>
      </p:sp>
      <p:sp>
        <p:nvSpPr>
          <p:cNvPr id="12" name="Text 10"/>
          <p:cNvSpPr/>
          <p:nvPr/>
        </p:nvSpPr>
        <p:spPr>
          <a:xfrm>
            <a:off x="2920597" y="2834113"/>
            <a:ext cx="1634878" cy="907257"/>
          </a:xfrm>
          <a:prstGeom prst="rect">
            <a:avLst/>
          </a:prstGeom>
          <a:noFill/>
          <a:ln/>
        </p:spPr>
        <p:txBody>
          <a:bodyPr wrap="square" lIns="0" tIns="0" rIns="0" bIns="0" rtlCol="0" anchor="t"/>
          <a:lstStyle/>
          <a:p>
            <a:pPr>
              <a:lnSpc>
                <a:spcPts val="1877"/>
              </a:lnSpc>
            </a:pPr>
            <a:r>
              <a:rPr lang="en-US" sz="1200" dirty="0">
                <a:solidFill>
                  <a:srgbClr val="405449"/>
                </a:solidFill>
                <a:highlight>
                  <a:srgbClr val="DDEEE0"/>
                </a:highlight>
                <a:latin typeface="Consolas" pitchFamily="34" charset="0"/>
                <a:ea typeface="Consolas" pitchFamily="34" charset="-122"/>
                <a:cs typeface="Consolas" pitchFamily="34" charset="-120"/>
              </a:rPr>
              <a:t>variable "instance_type" { default = "t2.micro" }</a:t>
            </a:r>
            <a:endParaRPr lang="en-US" sz="1200" dirty="0"/>
          </a:p>
        </p:txBody>
      </p:sp>
      <p:sp>
        <p:nvSpPr>
          <p:cNvPr id="13" name="Text 11"/>
          <p:cNvSpPr/>
          <p:nvPr/>
        </p:nvSpPr>
        <p:spPr>
          <a:xfrm>
            <a:off x="2774684" y="4095680"/>
            <a:ext cx="1926704"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 Use:</a:t>
            </a:r>
            <a:endParaRPr lang="en-US" sz="1200" dirty="0"/>
          </a:p>
        </p:txBody>
      </p:sp>
      <p:sp>
        <p:nvSpPr>
          <p:cNvPr id="14" name="Shape 12"/>
          <p:cNvSpPr/>
          <p:nvPr/>
        </p:nvSpPr>
        <p:spPr>
          <a:xfrm>
            <a:off x="2774684" y="4610725"/>
            <a:ext cx="1926704" cy="888207"/>
          </a:xfrm>
          <a:prstGeom prst="roundRect">
            <a:avLst>
              <a:gd name="adj" fmla="val 19153"/>
            </a:avLst>
          </a:prstGeom>
          <a:solidFill>
            <a:srgbClr val="DDEEE0"/>
          </a:solidFill>
          <a:ln/>
        </p:spPr>
      </p:sp>
      <p:sp>
        <p:nvSpPr>
          <p:cNvPr id="15" name="Shape 13"/>
          <p:cNvSpPr/>
          <p:nvPr/>
        </p:nvSpPr>
        <p:spPr>
          <a:xfrm>
            <a:off x="2767027" y="4610725"/>
            <a:ext cx="1942021" cy="888207"/>
          </a:xfrm>
          <a:prstGeom prst="roundRect">
            <a:avLst>
              <a:gd name="adj" fmla="val 3192"/>
            </a:avLst>
          </a:prstGeom>
          <a:solidFill>
            <a:srgbClr val="DDEEE0"/>
          </a:solidFill>
          <a:ln/>
        </p:spPr>
      </p:sp>
      <p:sp>
        <p:nvSpPr>
          <p:cNvPr id="16" name="Text 14"/>
          <p:cNvSpPr/>
          <p:nvPr/>
        </p:nvSpPr>
        <p:spPr>
          <a:xfrm>
            <a:off x="2920597" y="4752408"/>
            <a:ext cx="1634878" cy="604838"/>
          </a:xfrm>
          <a:prstGeom prst="rect">
            <a:avLst/>
          </a:prstGeom>
          <a:noFill/>
          <a:ln/>
        </p:spPr>
        <p:txBody>
          <a:bodyPr wrap="square" lIns="0" tIns="0" rIns="0" bIns="0" rtlCol="0" anchor="t"/>
          <a:lstStyle/>
          <a:p>
            <a:pPr>
              <a:lnSpc>
                <a:spcPts val="1877"/>
              </a:lnSpc>
            </a:pPr>
            <a:r>
              <a:rPr lang="en-US" sz="1200" dirty="0">
                <a:solidFill>
                  <a:srgbClr val="405449"/>
                </a:solidFill>
                <a:highlight>
                  <a:srgbClr val="DDEEE0"/>
                </a:highlight>
                <a:latin typeface="Consolas" pitchFamily="34" charset="0"/>
                <a:ea typeface="Consolas" pitchFamily="34" charset="-122"/>
                <a:cs typeface="Consolas" pitchFamily="34" charset="-120"/>
              </a:rPr>
              <a:t>instance_type = var.instance_type</a:t>
            </a:r>
            <a:endParaRPr lang="en-US" sz="1200" dirty="0"/>
          </a:p>
        </p:txBody>
      </p:sp>
      <p:sp>
        <p:nvSpPr>
          <p:cNvPr id="17" name="Text 15"/>
          <p:cNvSpPr/>
          <p:nvPr/>
        </p:nvSpPr>
        <p:spPr>
          <a:xfrm>
            <a:off x="5081247" y="1390682"/>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Data Sources</a:t>
            </a:r>
            <a:endParaRPr lang="en-US" sz="1400" dirty="0"/>
          </a:p>
        </p:txBody>
      </p:sp>
      <p:sp>
        <p:nvSpPr>
          <p:cNvPr id="18" name="Text 16"/>
          <p:cNvSpPr/>
          <p:nvPr/>
        </p:nvSpPr>
        <p:spPr>
          <a:xfrm>
            <a:off x="5081246" y="1874965"/>
            <a:ext cx="1926704"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Fetch existing infrastructure info. Example:</a:t>
            </a:r>
            <a:endParaRPr lang="en-US" sz="1200" dirty="0"/>
          </a:p>
        </p:txBody>
      </p:sp>
      <p:sp>
        <p:nvSpPr>
          <p:cNvPr id="19" name="Shape 17"/>
          <p:cNvSpPr/>
          <p:nvPr/>
        </p:nvSpPr>
        <p:spPr>
          <a:xfrm>
            <a:off x="5081246" y="2994848"/>
            <a:ext cx="1926704" cy="888207"/>
          </a:xfrm>
          <a:prstGeom prst="roundRect">
            <a:avLst>
              <a:gd name="adj" fmla="val 19153"/>
            </a:avLst>
          </a:prstGeom>
          <a:solidFill>
            <a:srgbClr val="DDEEE0"/>
          </a:solidFill>
          <a:ln/>
        </p:spPr>
      </p:sp>
      <p:sp>
        <p:nvSpPr>
          <p:cNvPr id="20" name="Shape 18"/>
          <p:cNvSpPr/>
          <p:nvPr/>
        </p:nvSpPr>
        <p:spPr>
          <a:xfrm>
            <a:off x="5073589" y="2994848"/>
            <a:ext cx="1942021" cy="888207"/>
          </a:xfrm>
          <a:prstGeom prst="roundRect">
            <a:avLst>
              <a:gd name="adj" fmla="val 3192"/>
            </a:avLst>
          </a:prstGeom>
          <a:solidFill>
            <a:srgbClr val="DDEEE0"/>
          </a:solidFill>
          <a:ln/>
        </p:spPr>
      </p:sp>
      <p:sp>
        <p:nvSpPr>
          <p:cNvPr id="21" name="Text 19"/>
          <p:cNvSpPr/>
          <p:nvPr/>
        </p:nvSpPr>
        <p:spPr>
          <a:xfrm>
            <a:off x="5227159" y="3136531"/>
            <a:ext cx="1634878" cy="604838"/>
          </a:xfrm>
          <a:prstGeom prst="rect">
            <a:avLst/>
          </a:prstGeom>
          <a:noFill/>
          <a:ln/>
        </p:spPr>
        <p:txBody>
          <a:bodyPr wrap="square" lIns="0" tIns="0" rIns="0" bIns="0" rtlCol="0" anchor="t"/>
          <a:lstStyle/>
          <a:p>
            <a:pPr>
              <a:lnSpc>
                <a:spcPts val="1877"/>
              </a:lnSpc>
            </a:pPr>
            <a:r>
              <a:rPr lang="en-US" sz="1200" dirty="0">
                <a:solidFill>
                  <a:srgbClr val="405449"/>
                </a:solidFill>
                <a:highlight>
                  <a:srgbClr val="DDEEE0"/>
                </a:highlight>
                <a:latin typeface="Consolas" pitchFamily="34" charset="0"/>
                <a:ea typeface="Consolas" pitchFamily="34" charset="-122"/>
                <a:cs typeface="Consolas" pitchFamily="34" charset="-120"/>
              </a:rPr>
              <a:t>data "aws_ami" "ubuntu" { ... }</a:t>
            </a:r>
            <a:endParaRPr lang="en-US" sz="1200" dirty="0"/>
          </a:p>
        </p:txBody>
      </p:sp>
      <p:sp>
        <p:nvSpPr>
          <p:cNvPr id="22" name="Text 20"/>
          <p:cNvSpPr/>
          <p:nvPr/>
        </p:nvSpPr>
        <p:spPr>
          <a:xfrm>
            <a:off x="7387810" y="1390682"/>
            <a:ext cx="1919690" cy="295275"/>
          </a:xfrm>
          <a:prstGeom prst="rect">
            <a:avLst/>
          </a:prstGeom>
          <a:noFill/>
          <a:ln/>
        </p:spPr>
        <p:txBody>
          <a:bodyPr wrap="none" lIns="0" tIns="0" rIns="0" bIns="0" rtlCol="0" anchor="t"/>
          <a:lstStyle/>
          <a:p>
            <a:pPr>
              <a:lnSpc>
                <a:spcPts val="1811"/>
              </a:lnSpc>
            </a:pPr>
            <a:r>
              <a:rPr lang="en-US" sz="1400" b="1" dirty="0">
                <a:solidFill>
                  <a:srgbClr val="3B4540"/>
                </a:solidFill>
                <a:latin typeface="Fraunces Extra Bold" pitchFamily="34" charset="0"/>
                <a:ea typeface="Fraunces Extra Bold" pitchFamily="34" charset="-122"/>
                <a:cs typeface="Fraunces Extra Bold" pitchFamily="34" charset="-120"/>
              </a:rPr>
              <a:t>Modules</a:t>
            </a:r>
            <a:endParaRPr lang="en-US" sz="1400" dirty="0"/>
          </a:p>
        </p:txBody>
      </p:sp>
      <p:sp>
        <p:nvSpPr>
          <p:cNvPr id="23" name="Text 21"/>
          <p:cNvSpPr/>
          <p:nvPr/>
        </p:nvSpPr>
        <p:spPr>
          <a:xfrm>
            <a:off x="7387810" y="1874969"/>
            <a:ext cx="1926704" cy="1209675"/>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Group related resources and variables for reusability. Use the Terraform Registry.</a:t>
            </a:r>
            <a:endParaRPr lang="en-US" sz="1200" dirty="0"/>
          </a:p>
        </p:txBody>
      </p:sp>
      <p:sp>
        <p:nvSpPr>
          <p:cNvPr id="25" name="Action Button: Go Forward or Next 24">
            <a:hlinkClick r:id="" action="ppaction://hlinkshowjump?jump=nextslide" highlightClick="1"/>
            <a:extLst>
              <a:ext uri="{FF2B5EF4-FFF2-40B4-BE49-F238E27FC236}">
                <a16:creationId xmlns="" xmlns:a16="http://schemas.microsoft.com/office/drawing/2014/main" id="{C6065B67-92BF-5F05-CF5D-7558B0F3CCE6}"/>
              </a:ext>
            </a:extLst>
          </p:cNvPr>
          <p:cNvSpPr/>
          <p:nvPr/>
        </p:nvSpPr>
        <p:spPr>
          <a:xfrm>
            <a:off x="9410700" y="6554719"/>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6" name="Action Button: Go Back or Previous 25">
            <a:hlinkClick r:id="" action="ppaction://hlinkshowjump?jump=previousslide" highlightClick="1"/>
            <a:extLst>
              <a:ext uri="{FF2B5EF4-FFF2-40B4-BE49-F238E27FC236}">
                <a16:creationId xmlns="" xmlns:a16="http://schemas.microsoft.com/office/drawing/2014/main" id="{D0DC4BC3-A2B4-CBAC-A13D-AAAFDD154137}"/>
              </a:ext>
            </a:extLst>
          </p:cNvPr>
          <p:cNvSpPr/>
          <p:nvPr/>
        </p:nvSpPr>
        <p:spPr>
          <a:xfrm>
            <a:off x="8406892" y="6554719"/>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8"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978978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3011" y="457202"/>
            <a:ext cx="4369668"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Terraform Lifecycle</a:t>
            </a:r>
            <a:endParaRPr lang="en-US" sz="2900" dirty="0">
              <a:solidFill>
                <a:srgbClr val="0070C0"/>
              </a:solidFill>
            </a:endParaRPr>
          </a:p>
        </p:txBody>
      </p:sp>
      <p:sp>
        <p:nvSpPr>
          <p:cNvPr id="3" name="Text 1"/>
          <p:cNvSpPr/>
          <p:nvPr/>
        </p:nvSpPr>
        <p:spPr>
          <a:xfrm>
            <a:off x="945476" y="2162378"/>
            <a:ext cx="1919690" cy="295275"/>
          </a:xfrm>
          <a:prstGeom prst="rect">
            <a:avLst/>
          </a:prstGeom>
          <a:noFill/>
          <a:ln/>
        </p:spPr>
        <p:txBody>
          <a:bodyPr wrap="none" lIns="0" tIns="0" rIns="0" bIns="0" rtlCol="0" anchor="t"/>
          <a:lstStyle/>
          <a:p>
            <a:pPr algn="r">
              <a:lnSpc>
                <a:spcPts val="1811"/>
              </a:lnSpc>
            </a:pPr>
            <a:r>
              <a:rPr lang="en-US" b="1" dirty="0">
                <a:solidFill>
                  <a:srgbClr val="405449"/>
                </a:solidFill>
                <a:latin typeface="Fraunces Extra Bold" pitchFamily="34" charset="0"/>
                <a:ea typeface="Fraunces Extra Bold" pitchFamily="34" charset="-122"/>
                <a:cs typeface="Fraunces Extra Bold" pitchFamily="34" charset="-120"/>
              </a:rPr>
              <a:t>init</a:t>
            </a:r>
            <a:endParaRPr lang="en-US" dirty="0"/>
          </a:p>
        </p:txBody>
      </p:sp>
      <p:sp>
        <p:nvSpPr>
          <p:cNvPr id="4" name="Text 2"/>
          <p:cNvSpPr/>
          <p:nvPr/>
        </p:nvSpPr>
        <p:spPr>
          <a:xfrm>
            <a:off x="225421" y="2571056"/>
            <a:ext cx="2639746" cy="604838"/>
          </a:xfrm>
          <a:prstGeom prst="rect">
            <a:avLst/>
          </a:prstGeom>
          <a:noFill/>
          <a:ln/>
        </p:spPr>
        <p:txBody>
          <a:bodyPr wrap="square" lIns="0" tIns="0" rIns="0" bIns="0" rtlCol="0" anchor="t"/>
          <a:lstStyle/>
          <a:p>
            <a:pPr algn="r">
              <a:lnSpc>
                <a:spcPts val="1877"/>
              </a:lnSpc>
            </a:pPr>
            <a:r>
              <a:rPr lang="en-US" sz="1200" dirty="0">
                <a:solidFill>
                  <a:srgbClr val="405449"/>
                </a:solidFill>
                <a:latin typeface="Nobile" pitchFamily="34" charset="0"/>
                <a:ea typeface="Nobile" pitchFamily="34" charset="-122"/>
                <a:cs typeface="Nobile" pitchFamily="34" charset="-120"/>
              </a:rPr>
              <a:t>Initializes the Terraform  working directory. Downloads providers.</a:t>
            </a:r>
            <a:endParaRPr lang="en-US" sz="1200" dirty="0"/>
          </a:p>
        </p:txBody>
      </p:sp>
      <p:pic>
        <p:nvPicPr>
          <p:cNvPr id="5" name="Image 0" descr="preencoded.png"/>
          <p:cNvPicPr>
            <a:picLocks noChangeAspect="1"/>
          </p:cNvPicPr>
          <p:nvPr/>
        </p:nvPicPr>
        <p:blipFill>
          <a:blip r:embed="rId2"/>
          <a:stretch>
            <a:fillRect/>
          </a:stretch>
        </p:blipFill>
        <p:spPr>
          <a:xfrm>
            <a:off x="3095486" y="1713411"/>
            <a:ext cx="3090868" cy="3804146"/>
          </a:xfrm>
          <a:prstGeom prst="rect">
            <a:avLst/>
          </a:prstGeom>
        </p:spPr>
      </p:pic>
      <p:sp>
        <p:nvSpPr>
          <p:cNvPr id="6" name="Text 3"/>
          <p:cNvSpPr/>
          <p:nvPr/>
        </p:nvSpPr>
        <p:spPr>
          <a:xfrm>
            <a:off x="3903975" y="2349307"/>
            <a:ext cx="229753" cy="353517"/>
          </a:xfrm>
          <a:prstGeom prst="rect">
            <a:avLst/>
          </a:prstGeom>
          <a:noFill/>
          <a:ln/>
        </p:spPr>
        <p:txBody>
          <a:bodyPr wrap="none" lIns="0" tIns="0" rIns="0" bIns="0" rtlCol="0" anchor="t"/>
          <a:lstStyle/>
          <a:p>
            <a:pPr>
              <a:lnSpc>
                <a:spcPts val="2799"/>
              </a:lnSpc>
            </a:pPr>
            <a:r>
              <a:rPr lang="en-US" sz="1800" b="1" dirty="0">
                <a:solidFill>
                  <a:srgbClr val="405449"/>
                </a:solidFill>
                <a:latin typeface="Fraunces Extra Bold" pitchFamily="34" charset="0"/>
                <a:ea typeface="Fraunces Extra Bold" pitchFamily="34" charset="-122"/>
                <a:cs typeface="Fraunces Extra Bold" pitchFamily="34" charset="-120"/>
              </a:rPr>
              <a:t>1</a:t>
            </a:r>
            <a:endParaRPr lang="en-US" sz="1800" dirty="0"/>
          </a:p>
        </p:txBody>
      </p:sp>
      <p:sp>
        <p:nvSpPr>
          <p:cNvPr id="7" name="Text 4"/>
          <p:cNvSpPr/>
          <p:nvPr/>
        </p:nvSpPr>
        <p:spPr>
          <a:xfrm>
            <a:off x="6416670" y="2011169"/>
            <a:ext cx="1919690" cy="295275"/>
          </a:xfrm>
          <a:prstGeom prst="rect">
            <a:avLst/>
          </a:prstGeom>
          <a:noFill/>
          <a:ln/>
        </p:spPr>
        <p:txBody>
          <a:bodyPr wrap="none" lIns="0" tIns="0" rIns="0" bIns="0" rtlCol="0" anchor="t"/>
          <a:lstStyle/>
          <a:p>
            <a:pPr>
              <a:lnSpc>
                <a:spcPts val="1811"/>
              </a:lnSpc>
            </a:pPr>
            <a:r>
              <a:rPr lang="en-US" b="1" dirty="0">
                <a:solidFill>
                  <a:srgbClr val="405449"/>
                </a:solidFill>
                <a:latin typeface="Fraunces Extra Bold" pitchFamily="34" charset="0"/>
                <a:ea typeface="Fraunces Extra Bold" pitchFamily="34" charset="-122"/>
                <a:cs typeface="Fraunces Extra Bold" pitchFamily="34" charset="-120"/>
              </a:rPr>
              <a:t>plan</a:t>
            </a:r>
            <a:endParaRPr lang="en-US" dirty="0"/>
          </a:p>
        </p:txBody>
      </p:sp>
      <p:sp>
        <p:nvSpPr>
          <p:cNvPr id="8" name="Text 5"/>
          <p:cNvSpPr/>
          <p:nvPr/>
        </p:nvSpPr>
        <p:spPr>
          <a:xfrm>
            <a:off x="6416671" y="2419849"/>
            <a:ext cx="2639828"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Creates an execution plan. Shows what will be created, changed, or destroyed.</a:t>
            </a:r>
            <a:endParaRPr lang="en-US" sz="1200" dirty="0"/>
          </a:p>
        </p:txBody>
      </p:sp>
      <p:pic>
        <p:nvPicPr>
          <p:cNvPr id="9" name="Image 1" descr="preencoded.png"/>
          <p:cNvPicPr>
            <a:picLocks noChangeAspect="1"/>
          </p:cNvPicPr>
          <p:nvPr/>
        </p:nvPicPr>
        <p:blipFill>
          <a:blip r:embed="rId3"/>
          <a:stretch>
            <a:fillRect/>
          </a:stretch>
        </p:blipFill>
        <p:spPr>
          <a:xfrm>
            <a:off x="3095486" y="1713411"/>
            <a:ext cx="3090868" cy="3804146"/>
          </a:xfrm>
          <a:prstGeom prst="rect">
            <a:avLst/>
          </a:prstGeom>
        </p:spPr>
      </p:pic>
      <p:sp>
        <p:nvSpPr>
          <p:cNvPr id="10" name="Text 6"/>
          <p:cNvSpPr/>
          <p:nvPr/>
        </p:nvSpPr>
        <p:spPr>
          <a:xfrm>
            <a:off x="5411076" y="2673056"/>
            <a:ext cx="229753" cy="353517"/>
          </a:xfrm>
          <a:prstGeom prst="rect">
            <a:avLst/>
          </a:prstGeom>
          <a:noFill/>
          <a:ln/>
        </p:spPr>
        <p:txBody>
          <a:bodyPr wrap="none" lIns="0" tIns="0" rIns="0" bIns="0" rtlCol="0" anchor="t"/>
          <a:lstStyle/>
          <a:p>
            <a:pPr>
              <a:lnSpc>
                <a:spcPts val="2799"/>
              </a:lnSpc>
            </a:pPr>
            <a:r>
              <a:rPr lang="en-US" sz="1800" b="1" dirty="0">
                <a:solidFill>
                  <a:srgbClr val="405449"/>
                </a:solidFill>
                <a:latin typeface="Fraunces Extra Bold" pitchFamily="34" charset="0"/>
                <a:ea typeface="Fraunces Extra Bold" pitchFamily="34" charset="-122"/>
                <a:cs typeface="Fraunces Extra Bold" pitchFamily="34" charset="-120"/>
              </a:rPr>
              <a:t>2</a:t>
            </a:r>
            <a:endParaRPr lang="en-US" sz="1800" dirty="0"/>
          </a:p>
        </p:txBody>
      </p:sp>
      <p:sp>
        <p:nvSpPr>
          <p:cNvPr id="11" name="Text 7"/>
          <p:cNvSpPr/>
          <p:nvPr/>
        </p:nvSpPr>
        <p:spPr>
          <a:xfrm>
            <a:off x="6416670" y="4206185"/>
            <a:ext cx="1919690" cy="295275"/>
          </a:xfrm>
          <a:prstGeom prst="rect">
            <a:avLst/>
          </a:prstGeom>
          <a:noFill/>
          <a:ln/>
        </p:spPr>
        <p:txBody>
          <a:bodyPr wrap="none" lIns="0" tIns="0" rIns="0" bIns="0" rtlCol="0" anchor="t"/>
          <a:lstStyle/>
          <a:p>
            <a:pPr>
              <a:lnSpc>
                <a:spcPts val="1811"/>
              </a:lnSpc>
            </a:pPr>
            <a:r>
              <a:rPr lang="en-US" b="1" dirty="0">
                <a:solidFill>
                  <a:srgbClr val="405449"/>
                </a:solidFill>
                <a:latin typeface="Fraunces Extra Bold" pitchFamily="34" charset="0"/>
                <a:ea typeface="Fraunces Extra Bold" pitchFamily="34" charset="-122"/>
                <a:cs typeface="Fraunces Extra Bold" pitchFamily="34" charset="-120"/>
              </a:rPr>
              <a:t>apply</a:t>
            </a:r>
            <a:endParaRPr lang="en-US" dirty="0"/>
          </a:p>
        </p:txBody>
      </p:sp>
      <p:sp>
        <p:nvSpPr>
          <p:cNvPr id="12" name="Text 8"/>
          <p:cNvSpPr/>
          <p:nvPr/>
        </p:nvSpPr>
        <p:spPr>
          <a:xfrm>
            <a:off x="6416671" y="4614864"/>
            <a:ext cx="2639828"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Applies the changes to the infrastructure. Provisions resources.</a:t>
            </a:r>
            <a:endParaRPr lang="en-US" sz="1200" dirty="0"/>
          </a:p>
        </p:txBody>
      </p:sp>
      <p:pic>
        <p:nvPicPr>
          <p:cNvPr id="13" name="Image 2" descr="preencoded.png"/>
          <p:cNvPicPr>
            <a:picLocks noChangeAspect="1"/>
          </p:cNvPicPr>
          <p:nvPr/>
        </p:nvPicPr>
        <p:blipFill>
          <a:blip r:embed="rId4"/>
          <a:stretch>
            <a:fillRect/>
          </a:stretch>
        </p:blipFill>
        <p:spPr>
          <a:xfrm>
            <a:off x="3095486" y="1713411"/>
            <a:ext cx="3090868" cy="3804146"/>
          </a:xfrm>
          <a:prstGeom prst="rect">
            <a:avLst/>
          </a:prstGeom>
        </p:spPr>
      </p:pic>
      <p:sp>
        <p:nvSpPr>
          <p:cNvPr id="14" name="Text 9"/>
          <p:cNvSpPr/>
          <p:nvPr/>
        </p:nvSpPr>
        <p:spPr>
          <a:xfrm>
            <a:off x="5148028" y="4527952"/>
            <a:ext cx="229753" cy="353517"/>
          </a:xfrm>
          <a:prstGeom prst="rect">
            <a:avLst/>
          </a:prstGeom>
          <a:noFill/>
          <a:ln/>
        </p:spPr>
        <p:txBody>
          <a:bodyPr wrap="none" lIns="0" tIns="0" rIns="0" bIns="0" rtlCol="0" anchor="t"/>
          <a:lstStyle/>
          <a:p>
            <a:pPr>
              <a:lnSpc>
                <a:spcPts val="2799"/>
              </a:lnSpc>
            </a:pPr>
            <a:r>
              <a:rPr lang="en-US" sz="1800" b="1" dirty="0">
                <a:solidFill>
                  <a:srgbClr val="405449"/>
                </a:solidFill>
                <a:latin typeface="Fraunces Extra Bold" pitchFamily="34" charset="0"/>
                <a:ea typeface="Fraunces Extra Bold" pitchFamily="34" charset="-122"/>
                <a:cs typeface="Fraunces Extra Bold" pitchFamily="34" charset="-120"/>
              </a:rPr>
              <a:t>3</a:t>
            </a:r>
            <a:endParaRPr lang="en-US" sz="1800" dirty="0"/>
          </a:p>
        </p:txBody>
      </p:sp>
      <p:sp>
        <p:nvSpPr>
          <p:cNvPr id="15" name="Text 10"/>
          <p:cNvSpPr/>
          <p:nvPr/>
        </p:nvSpPr>
        <p:spPr>
          <a:xfrm>
            <a:off x="945476" y="4206185"/>
            <a:ext cx="1919690" cy="295275"/>
          </a:xfrm>
          <a:prstGeom prst="rect">
            <a:avLst/>
          </a:prstGeom>
          <a:noFill/>
          <a:ln/>
        </p:spPr>
        <p:txBody>
          <a:bodyPr wrap="none" lIns="0" tIns="0" rIns="0" bIns="0" rtlCol="0" anchor="t"/>
          <a:lstStyle/>
          <a:p>
            <a:pPr algn="r">
              <a:lnSpc>
                <a:spcPts val="1811"/>
              </a:lnSpc>
            </a:pPr>
            <a:r>
              <a:rPr lang="en-US" b="1" dirty="0">
                <a:solidFill>
                  <a:srgbClr val="405449"/>
                </a:solidFill>
                <a:latin typeface="Fraunces Extra Bold" pitchFamily="34" charset="0"/>
                <a:ea typeface="Fraunces Extra Bold" pitchFamily="34" charset="-122"/>
                <a:cs typeface="Fraunces Extra Bold" pitchFamily="34" charset="-120"/>
              </a:rPr>
              <a:t>destroy</a:t>
            </a:r>
            <a:endParaRPr lang="en-US" dirty="0"/>
          </a:p>
        </p:txBody>
      </p:sp>
      <p:sp>
        <p:nvSpPr>
          <p:cNvPr id="16" name="Text 11"/>
          <p:cNvSpPr/>
          <p:nvPr/>
        </p:nvSpPr>
        <p:spPr>
          <a:xfrm>
            <a:off x="225421" y="4614864"/>
            <a:ext cx="2639746" cy="604838"/>
          </a:xfrm>
          <a:prstGeom prst="rect">
            <a:avLst/>
          </a:prstGeom>
          <a:noFill/>
          <a:ln/>
        </p:spPr>
        <p:txBody>
          <a:bodyPr wrap="square" lIns="0" tIns="0" rIns="0" bIns="0" rtlCol="0" anchor="t"/>
          <a:lstStyle/>
          <a:p>
            <a:pPr algn="r">
              <a:lnSpc>
                <a:spcPts val="1877"/>
              </a:lnSpc>
            </a:pPr>
            <a:r>
              <a:rPr lang="en-US" sz="1200" dirty="0">
                <a:solidFill>
                  <a:srgbClr val="405449"/>
                </a:solidFill>
                <a:latin typeface="Nobile" pitchFamily="34" charset="0"/>
                <a:ea typeface="Nobile" pitchFamily="34" charset="-122"/>
                <a:cs typeface="Nobile" pitchFamily="34" charset="-120"/>
              </a:rPr>
              <a:t>Destroys all resources managed by Terraform.</a:t>
            </a:r>
            <a:endParaRPr lang="en-US" sz="1200" dirty="0"/>
          </a:p>
        </p:txBody>
      </p:sp>
      <p:pic>
        <p:nvPicPr>
          <p:cNvPr id="17" name="Image 3" descr="preencoded.png"/>
          <p:cNvPicPr>
            <a:picLocks noChangeAspect="1"/>
          </p:cNvPicPr>
          <p:nvPr/>
        </p:nvPicPr>
        <p:blipFill>
          <a:blip r:embed="rId5"/>
          <a:stretch>
            <a:fillRect/>
          </a:stretch>
        </p:blipFill>
        <p:spPr>
          <a:xfrm>
            <a:off x="3095486" y="1713411"/>
            <a:ext cx="3090868" cy="3804146"/>
          </a:xfrm>
          <a:prstGeom prst="rect">
            <a:avLst/>
          </a:prstGeom>
        </p:spPr>
      </p:pic>
      <p:sp>
        <p:nvSpPr>
          <p:cNvPr id="18" name="Text 12"/>
          <p:cNvSpPr/>
          <p:nvPr/>
        </p:nvSpPr>
        <p:spPr>
          <a:xfrm>
            <a:off x="3640927" y="4204201"/>
            <a:ext cx="229753" cy="353517"/>
          </a:xfrm>
          <a:prstGeom prst="rect">
            <a:avLst/>
          </a:prstGeom>
          <a:noFill/>
          <a:ln/>
        </p:spPr>
        <p:txBody>
          <a:bodyPr wrap="none" lIns="0" tIns="0" rIns="0" bIns="0" rtlCol="0" anchor="t"/>
          <a:lstStyle/>
          <a:p>
            <a:pPr>
              <a:lnSpc>
                <a:spcPts val="2799"/>
              </a:lnSpc>
            </a:pPr>
            <a:r>
              <a:rPr lang="en-US" sz="1800" b="1" dirty="0">
                <a:solidFill>
                  <a:srgbClr val="405449"/>
                </a:solidFill>
                <a:latin typeface="Fraunces Extra Bold" pitchFamily="34" charset="0"/>
                <a:ea typeface="Fraunces Extra Bold" pitchFamily="34" charset="-122"/>
                <a:cs typeface="Fraunces Extra Bold" pitchFamily="34" charset="-120"/>
              </a:rPr>
              <a:t>4</a:t>
            </a:r>
            <a:endParaRPr lang="en-US" sz="1800" dirty="0"/>
          </a:p>
        </p:txBody>
      </p:sp>
      <p:sp>
        <p:nvSpPr>
          <p:cNvPr id="20" name="Action Button: Go Forward or Next 19">
            <a:hlinkClick r:id="" action="ppaction://hlinkshowjump?jump=nextslide" highlightClick="1"/>
            <a:extLst>
              <a:ext uri="{FF2B5EF4-FFF2-40B4-BE49-F238E27FC236}">
                <a16:creationId xmlns="" xmlns:a16="http://schemas.microsoft.com/office/drawing/2014/main" id="{E0ADECC6-A20B-45ED-F50A-329B315DB2FB}"/>
              </a:ext>
            </a:extLst>
          </p:cNvPr>
          <p:cNvSpPr/>
          <p:nvPr/>
        </p:nvSpPr>
        <p:spPr>
          <a:xfrm>
            <a:off x="9423908" y="6563934"/>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1" name="Action Button: Go Back or Previous 20">
            <a:hlinkClick r:id="" action="ppaction://hlinkshowjump?jump=previousslide" highlightClick="1"/>
            <a:extLst>
              <a:ext uri="{FF2B5EF4-FFF2-40B4-BE49-F238E27FC236}">
                <a16:creationId xmlns="" xmlns:a16="http://schemas.microsoft.com/office/drawing/2014/main" id="{CD8187F9-A53A-B313-CC28-D94324B2653C}"/>
              </a:ext>
            </a:extLst>
          </p:cNvPr>
          <p:cNvSpPr/>
          <p:nvPr/>
        </p:nvSpPr>
        <p:spPr>
          <a:xfrm>
            <a:off x="8420100" y="6563934"/>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3" name="Action Button: Go Home 5">
            <a:hlinkClick r:id="rId6"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1022302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2"/>
          <a:stretch>
            <a:fillRect/>
          </a:stretch>
        </p:blipFill>
        <p:spPr>
          <a:xfrm>
            <a:off x="-15880" y="0"/>
            <a:ext cx="3714750" cy="6858000"/>
          </a:xfrm>
          <a:prstGeom prst="rect">
            <a:avLst/>
          </a:prstGeom>
        </p:spPr>
      </p:pic>
      <p:pic>
        <p:nvPicPr>
          <p:cNvPr id="5" name="Image 1" descr="preencoded.png"/>
          <p:cNvPicPr>
            <a:picLocks noChangeAspect="1"/>
          </p:cNvPicPr>
          <p:nvPr/>
        </p:nvPicPr>
        <p:blipFill>
          <a:blip r:embed="rId3"/>
          <a:stretch>
            <a:fillRect/>
          </a:stretch>
        </p:blipFill>
        <p:spPr>
          <a:xfrm>
            <a:off x="174615" y="791269"/>
            <a:ext cx="3333683" cy="5275362"/>
          </a:xfrm>
          <a:prstGeom prst="rect">
            <a:avLst/>
          </a:prstGeom>
        </p:spPr>
      </p:pic>
      <p:sp>
        <p:nvSpPr>
          <p:cNvPr id="6" name="Text 0"/>
          <p:cNvSpPr/>
          <p:nvPr/>
        </p:nvSpPr>
        <p:spPr>
          <a:xfrm>
            <a:off x="4232382" y="517625"/>
            <a:ext cx="4303806" cy="586383"/>
          </a:xfrm>
          <a:prstGeom prst="rect">
            <a:avLst/>
          </a:prstGeom>
          <a:noFill/>
          <a:ln/>
        </p:spPr>
        <p:txBody>
          <a:bodyPr wrap="none" lIns="0" tIns="0" rIns="0" bIns="0" rtlCol="0" anchor="t"/>
          <a:lstStyle/>
          <a:p>
            <a:pPr>
              <a:lnSpc>
                <a:spcPts val="3621"/>
              </a:lnSpc>
            </a:pPr>
            <a:r>
              <a:rPr lang="en-US" sz="2900" b="1" dirty="0">
                <a:solidFill>
                  <a:srgbClr val="3B4540"/>
                </a:solidFill>
                <a:latin typeface="Fraunces Extra Bold" pitchFamily="34" charset="0"/>
                <a:ea typeface="Fraunces Extra Bold" pitchFamily="34" charset="-122"/>
                <a:cs typeface="Fraunces Extra Bold" pitchFamily="34" charset="-120"/>
              </a:rPr>
              <a:t>How to Use Terraform</a:t>
            </a:r>
            <a:endParaRPr lang="en-US" sz="2900" dirty="0"/>
          </a:p>
        </p:txBody>
      </p:sp>
      <p:sp>
        <p:nvSpPr>
          <p:cNvPr id="7" name="Text 1"/>
          <p:cNvSpPr/>
          <p:nvPr/>
        </p:nvSpPr>
        <p:spPr>
          <a:xfrm>
            <a:off x="4232384" y="1385394"/>
            <a:ext cx="5124227" cy="600273"/>
          </a:xfrm>
          <a:prstGeom prst="rect">
            <a:avLst/>
          </a:prstGeom>
          <a:noFill/>
          <a:ln/>
        </p:spPr>
        <p:txBody>
          <a:bodyPr wrap="square" lIns="0" tIns="0" rIns="0" bIns="0" rtlCol="0" anchor="t"/>
          <a:lstStyle/>
          <a:p>
            <a:pPr>
              <a:lnSpc>
                <a:spcPts val="1843"/>
              </a:lnSpc>
            </a:pPr>
            <a:r>
              <a:rPr lang="en-US" sz="1200" dirty="0">
                <a:solidFill>
                  <a:srgbClr val="405449"/>
                </a:solidFill>
                <a:latin typeface="Nobile" pitchFamily="34" charset="0"/>
                <a:ea typeface="Nobile" pitchFamily="34" charset="-122"/>
                <a:cs typeface="Nobile" pitchFamily="34" charset="-120"/>
              </a:rPr>
              <a:t>Terraform streamlines your infrastructure management. Begin with writing, planning, and applying the configuration.</a:t>
            </a:r>
            <a:endParaRPr lang="en-US" sz="1200" dirty="0"/>
          </a:p>
        </p:txBody>
      </p:sp>
      <p:pic>
        <p:nvPicPr>
          <p:cNvPr id="8" name="Image 2" descr="preencoded.png"/>
          <p:cNvPicPr>
            <a:picLocks noChangeAspect="1"/>
          </p:cNvPicPr>
          <p:nvPr/>
        </p:nvPicPr>
        <p:blipFill>
          <a:blip r:embed="rId4"/>
          <a:stretch>
            <a:fillRect/>
          </a:stretch>
        </p:blipFill>
        <p:spPr>
          <a:xfrm>
            <a:off x="4232386" y="2196706"/>
            <a:ext cx="762217" cy="1381224"/>
          </a:xfrm>
          <a:prstGeom prst="rect">
            <a:avLst/>
          </a:prstGeom>
        </p:spPr>
      </p:pic>
      <p:sp>
        <p:nvSpPr>
          <p:cNvPr id="9" name="Text 2"/>
          <p:cNvSpPr/>
          <p:nvPr/>
        </p:nvSpPr>
        <p:spPr>
          <a:xfrm>
            <a:off x="5223228" y="2384326"/>
            <a:ext cx="1905582" cy="293192"/>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Write</a:t>
            </a:r>
            <a:endParaRPr lang="en-US" sz="1400" dirty="0"/>
          </a:p>
        </p:txBody>
      </p:sp>
      <p:sp>
        <p:nvSpPr>
          <p:cNvPr id="10" name="Text 3"/>
          <p:cNvSpPr/>
          <p:nvPr/>
        </p:nvSpPr>
        <p:spPr>
          <a:xfrm>
            <a:off x="5223226" y="2790033"/>
            <a:ext cx="4133386" cy="600273"/>
          </a:xfrm>
          <a:prstGeom prst="rect">
            <a:avLst/>
          </a:prstGeom>
          <a:noFill/>
          <a:ln/>
        </p:spPr>
        <p:txBody>
          <a:bodyPr wrap="square" lIns="0" tIns="0" rIns="0" bIns="0" rtlCol="0" anchor="t"/>
          <a:lstStyle/>
          <a:p>
            <a:pPr>
              <a:lnSpc>
                <a:spcPts val="1843"/>
              </a:lnSpc>
            </a:pPr>
            <a:r>
              <a:rPr lang="en-US" sz="1200" dirty="0">
                <a:solidFill>
                  <a:srgbClr val="405449"/>
                </a:solidFill>
                <a:latin typeface="Nobile" pitchFamily="34" charset="0"/>
                <a:ea typeface="Nobile" pitchFamily="34" charset="-122"/>
                <a:cs typeface="Nobile" pitchFamily="34" charset="-120"/>
              </a:rPr>
              <a:t>Create Terraform files defining your infrastructure. Use a simple, declarative language.</a:t>
            </a:r>
            <a:endParaRPr lang="en-US" sz="1200" dirty="0"/>
          </a:p>
        </p:txBody>
      </p:sp>
      <p:pic>
        <p:nvPicPr>
          <p:cNvPr id="11" name="Image 3" descr="preencoded.png"/>
          <p:cNvPicPr>
            <a:picLocks noChangeAspect="1"/>
          </p:cNvPicPr>
          <p:nvPr/>
        </p:nvPicPr>
        <p:blipFill>
          <a:blip r:embed="rId5"/>
          <a:stretch>
            <a:fillRect/>
          </a:stretch>
        </p:blipFill>
        <p:spPr>
          <a:xfrm>
            <a:off x="4232386" y="3577931"/>
            <a:ext cx="762217" cy="1381224"/>
          </a:xfrm>
          <a:prstGeom prst="rect">
            <a:avLst/>
          </a:prstGeom>
        </p:spPr>
      </p:pic>
      <p:sp>
        <p:nvSpPr>
          <p:cNvPr id="12" name="Text 4"/>
          <p:cNvSpPr/>
          <p:nvPr/>
        </p:nvSpPr>
        <p:spPr>
          <a:xfrm>
            <a:off x="5223228" y="3765550"/>
            <a:ext cx="1905582" cy="293192"/>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Plan</a:t>
            </a:r>
            <a:endParaRPr lang="en-US" sz="1400" dirty="0"/>
          </a:p>
        </p:txBody>
      </p:sp>
      <p:sp>
        <p:nvSpPr>
          <p:cNvPr id="13" name="Text 5"/>
          <p:cNvSpPr/>
          <p:nvPr/>
        </p:nvSpPr>
        <p:spPr>
          <a:xfrm>
            <a:off x="5223226" y="4171258"/>
            <a:ext cx="4133386" cy="600273"/>
          </a:xfrm>
          <a:prstGeom prst="rect">
            <a:avLst/>
          </a:prstGeom>
          <a:noFill/>
          <a:ln/>
        </p:spPr>
        <p:txBody>
          <a:bodyPr wrap="square" lIns="0" tIns="0" rIns="0" bIns="0" rtlCol="0" anchor="t"/>
          <a:lstStyle/>
          <a:p>
            <a:pPr>
              <a:lnSpc>
                <a:spcPts val="1843"/>
              </a:lnSpc>
            </a:pPr>
            <a:r>
              <a:rPr lang="en-US" sz="1200" dirty="0">
                <a:solidFill>
                  <a:srgbClr val="405449"/>
                </a:solidFill>
                <a:latin typeface="Nobile" pitchFamily="34" charset="0"/>
                <a:ea typeface="Nobile" pitchFamily="34" charset="-122"/>
                <a:cs typeface="Nobile" pitchFamily="34" charset="-120"/>
              </a:rPr>
              <a:t>Review the execution plan. Understand proposed changes before applying.</a:t>
            </a:r>
            <a:endParaRPr lang="en-US" sz="1200" dirty="0"/>
          </a:p>
        </p:txBody>
      </p:sp>
      <p:pic>
        <p:nvPicPr>
          <p:cNvPr id="14" name="Image 4" descr="preencoded.png"/>
          <p:cNvPicPr>
            <a:picLocks noChangeAspect="1"/>
          </p:cNvPicPr>
          <p:nvPr/>
        </p:nvPicPr>
        <p:blipFill>
          <a:blip r:embed="rId6"/>
          <a:stretch>
            <a:fillRect/>
          </a:stretch>
        </p:blipFill>
        <p:spPr>
          <a:xfrm>
            <a:off x="4232386" y="4959154"/>
            <a:ext cx="762217" cy="1381224"/>
          </a:xfrm>
          <a:prstGeom prst="rect">
            <a:avLst/>
          </a:prstGeom>
        </p:spPr>
      </p:pic>
      <p:sp>
        <p:nvSpPr>
          <p:cNvPr id="15" name="Text 6"/>
          <p:cNvSpPr/>
          <p:nvPr/>
        </p:nvSpPr>
        <p:spPr>
          <a:xfrm>
            <a:off x="5223228" y="5146774"/>
            <a:ext cx="1905582" cy="293192"/>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Apply</a:t>
            </a:r>
            <a:endParaRPr lang="en-US" sz="1400" dirty="0"/>
          </a:p>
        </p:txBody>
      </p:sp>
      <p:sp>
        <p:nvSpPr>
          <p:cNvPr id="16" name="Text 7"/>
          <p:cNvSpPr/>
          <p:nvPr/>
        </p:nvSpPr>
        <p:spPr>
          <a:xfrm>
            <a:off x="5223226" y="5552481"/>
            <a:ext cx="4133386" cy="600273"/>
          </a:xfrm>
          <a:prstGeom prst="rect">
            <a:avLst/>
          </a:prstGeom>
          <a:noFill/>
          <a:ln/>
        </p:spPr>
        <p:txBody>
          <a:bodyPr wrap="square" lIns="0" tIns="0" rIns="0" bIns="0" rtlCol="0" anchor="t"/>
          <a:lstStyle/>
          <a:p>
            <a:pPr>
              <a:lnSpc>
                <a:spcPts val="1843"/>
              </a:lnSpc>
            </a:pPr>
            <a:r>
              <a:rPr lang="en-US" sz="1200" dirty="0">
                <a:solidFill>
                  <a:srgbClr val="405449"/>
                </a:solidFill>
                <a:latin typeface="Nobile" pitchFamily="34" charset="0"/>
                <a:ea typeface="Nobile" pitchFamily="34" charset="-122"/>
                <a:cs typeface="Nobile" pitchFamily="34" charset="-120"/>
              </a:rPr>
              <a:t>Provision the infrastructure resources. Deploy them into your cloud provider.</a:t>
            </a:r>
            <a:endParaRPr lang="en-US" sz="1200" dirty="0"/>
          </a:p>
        </p:txBody>
      </p:sp>
      <p:sp>
        <p:nvSpPr>
          <p:cNvPr id="18" name="Action Button: Go Forward or Next 15">
            <a:hlinkClick r:id="" action="ppaction://hlinkshowjump?jump=nextslide" highlightClick="1"/>
            <a:extLst>
              <a:ext uri="{FF2B5EF4-FFF2-40B4-BE49-F238E27FC236}">
                <a16:creationId xmlns="" xmlns:a16="http://schemas.microsoft.com/office/drawing/2014/main" id="{29B1AE3E-5FB2-75BF-5DC4-86B6A1383BDD}"/>
              </a:ext>
            </a:extLst>
          </p:cNvPr>
          <p:cNvSpPr/>
          <p:nvPr/>
        </p:nvSpPr>
        <p:spPr>
          <a:xfrm>
            <a:off x="9423908" y="6567317"/>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9" name="Action Button: Go Back or Previous 16">
            <a:hlinkClick r:id="" action="ppaction://hlinkshowjump?jump=previousslide" highlightClick="1"/>
            <a:extLst>
              <a:ext uri="{FF2B5EF4-FFF2-40B4-BE49-F238E27FC236}">
                <a16:creationId xmlns="" xmlns:a16="http://schemas.microsoft.com/office/drawing/2014/main" id="{F6125835-6AFA-AF43-7923-723129E7017A}"/>
              </a:ext>
            </a:extLst>
          </p:cNvPr>
          <p:cNvSpPr/>
          <p:nvPr/>
        </p:nvSpPr>
        <p:spPr>
          <a:xfrm>
            <a:off x="8420100"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1" name="Action Button: Go Home 5">
            <a:hlinkClick r:id="rId7"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4060747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65100" y="2"/>
            <a:ext cx="9740900" cy="2362696"/>
          </a:xfrm>
          <a:prstGeom prst="rect">
            <a:avLst/>
          </a:prstGeom>
        </p:spPr>
      </p:pic>
      <p:sp>
        <p:nvSpPr>
          <p:cNvPr id="3" name="Text 0"/>
          <p:cNvSpPr/>
          <p:nvPr/>
        </p:nvSpPr>
        <p:spPr>
          <a:xfrm>
            <a:off x="660402" y="2889205"/>
            <a:ext cx="6509708"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Configuration and Cloud Provider</a:t>
            </a:r>
            <a:endParaRPr lang="en-US" sz="2900" dirty="0">
              <a:solidFill>
                <a:srgbClr val="0070C0"/>
              </a:solidFill>
            </a:endParaRPr>
          </a:p>
        </p:txBody>
      </p:sp>
      <p:pic>
        <p:nvPicPr>
          <p:cNvPr id="4" name="Image 1" descr="preencoded.png"/>
          <p:cNvPicPr>
            <a:picLocks noChangeAspect="1"/>
          </p:cNvPicPr>
          <p:nvPr/>
        </p:nvPicPr>
        <p:blipFill>
          <a:blip r:embed="rId3"/>
          <a:stretch>
            <a:fillRect/>
          </a:stretch>
        </p:blipFill>
        <p:spPr>
          <a:xfrm>
            <a:off x="1073152" y="4020067"/>
            <a:ext cx="377491" cy="472480"/>
          </a:xfrm>
          <a:prstGeom prst="rect">
            <a:avLst/>
          </a:prstGeom>
        </p:spPr>
      </p:pic>
      <p:sp>
        <p:nvSpPr>
          <p:cNvPr id="5" name="Text 1"/>
          <p:cNvSpPr/>
          <p:nvPr/>
        </p:nvSpPr>
        <p:spPr>
          <a:xfrm>
            <a:off x="506795" y="4588111"/>
            <a:ext cx="1887695"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Configuration</a:t>
            </a:r>
            <a:endParaRPr lang="en-US" sz="1400" dirty="0"/>
          </a:p>
        </p:txBody>
      </p:sp>
      <p:sp>
        <p:nvSpPr>
          <p:cNvPr id="6" name="Text 2"/>
          <p:cNvSpPr/>
          <p:nvPr/>
        </p:nvSpPr>
        <p:spPr>
          <a:xfrm>
            <a:off x="408921" y="5128818"/>
            <a:ext cx="2743593"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Terraform configurations define resources. This defines your infrastructure.</a:t>
            </a:r>
            <a:endParaRPr lang="en-US" sz="1200" dirty="0"/>
          </a:p>
        </p:txBody>
      </p:sp>
      <p:pic>
        <p:nvPicPr>
          <p:cNvPr id="7" name="Image 2" descr="preencoded.png"/>
          <p:cNvPicPr>
            <a:picLocks noChangeAspect="1"/>
          </p:cNvPicPr>
          <p:nvPr/>
        </p:nvPicPr>
        <p:blipFill>
          <a:blip r:embed="rId4"/>
          <a:stretch>
            <a:fillRect/>
          </a:stretch>
        </p:blipFill>
        <p:spPr>
          <a:xfrm>
            <a:off x="3900307" y="3967058"/>
            <a:ext cx="377491" cy="472480"/>
          </a:xfrm>
          <a:prstGeom prst="rect">
            <a:avLst/>
          </a:prstGeom>
        </p:spPr>
      </p:pic>
      <p:sp>
        <p:nvSpPr>
          <p:cNvPr id="8" name="Text 3"/>
          <p:cNvSpPr/>
          <p:nvPr/>
        </p:nvSpPr>
        <p:spPr>
          <a:xfrm>
            <a:off x="3549651" y="4588109"/>
            <a:ext cx="1887695"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Cloud Providers</a:t>
            </a:r>
            <a:endParaRPr lang="en-US" sz="1400" dirty="0"/>
          </a:p>
        </p:txBody>
      </p:sp>
      <p:sp>
        <p:nvSpPr>
          <p:cNvPr id="9" name="Text 4"/>
          <p:cNvSpPr/>
          <p:nvPr/>
        </p:nvSpPr>
        <p:spPr>
          <a:xfrm>
            <a:off x="3549652" y="5015636"/>
            <a:ext cx="2743671"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Terraform interacts with cloud platforms. AWS, Azure, GCP are examples.</a:t>
            </a:r>
            <a:endParaRPr lang="en-US" sz="1200" dirty="0"/>
          </a:p>
        </p:txBody>
      </p:sp>
      <p:pic>
        <p:nvPicPr>
          <p:cNvPr id="10" name="Image 3" descr="preencoded.png"/>
          <p:cNvPicPr>
            <a:picLocks noChangeAspect="1"/>
          </p:cNvPicPr>
          <p:nvPr/>
        </p:nvPicPr>
        <p:blipFill>
          <a:blip r:embed="rId5"/>
          <a:stretch>
            <a:fillRect/>
          </a:stretch>
        </p:blipFill>
        <p:spPr>
          <a:xfrm>
            <a:off x="7433362" y="3956164"/>
            <a:ext cx="377491" cy="472480"/>
          </a:xfrm>
          <a:prstGeom prst="rect">
            <a:avLst/>
          </a:prstGeom>
        </p:spPr>
      </p:pic>
      <p:sp>
        <p:nvSpPr>
          <p:cNvPr id="11" name="Text 5"/>
          <p:cNvSpPr/>
          <p:nvPr/>
        </p:nvSpPr>
        <p:spPr>
          <a:xfrm>
            <a:off x="6867005" y="4495841"/>
            <a:ext cx="1887695"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Modules</a:t>
            </a:r>
            <a:endParaRPr lang="en-US" sz="1400" dirty="0"/>
          </a:p>
        </p:txBody>
      </p:sp>
      <p:sp>
        <p:nvSpPr>
          <p:cNvPr id="12" name="Text 6"/>
          <p:cNvSpPr/>
          <p:nvPr/>
        </p:nvSpPr>
        <p:spPr>
          <a:xfrm>
            <a:off x="6867005" y="4936617"/>
            <a:ext cx="2743593"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Reusable configurations are encapsulated. They simplify complex deployments.</a:t>
            </a:r>
            <a:endParaRPr lang="en-US" sz="1200" dirty="0"/>
          </a:p>
        </p:txBody>
      </p:sp>
      <p:sp>
        <p:nvSpPr>
          <p:cNvPr id="14" name="Action Button: Go Forward or Next 13">
            <a:hlinkClick r:id="" action="ppaction://hlinkshowjump?jump=nextslide" highlightClick="1"/>
            <a:extLst>
              <a:ext uri="{FF2B5EF4-FFF2-40B4-BE49-F238E27FC236}">
                <a16:creationId xmlns="" xmlns:a16="http://schemas.microsoft.com/office/drawing/2014/main" id="{CC7E2551-FC6B-97D5-FD35-CC52884DFAFC}"/>
              </a:ext>
            </a:extLst>
          </p:cNvPr>
          <p:cNvSpPr/>
          <p:nvPr/>
        </p:nvSpPr>
        <p:spPr>
          <a:xfrm>
            <a:off x="9418956" y="6557688"/>
            <a:ext cx="487046"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5" name="Action Button: Go Back or Previous 14">
            <a:hlinkClick r:id="" action="ppaction://hlinkshowjump?jump=previousslide" highlightClick="1"/>
            <a:extLst>
              <a:ext uri="{FF2B5EF4-FFF2-40B4-BE49-F238E27FC236}">
                <a16:creationId xmlns="" xmlns:a16="http://schemas.microsoft.com/office/drawing/2014/main" id="{6C389869-C83F-18FD-21E3-C4D636BB191D}"/>
              </a:ext>
            </a:extLst>
          </p:cNvPr>
          <p:cNvSpPr/>
          <p:nvPr/>
        </p:nvSpPr>
        <p:spPr>
          <a:xfrm>
            <a:off x="8428356" y="6553203"/>
            <a:ext cx="487046"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Home 5">
            <a:hlinkClick r:id="rId6"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9261091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8493" y="381003"/>
            <a:ext cx="7204908" cy="590649"/>
          </a:xfrm>
          <a:prstGeom prst="rect">
            <a:avLst/>
          </a:prstGeom>
          <a:noFill/>
          <a:ln/>
        </p:spPr>
        <p:txBody>
          <a:bodyPr wrap="none" lIns="0" tIns="0" rIns="0" bIns="0" rtlCol="0" anchor="t"/>
          <a:lstStyle/>
          <a:p>
            <a:pPr>
              <a:lnSpc>
                <a:spcPts val="3654"/>
              </a:lnSpc>
            </a:pPr>
            <a:r>
              <a:rPr lang="en-US" sz="2900" b="1" dirty="0">
                <a:solidFill>
                  <a:srgbClr val="0070C0"/>
                </a:solidFill>
                <a:latin typeface="Unbounded Bold" pitchFamily="34" charset="0"/>
                <a:ea typeface="Unbounded Bold" pitchFamily="34" charset="-122"/>
                <a:cs typeface="Unbounded Bold" pitchFamily="34" charset="-120"/>
              </a:rPr>
              <a:t>Terraform for Cloud Providers</a:t>
            </a:r>
            <a:endParaRPr lang="en-US" sz="2900" dirty="0">
              <a:solidFill>
                <a:srgbClr val="0070C0"/>
              </a:solidFill>
            </a:endParaRPr>
          </a:p>
        </p:txBody>
      </p:sp>
      <p:sp>
        <p:nvSpPr>
          <p:cNvPr id="3" name="Text 1"/>
          <p:cNvSpPr/>
          <p:nvPr/>
        </p:nvSpPr>
        <p:spPr>
          <a:xfrm>
            <a:off x="505700" y="1300165"/>
            <a:ext cx="1919690" cy="295275"/>
          </a:xfrm>
          <a:prstGeom prst="rect">
            <a:avLst/>
          </a:prstGeom>
          <a:noFill/>
          <a:ln/>
        </p:spPr>
        <p:txBody>
          <a:bodyPr wrap="none" lIns="0" tIns="0" rIns="0" bIns="0" rtlCol="0" anchor="t"/>
          <a:lstStyle/>
          <a:p>
            <a:pPr>
              <a:lnSpc>
                <a:spcPts val="1811"/>
              </a:lnSpc>
            </a:pPr>
            <a:r>
              <a:rPr lang="en-US" sz="1400" b="1" dirty="0">
                <a:solidFill>
                  <a:srgbClr val="333F70"/>
                </a:solidFill>
                <a:latin typeface="Unbounded Bold" pitchFamily="34" charset="0"/>
                <a:ea typeface="Unbounded Bold" pitchFamily="34" charset="-122"/>
                <a:cs typeface="Unbounded Bold" pitchFamily="34" charset="-120"/>
              </a:rPr>
              <a:t>AWS</a:t>
            </a:r>
            <a:endParaRPr lang="en-US" sz="1400" b="1" dirty="0"/>
          </a:p>
        </p:txBody>
      </p:sp>
      <p:sp>
        <p:nvSpPr>
          <p:cNvPr id="4" name="Text 2"/>
          <p:cNvSpPr/>
          <p:nvPr/>
        </p:nvSpPr>
        <p:spPr>
          <a:xfrm>
            <a:off x="454542" y="1676401"/>
            <a:ext cx="2435339" cy="907257"/>
          </a:xfrm>
          <a:prstGeom prst="rect">
            <a:avLst/>
          </a:prstGeom>
          <a:noFill/>
          <a:ln/>
        </p:spPr>
        <p:txBody>
          <a:bodyPr wrap="square" lIns="0" tIns="0" rIns="0" bIns="0" rtlCol="0" anchor="t"/>
          <a:lstStyle/>
          <a:p>
            <a:r>
              <a:rPr lang="en-US" sz="1200" dirty="0">
                <a:solidFill>
                  <a:srgbClr val="333F70"/>
                </a:solidFill>
                <a:latin typeface="Open Sans" pitchFamily="34" charset="0"/>
                <a:ea typeface="Open Sans" pitchFamily="34" charset="-122"/>
                <a:cs typeface="Open Sans" pitchFamily="34" charset="-120"/>
              </a:rPr>
              <a:t>Terraform supports a wide range of AWS services, including EC2, S3, and VPC.</a:t>
            </a:r>
            <a:endParaRPr lang="en-US" sz="1200" dirty="0"/>
          </a:p>
        </p:txBody>
      </p:sp>
      <p:sp>
        <p:nvSpPr>
          <p:cNvPr id="5" name="Text 3"/>
          <p:cNvSpPr/>
          <p:nvPr/>
        </p:nvSpPr>
        <p:spPr>
          <a:xfrm>
            <a:off x="3395529" y="1300164"/>
            <a:ext cx="1919690" cy="295275"/>
          </a:xfrm>
          <a:prstGeom prst="rect">
            <a:avLst/>
          </a:prstGeom>
          <a:noFill/>
          <a:ln/>
        </p:spPr>
        <p:txBody>
          <a:bodyPr wrap="none" lIns="0" tIns="0" rIns="0" bIns="0" rtlCol="0" anchor="t"/>
          <a:lstStyle/>
          <a:p>
            <a:pPr>
              <a:lnSpc>
                <a:spcPts val="1811"/>
              </a:lnSpc>
            </a:pPr>
            <a:r>
              <a:rPr lang="en-US" sz="1400" b="1" dirty="0">
                <a:solidFill>
                  <a:srgbClr val="333F70"/>
                </a:solidFill>
                <a:latin typeface="Unbounded Bold" pitchFamily="34" charset="0"/>
                <a:ea typeface="Unbounded Bold" pitchFamily="34" charset="-122"/>
                <a:cs typeface="Unbounded Bold" pitchFamily="34" charset="-120"/>
              </a:rPr>
              <a:t>Azure</a:t>
            </a:r>
            <a:endParaRPr lang="en-US" sz="1400" dirty="0"/>
          </a:p>
        </p:txBody>
      </p:sp>
      <p:sp>
        <p:nvSpPr>
          <p:cNvPr id="6" name="Text 4"/>
          <p:cNvSpPr/>
          <p:nvPr/>
        </p:nvSpPr>
        <p:spPr>
          <a:xfrm>
            <a:off x="3374302" y="1645921"/>
            <a:ext cx="2693518" cy="907257"/>
          </a:xfrm>
          <a:prstGeom prst="rect">
            <a:avLst/>
          </a:prstGeom>
          <a:noFill/>
          <a:ln/>
        </p:spPr>
        <p:txBody>
          <a:bodyPr wrap="square" lIns="0" tIns="0" rIns="0" bIns="0" rtlCol="0" anchor="t"/>
          <a:lstStyle/>
          <a:p>
            <a:pPr>
              <a:lnSpc>
                <a:spcPts val="1877"/>
              </a:lnSpc>
            </a:pPr>
            <a:r>
              <a:rPr lang="en-US" sz="1200" dirty="0">
                <a:solidFill>
                  <a:srgbClr val="333F70"/>
                </a:solidFill>
                <a:latin typeface="Open Sans" pitchFamily="34" charset="0"/>
                <a:ea typeface="Open Sans" pitchFamily="34" charset="-122"/>
                <a:cs typeface="Open Sans" pitchFamily="34" charset="-120"/>
              </a:rPr>
              <a:t>Terraform can be used to deploy and manage Azure resources like virtual machines, storage, and networking.</a:t>
            </a:r>
            <a:endParaRPr lang="en-US" sz="1200" dirty="0"/>
          </a:p>
        </p:txBody>
      </p:sp>
      <p:sp>
        <p:nvSpPr>
          <p:cNvPr id="7" name="Text 5"/>
          <p:cNvSpPr/>
          <p:nvPr/>
        </p:nvSpPr>
        <p:spPr>
          <a:xfrm>
            <a:off x="3469622" y="2653125"/>
            <a:ext cx="1919690" cy="295275"/>
          </a:xfrm>
          <a:prstGeom prst="rect">
            <a:avLst/>
          </a:prstGeom>
          <a:noFill/>
          <a:ln/>
        </p:spPr>
        <p:txBody>
          <a:bodyPr wrap="none" lIns="0" tIns="0" rIns="0" bIns="0" rtlCol="0" anchor="t"/>
          <a:lstStyle/>
          <a:p>
            <a:pPr>
              <a:lnSpc>
                <a:spcPts val="1811"/>
              </a:lnSpc>
            </a:pPr>
            <a:r>
              <a:rPr lang="en-US" sz="1400" b="1" dirty="0">
                <a:solidFill>
                  <a:srgbClr val="333F70"/>
                </a:solidFill>
                <a:latin typeface="Unbounded Bold" pitchFamily="34" charset="0"/>
                <a:ea typeface="Unbounded Bold" pitchFamily="34" charset="-122"/>
                <a:cs typeface="Unbounded Bold" pitchFamily="34" charset="-120"/>
              </a:rPr>
              <a:t>GCP</a:t>
            </a:r>
            <a:endParaRPr lang="en-US" sz="1400" dirty="0"/>
          </a:p>
        </p:txBody>
      </p:sp>
      <p:sp>
        <p:nvSpPr>
          <p:cNvPr id="8" name="Text 6"/>
          <p:cNvSpPr/>
          <p:nvPr/>
        </p:nvSpPr>
        <p:spPr>
          <a:xfrm>
            <a:off x="3446037" y="2985427"/>
            <a:ext cx="2693518" cy="1209675"/>
          </a:xfrm>
          <a:prstGeom prst="rect">
            <a:avLst/>
          </a:prstGeom>
          <a:noFill/>
          <a:ln/>
        </p:spPr>
        <p:txBody>
          <a:bodyPr wrap="square" lIns="0" tIns="0" rIns="0" bIns="0" rtlCol="0" anchor="t"/>
          <a:lstStyle/>
          <a:p>
            <a:pPr>
              <a:lnSpc>
                <a:spcPts val="1877"/>
              </a:lnSpc>
            </a:pPr>
            <a:r>
              <a:rPr lang="en-US" sz="1200" dirty="0">
                <a:solidFill>
                  <a:srgbClr val="333F70"/>
                </a:solidFill>
                <a:latin typeface="Open Sans" pitchFamily="34" charset="0"/>
                <a:ea typeface="Open Sans" pitchFamily="34" charset="-122"/>
                <a:cs typeface="Open Sans" pitchFamily="34" charset="-120"/>
              </a:rPr>
              <a:t>Terraform provides support for Google Cloud Platform services, such as Compute Engine, Cloud Storage, and Cloud SQL.</a:t>
            </a:r>
            <a:endParaRPr lang="en-US" sz="1200" dirty="0"/>
          </a:p>
        </p:txBody>
      </p:sp>
      <p:sp>
        <p:nvSpPr>
          <p:cNvPr id="10" name="Action Button: Go Forward or Next 9">
            <a:hlinkClick r:id="" action="ppaction://hlinkshowjump?jump=nextslide" highlightClick="1"/>
            <a:extLst>
              <a:ext uri="{FF2B5EF4-FFF2-40B4-BE49-F238E27FC236}">
                <a16:creationId xmlns="" xmlns:a16="http://schemas.microsoft.com/office/drawing/2014/main" id="{93028C4E-C3A4-0CEE-2957-FD2EF0ADC2B3}"/>
              </a:ext>
            </a:extLst>
          </p:cNvPr>
          <p:cNvSpPr/>
          <p:nvPr/>
        </p:nvSpPr>
        <p:spPr>
          <a:xfrm>
            <a:off x="9410700"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1" name="Action Button: Go Back or Previous 10">
            <a:hlinkClick r:id="" action="ppaction://hlinkshowjump?jump=previousslide" highlightClick="1"/>
            <a:extLst>
              <a:ext uri="{FF2B5EF4-FFF2-40B4-BE49-F238E27FC236}">
                <a16:creationId xmlns="" xmlns:a16="http://schemas.microsoft.com/office/drawing/2014/main" id="{EDC528A5-F48B-43CC-26D5-BACA325BF428}"/>
              </a:ext>
            </a:extLst>
          </p:cNvPr>
          <p:cNvSpPr/>
          <p:nvPr/>
        </p:nvSpPr>
        <p:spPr>
          <a:xfrm>
            <a:off x="8406892"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3"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pic>
        <p:nvPicPr>
          <p:cNvPr id="2050" name="Picture 2" descr="Infrastructure as Code using Terraform on AWS Cloud(using EFS instead of  EBS) | by Dipaditya Das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821" y="2371064"/>
            <a:ext cx="3267844" cy="24384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488884" y="4320039"/>
            <a:ext cx="1768694" cy="317684"/>
          </a:xfrm>
          <a:prstGeom prst="rect">
            <a:avLst/>
          </a:prstGeom>
        </p:spPr>
        <p:txBody>
          <a:bodyPr wrap="none" lIns="86013" tIns="43006" rIns="86013" bIns="43006">
            <a:spAutoFit/>
          </a:bodyPr>
          <a:lstStyle/>
          <a:p>
            <a:pPr>
              <a:lnSpc>
                <a:spcPts val="1811"/>
              </a:lnSpc>
            </a:pPr>
            <a:r>
              <a:rPr lang="en-US" sz="1500" b="1" dirty="0">
                <a:latin typeface="Unbounded Bold"/>
                <a:ea typeface="Unbounded Bold"/>
              </a:rPr>
              <a:t>Kubernetes (K8s)</a:t>
            </a:r>
            <a:endParaRPr lang="en-US" sz="1400" b="1" dirty="0">
              <a:latin typeface="Unbounded Bold"/>
              <a:ea typeface="Unbounded Bold"/>
            </a:endParaRPr>
          </a:p>
        </p:txBody>
      </p:sp>
      <p:sp>
        <p:nvSpPr>
          <p:cNvPr id="12" name="Rectangle 11"/>
          <p:cNvSpPr/>
          <p:nvPr/>
        </p:nvSpPr>
        <p:spPr>
          <a:xfrm>
            <a:off x="521497" y="4676069"/>
            <a:ext cx="2476500" cy="817821"/>
          </a:xfrm>
          <a:prstGeom prst="rect">
            <a:avLst/>
          </a:prstGeom>
        </p:spPr>
        <p:txBody>
          <a:bodyPr wrap="square" lIns="86013" tIns="43006" rIns="86013" bIns="43006">
            <a:spAutoFit/>
          </a:bodyPr>
          <a:lstStyle/>
          <a:p>
            <a:pPr>
              <a:lnSpc>
                <a:spcPts val="1877"/>
              </a:lnSpc>
            </a:pPr>
            <a:r>
              <a:rPr lang="en-US" sz="1200" dirty="0">
                <a:latin typeface="Open Sans"/>
                <a:ea typeface="Open Sans"/>
                <a:cs typeface="Times New Roman" pitchFamily="18" charset="0"/>
              </a:rPr>
              <a:t>Container orchestration for automated deployment and scaling.</a:t>
            </a:r>
          </a:p>
        </p:txBody>
      </p:sp>
      <p:sp>
        <p:nvSpPr>
          <p:cNvPr id="14" name="Rectangle 13"/>
          <p:cNvSpPr/>
          <p:nvPr/>
        </p:nvSpPr>
        <p:spPr>
          <a:xfrm>
            <a:off x="470852" y="2616097"/>
            <a:ext cx="1108257" cy="302296"/>
          </a:xfrm>
          <a:prstGeom prst="rect">
            <a:avLst/>
          </a:prstGeom>
        </p:spPr>
        <p:txBody>
          <a:bodyPr wrap="none" lIns="86013" tIns="43006" rIns="86013" bIns="43006">
            <a:spAutoFit/>
          </a:bodyPr>
          <a:lstStyle/>
          <a:p>
            <a:r>
              <a:rPr lang="en-US" sz="1400" b="1" dirty="0">
                <a:latin typeface="Unbounded Bold"/>
                <a:ea typeface="Unbounded Bold"/>
              </a:rPr>
              <a:t>OpenStack</a:t>
            </a:r>
          </a:p>
        </p:txBody>
      </p:sp>
      <p:sp>
        <p:nvSpPr>
          <p:cNvPr id="15" name="Rectangle 14"/>
          <p:cNvSpPr/>
          <p:nvPr/>
        </p:nvSpPr>
        <p:spPr>
          <a:xfrm>
            <a:off x="349936" y="2971414"/>
            <a:ext cx="2384179" cy="470688"/>
          </a:xfrm>
          <a:prstGeom prst="rect">
            <a:avLst/>
          </a:prstGeom>
        </p:spPr>
        <p:txBody>
          <a:bodyPr wrap="square" lIns="86013" tIns="43006" rIns="86013" bIns="43006">
            <a:spAutoFit/>
          </a:bodyPr>
          <a:lstStyle/>
          <a:p>
            <a:r>
              <a:rPr lang="en-US" sz="1200" dirty="0">
                <a:latin typeface="Open Sans"/>
                <a:ea typeface="Open Sans"/>
              </a:rPr>
              <a:t>Open-source cloud for private and public cloud infrastructure.</a:t>
            </a:r>
          </a:p>
        </p:txBody>
      </p:sp>
      <p:sp>
        <p:nvSpPr>
          <p:cNvPr id="16" name="Rectangle 15"/>
          <p:cNvSpPr/>
          <p:nvPr/>
        </p:nvSpPr>
        <p:spPr>
          <a:xfrm>
            <a:off x="3374301" y="4320038"/>
            <a:ext cx="2693519" cy="517739"/>
          </a:xfrm>
          <a:prstGeom prst="rect">
            <a:avLst/>
          </a:prstGeom>
        </p:spPr>
        <p:txBody>
          <a:bodyPr wrap="square" lIns="86013" tIns="43006" rIns="86013" bIns="43006">
            <a:spAutoFit/>
          </a:bodyPr>
          <a:lstStyle/>
          <a:p>
            <a:r>
              <a:rPr lang="en-US" sz="1400" b="1" dirty="0">
                <a:latin typeface="Unbounded Bold"/>
                <a:ea typeface="Unbounded Bold"/>
              </a:rPr>
              <a:t>Oracle Cloud Infrastructure (OCI )</a:t>
            </a:r>
          </a:p>
        </p:txBody>
      </p:sp>
      <p:sp>
        <p:nvSpPr>
          <p:cNvPr id="17" name="Rectangle 16"/>
          <p:cNvSpPr/>
          <p:nvPr/>
        </p:nvSpPr>
        <p:spPr>
          <a:xfrm>
            <a:off x="3470567" y="4874038"/>
            <a:ext cx="2597254" cy="470688"/>
          </a:xfrm>
          <a:prstGeom prst="rect">
            <a:avLst/>
          </a:prstGeom>
        </p:spPr>
        <p:txBody>
          <a:bodyPr wrap="square" lIns="86013" tIns="43006" rIns="86013" bIns="43006">
            <a:spAutoFit/>
          </a:bodyPr>
          <a:lstStyle/>
          <a:p>
            <a:r>
              <a:rPr lang="en-US" sz="1200" dirty="0"/>
              <a:t>Enterprise-grade cloud for databases and applications.</a:t>
            </a:r>
          </a:p>
        </p:txBody>
      </p:sp>
    </p:spTree>
    <p:extLst>
      <p:ext uri="{BB962C8B-B14F-4D97-AF65-F5344CB8AC3E}">
        <p14:creationId xmlns:p14="http://schemas.microsoft.com/office/powerpoint/2010/main" val="3282251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85040" y="455946"/>
            <a:ext cx="3839462"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Terraform Modules</a:t>
            </a:r>
            <a:endParaRPr lang="en-US" sz="2900" dirty="0">
              <a:solidFill>
                <a:srgbClr val="0070C0"/>
              </a:solidFill>
            </a:endParaRPr>
          </a:p>
        </p:txBody>
      </p:sp>
      <p:pic>
        <p:nvPicPr>
          <p:cNvPr id="5" name="Image 2" descr="preencoded.png"/>
          <p:cNvPicPr>
            <a:picLocks noChangeAspect="1"/>
          </p:cNvPicPr>
          <p:nvPr/>
        </p:nvPicPr>
        <p:blipFill>
          <a:blip r:embed="rId2"/>
          <a:stretch>
            <a:fillRect/>
          </a:stretch>
        </p:blipFill>
        <p:spPr>
          <a:xfrm>
            <a:off x="493244" y="1636116"/>
            <a:ext cx="383890" cy="472480"/>
          </a:xfrm>
          <a:prstGeom prst="rect">
            <a:avLst/>
          </a:prstGeom>
        </p:spPr>
      </p:pic>
      <p:sp>
        <p:nvSpPr>
          <p:cNvPr id="6" name="Text 1"/>
          <p:cNvSpPr/>
          <p:nvPr/>
        </p:nvSpPr>
        <p:spPr>
          <a:xfrm>
            <a:off x="493247" y="2297611"/>
            <a:ext cx="1551844"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Reusable</a:t>
            </a:r>
            <a:endParaRPr lang="en-US" sz="1400" dirty="0"/>
          </a:p>
        </p:txBody>
      </p:sp>
      <p:sp>
        <p:nvSpPr>
          <p:cNvPr id="7" name="Text 2"/>
          <p:cNvSpPr/>
          <p:nvPr/>
        </p:nvSpPr>
        <p:spPr>
          <a:xfrm>
            <a:off x="493247" y="2706290"/>
            <a:ext cx="1551844"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Self-contained packages of configurations.</a:t>
            </a:r>
            <a:endParaRPr lang="en-US" sz="1200" dirty="0"/>
          </a:p>
        </p:txBody>
      </p:sp>
      <p:pic>
        <p:nvPicPr>
          <p:cNvPr id="8" name="Image 3" descr="preencoded.png"/>
          <p:cNvPicPr>
            <a:picLocks noChangeAspect="1"/>
          </p:cNvPicPr>
          <p:nvPr/>
        </p:nvPicPr>
        <p:blipFill>
          <a:blip r:embed="rId3"/>
          <a:stretch>
            <a:fillRect/>
          </a:stretch>
        </p:blipFill>
        <p:spPr>
          <a:xfrm>
            <a:off x="2275405" y="1636116"/>
            <a:ext cx="383890" cy="472480"/>
          </a:xfrm>
          <a:prstGeom prst="rect">
            <a:avLst/>
          </a:prstGeom>
        </p:spPr>
      </p:pic>
      <p:sp>
        <p:nvSpPr>
          <p:cNvPr id="9" name="Text 3"/>
          <p:cNvSpPr/>
          <p:nvPr/>
        </p:nvSpPr>
        <p:spPr>
          <a:xfrm>
            <a:off x="2275407" y="2297606"/>
            <a:ext cx="1551924" cy="590550"/>
          </a:xfrm>
          <a:prstGeom prst="rect">
            <a:avLst/>
          </a:prstGeom>
          <a:noFill/>
          <a:ln/>
        </p:spPr>
        <p:txBody>
          <a:bodyPr wrap="squar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Module Structure</a:t>
            </a:r>
            <a:endParaRPr lang="en-US" sz="1400" dirty="0"/>
          </a:p>
        </p:txBody>
      </p:sp>
      <p:sp>
        <p:nvSpPr>
          <p:cNvPr id="10" name="Text 4"/>
          <p:cNvSpPr/>
          <p:nvPr/>
        </p:nvSpPr>
        <p:spPr>
          <a:xfrm>
            <a:off x="2275407" y="3001565"/>
            <a:ext cx="1551924" cy="907257"/>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`main.tf`, `variables.tf`, and `outputs.tf` files.</a:t>
            </a:r>
            <a:endParaRPr lang="en-US" sz="1200" dirty="0"/>
          </a:p>
        </p:txBody>
      </p:sp>
      <p:pic>
        <p:nvPicPr>
          <p:cNvPr id="11" name="Image 4" descr="preencoded.png"/>
          <p:cNvPicPr>
            <a:picLocks noChangeAspect="1"/>
          </p:cNvPicPr>
          <p:nvPr/>
        </p:nvPicPr>
        <p:blipFill>
          <a:blip r:embed="rId4"/>
          <a:stretch>
            <a:fillRect/>
          </a:stretch>
        </p:blipFill>
        <p:spPr>
          <a:xfrm>
            <a:off x="4057646" y="1636116"/>
            <a:ext cx="383890" cy="472480"/>
          </a:xfrm>
          <a:prstGeom prst="rect">
            <a:avLst/>
          </a:prstGeom>
        </p:spPr>
      </p:pic>
      <p:sp>
        <p:nvSpPr>
          <p:cNvPr id="12" name="Text 5"/>
          <p:cNvSpPr/>
          <p:nvPr/>
        </p:nvSpPr>
        <p:spPr>
          <a:xfrm>
            <a:off x="4057648" y="2297611"/>
            <a:ext cx="1551844"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Registry</a:t>
            </a:r>
            <a:endParaRPr lang="en-US" sz="1400" dirty="0"/>
          </a:p>
        </p:txBody>
      </p:sp>
      <p:sp>
        <p:nvSpPr>
          <p:cNvPr id="13" name="Text 6"/>
          <p:cNvSpPr/>
          <p:nvPr/>
        </p:nvSpPr>
        <p:spPr>
          <a:xfrm>
            <a:off x="4057648" y="2706289"/>
            <a:ext cx="1551844"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Public repository for module discovery.</a:t>
            </a:r>
            <a:endParaRPr lang="en-US" sz="1200" dirty="0"/>
          </a:p>
        </p:txBody>
      </p:sp>
      <p:sp>
        <p:nvSpPr>
          <p:cNvPr id="15" name="Action Button: Go Forward or Next 14">
            <a:hlinkClick r:id="" action="ppaction://hlinkshowjump?jump=nextslide" highlightClick="1"/>
            <a:extLst>
              <a:ext uri="{FF2B5EF4-FFF2-40B4-BE49-F238E27FC236}">
                <a16:creationId xmlns="" xmlns:a16="http://schemas.microsoft.com/office/drawing/2014/main" id="{1B13E910-040E-AEB9-3E27-BAD6A51B1222}"/>
              </a:ext>
            </a:extLst>
          </p:cNvPr>
          <p:cNvSpPr/>
          <p:nvPr/>
        </p:nvSpPr>
        <p:spPr>
          <a:xfrm>
            <a:off x="9430391"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6" name="Action Button: Go Back or Previous 15">
            <a:hlinkClick r:id="" action="ppaction://hlinkshowjump?jump=previousslide" highlightClick="1"/>
            <a:extLst>
              <a:ext uri="{FF2B5EF4-FFF2-40B4-BE49-F238E27FC236}">
                <a16:creationId xmlns="" xmlns:a16="http://schemas.microsoft.com/office/drawing/2014/main" id="{AF9AD588-3A0D-557A-9441-5DFDF20AC3D5}"/>
              </a:ext>
            </a:extLst>
          </p:cNvPr>
          <p:cNvSpPr/>
          <p:nvPr/>
        </p:nvSpPr>
        <p:spPr>
          <a:xfrm>
            <a:off x="8422701"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8" name="Action Button: Go Home 5">
            <a:hlinkClick r:id="rId5"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pic>
        <p:nvPicPr>
          <p:cNvPr id="1026" name="Picture 2" descr="Terraform Modules. Terraform is the leading open-source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1052" y="1057324"/>
            <a:ext cx="3562858" cy="4352876"/>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 4" descr="preencoded.png"/>
          <p:cNvPicPr>
            <a:picLocks noChangeAspect="1"/>
          </p:cNvPicPr>
          <p:nvPr/>
        </p:nvPicPr>
        <p:blipFill>
          <a:blip r:embed="rId7"/>
          <a:stretch>
            <a:fillRect/>
          </a:stretch>
        </p:blipFill>
        <p:spPr>
          <a:xfrm>
            <a:off x="522151" y="4049408"/>
            <a:ext cx="550248" cy="507921"/>
          </a:xfrm>
          <a:prstGeom prst="rect">
            <a:avLst/>
          </a:prstGeom>
        </p:spPr>
      </p:pic>
      <p:pic>
        <p:nvPicPr>
          <p:cNvPr id="20" name="Image 5" descr="preencoded.png"/>
          <p:cNvPicPr>
            <a:picLocks noChangeAspect="1"/>
          </p:cNvPicPr>
          <p:nvPr/>
        </p:nvPicPr>
        <p:blipFill>
          <a:blip r:embed="rId8"/>
          <a:stretch>
            <a:fillRect/>
          </a:stretch>
        </p:blipFill>
        <p:spPr>
          <a:xfrm>
            <a:off x="4057649" y="3930072"/>
            <a:ext cx="550248" cy="507921"/>
          </a:xfrm>
          <a:prstGeom prst="rect">
            <a:avLst/>
          </a:prstGeom>
        </p:spPr>
      </p:pic>
      <p:sp>
        <p:nvSpPr>
          <p:cNvPr id="14" name="Rectangle 13"/>
          <p:cNvSpPr/>
          <p:nvPr/>
        </p:nvSpPr>
        <p:spPr>
          <a:xfrm>
            <a:off x="245122" y="4709157"/>
            <a:ext cx="1650072" cy="317684"/>
          </a:xfrm>
          <a:prstGeom prst="rect">
            <a:avLst/>
          </a:prstGeom>
        </p:spPr>
        <p:txBody>
          <a:bodyPr wrap="none" lIns="86013" tIns="43006" rIns="86013" bIns="43006">
            <a:spAutoFit/>
          </a:bodyPr>
          <a:lstStyle/>
          <a:p>
            <a:pPr>
              <a:lnSpc>
                <a:spcPts val="1811"/>
              </a:lnSpc>
            </a:pPr>
            <a:r>
              <a:rPr lang="en-US" sz="1400" b="1" dirty="0"/>
              <a:t>Nested Modules</a:t>
            </a:r>
          </a:p>
        </p:txBody>
      </p:sp>
      <p:sp>
        <p:nvSpPr>
          <p:cNvPr id="17" name="Rectangle 16"/>
          <p:cNvSpPr/>
          <p:nvPr/>
        </p:nvSpPr>
        <p:spPr>
          <a:xfrm>
            <a:off x="3753423" y="4709157"/>
            <a:ext cx="1191613" cy="317684"/>
          </a:xfrm>
          <a:prstGeom prst="rect">
            <a:avLst/>
          </a:prstGeom>
        </p:spPr>
        <p:txBody>
          <a:bodyPr wrap="none" lIns="86013" tIns="43006" rIns="86013" bIns="43006">
            <a:spAutoFit/>
          </a:bodyPr>
          <a:lstStyle/>
          <a:p>
            <a:pPr>
              <a:lnSpc>
                <a:spcPts val="1811"/>
              </a:lnSpc>
            </a:pPr>
            <a:r>
              <a:rPr lang="en-US" sz="1400" b="1" dirty="0"/>
              <a:t>Versioning</a:t>
            </a:r>
          </a:p>
        </p:txBody>
      </p:sp>
      <p:sp>
        <p:nvSpPr>
          <p:cNvPr id="21" name="Rectangle 20"/>
          <p:cNvSpPr/>
          <p:nvPr/>
        </p:nvSpPr>
        <p:spPr>
          <a:xfrm>
            <a:off x="416667" y="5222551"/>
            <a:ext cx="1570978" cy="817821"/>
          </a:xfrm>
          <a:prstGeom prst="rect">
            <a:avLst/>
          </a:prstGeom>
        </p:spPr>
        <p:txBody>
          <a:bodyPr wrap="square" lIns="86013" tIns="43006" rIns="86013" bIns="43006">
            <a:spAutoFit/>
          </a:bodyPr>
          <a:lstStyle/>
          <a:p>
            <a:pPr>
              <a:lnSpc>
                <a:spcPts val="1877"/>
              </a:lnSpc>
            </a:pPr>
            <a:r>
              <a:rPr lang="en-US" sz="1200" dirty="0">
                <a:solidFill>
                  <a:srgbClr val="405449"/>
                </a:solidFill>
                <a:latin typeface="Nobile" pitchFamily="34" charset="0"/>
                <a:ea typeface="Nobile" pitchFamily="34" charset="-122"/>
                <a:cs typeface="Nobile" pitchFamily="34" charset="-120"/>
              </a:rPr>
              <a:t>Self-contained packages of configurations.</a:t>
            </a:r>
            <a:endParaRPr lang="en-US" sz="1200" dirty="0"/>
          </a:p>
        </p:txBody>
      </p:sp>
      <p:sp>
        <p:nvSpPr>
          <p:cNvPr id="22" name="Rectangle 21"/>
          <p:cNvSpPr/>
          <p:nvPr/>
        </p:nvSpPr>
        <p:spPr>
          <a:xfrm>
            <a:off x="3753423" y="5222554"/>
            <a:ext cx="1694879" cy="1061478"/>
          </a:xfrm>
          <a:prstGeom prst="rect">
            <a:avLst/>
          </a:prstGeom>
        </p:spPr>
        <p:txBody>
          <a:bodyPr wrap="square" lIns="86013" tIns="43006" rIns="86013" bIns="43006">
            <a:spAutoFit/>
          </a:bodyPr>
          <a:lstStyle/>
          <a:p>
            <a:pPr>
              <a:lnSpc>
                <a:spcPts val="1877"/>
              </a:lnSpc>
            </a:pPr>
            <a:r>
              <a:rPr lang="en-US" sz="1200" dirty="0"/>
              <a:t>Modules support versioning to ensure consistent deployments.</a:t>
            </a:r>
          </a:p>
        </p:txBody>
      </p:sp>
    </p:spTree>
    <p:extLst>
      <p:ext uri="{BB962C8B-B14F-4D97-AF65-F5344CB8AC3E}">
        <p14:creationId xmlns:p14="http://schemas.microsoft.com/office/powerpoint/2010/main" val="1249258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063751" y="381003"/>
            <a:ext cx="6804651"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Terraform for Automation (CI/CD)</a:t>
            </a:r>
            <a:endParaRPr lang="en-US" sz="2900" dirty="0">
              <a:solidFill>
                <a:srgbClr val="0070C0"/>
              </a:solidFill>
            </a:endParaRPr>
          </a:p>
        </p:txBody>
      </p:sp>
      <p:sp>
        <p:nvSpPr>
          <p:cNvPr id="5" name="Shape 1"/>
          <p:cNvSpPr/>
          <p:nvPr/>
        </p:nvSpPr>
        <p:spPr>
          <a:xfrm>
            <a:off x="2322396" y="1237352"/>
            <a:ext cx="1471792" cy="673298"/>
          </a:xfrm>
          <a:prstGeom prst="roundRect">
            <a:avLst>
              <a:gd name="adj" fmla="val 25267"/>
            </a:avLst>
          </a:prstGeom>
          <a:solidFill>
            <a:srgbClr val="E8F3E8"/>
          </a:solidFill>
          <a:ln/>
        </p:spPr>
      </p:sp>
      <p:sp>
        <p:nvSpPr>
          <p:cNvPr id="6" name="Text 2"/>
          <p:cNvSpPr/>
          <p:nvPr/>
        </p:nvSpPr>
        <p:spPr>
          <a:xfrm>
            <a:off x="2924358" y="1412411"/>
            <a:ext cx="215967" cy="332184"/>
          </a:xfrm>
          <a:prstGeom prst="rect">
            <a:avLst/>
          </a:prstGeom>
          <a:noFill/>
          <a:ln/>
        </p:spPr>
        <p:txBody>
          <a:bodyPr wrap="none" lIns="0" tIns="0" rIns="0" bIns="0" rtlCol="0" anchor="t"/>
          <a:lstStyle/>
          <a:p>
            <a:pPr algn="ctr">
              <a:lnSpc>
                <a:spcPts val="2634"/>
              </a:lnSpc>
            </a:pPr>
            <a:r>
              <a:rPr lang="en-US" b="1" dirty="0">
                <a:solidFill>
                  <a:srgbClr val="405449"/>
                </a:solidFill>
                <a:latin typeface="Fraunces Extra Bold" pitchFamily="34" charset="0"/>
                <a:ea typeface="Fraunces Extra Bold" pitchFamily="34" charset="-122"/>
                <a:cs typeface="Fraunces Extra Bold" pitchFamily="34" charset="-120"/>
              </a:rPr>
              <a:t>1</a:t>
            </a:r>
            <a:endParaRPr lang="en-US" dirty="0"/>
          </a:p>
        </p:txBody>
      </p:sp>
      <p:sp>
        <p:nvSpPr>
          <p:cNvPr id="7" name="Text 3"/>
          <p:cNvSpPr/>
          <p:nvPr/>
        </p:nvSpPr>
        <p:spPr>
          <a:xfrm>
            <a:off x="4031326" y="1407909"/>
            <a:ext cx="1538219"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Version Control</a:t>
            </a:r>
            <a:endParaRPr lang="en-US" sz="1400" dirty="0"/>
          </a:p>
        </p:txBody>
      </p:sp>
      <p:sp>
        <p:nvSpPr>
          <p:cNvPr id="9" name="Shape 5"/>
          <p:cNvSpPr/>
          <p:nvPr/>
        </p:nvSpPr>
        <p:spPr>
          <a:xfrm>
            <a:off x="2322396" y="2000949"/>
            <a:ext cx="2943665" cy="673298"/>
          </a:xfrm>
          <a:prstGeom prst="roundRect">
            <a:avLst>
              <a:gd name="adj" fmla="val 25267"/>
            </a:avLst>
          </a:prstGeom>
          <a:solidFill>
            <a:srgbClr val="E8F3E8"/>
          </a:solidFill>
          <a:ln/>
        </p:spPr>
      </p:sp>
      <p:sp>
        <p:nvSpPr>
          <p:cNvPr id="10" name="Text 6"/>
          <p:cNvSpPr/>
          <p:nvPr/>
        </p:nvSpPr>
        <p:spPr>
          <a:xfrm>
            <a:off x="3686205" y="2171506"/>
            <a:ext cx="215967" cy="332184"/>
          </a:xfrm>
          <a:prstGeom prst="rect">
            <a:avLst/>
          </a:prstGeom>
          <a:noFill/>
          <a:ln/>
        </p:spPr>
        <p:txBody>
          <a:bodyPr wrap="none" lIns="0" tIns="0" rIns="0" bIns="0" rtlCol="0" anchor="t"/>
          <a:lstStyle/>
          <a:p>
            <a:pPr algn="ctr">
              <a:lnSpc>
                <a:spcPts val="2634"/>
              </a:lnSpc>
            </a:pPr>
            <a:r>
              <a:rPr lang="en-US" b="1" dirty="0">
                <a:solidFill>
                  <a:srgbClr val="405449"/>
                </a:solidFill>
                <a:latin typeface="Fraunces Extra Bold" pitchFamily="34" charset="0"/>
                <a:ea typeface="Fraunces Extra Bold" pitchFamily="34" charset="-122"/>
                <a:cs typeface="Fraunces Extra Bold" pitchFamily="34" charset="-120"/>
              </a:rPr>
              <a:t>2</a:t>
            </a:r>
            <a:endParaRPr lang="en-US" dirty="0"/>
          </a:p>
        </p:txBody>
      </p:sp>
      <p:sp>
        <p:nvSpPr>
          <p:cNvPr id="11" name="Text 7"/>
          <p:cNvSpPr/>
          <p:nvPr/>
        </p:nvSpPr>
        <p:spPr>
          <a:xfrm>
            <a:off x="5455613" y="2229776"/>
            <a:ext cx="977379"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CI System</a:t>
            </a:r>
            <a:endParaRPr lang="en-US" sz="1400" dirty="0"/>
          </a:p>
        </p:txBody>
      </p:sp>
      <p:sp>
        <p:nvSpPr>
          <p:cNvPr id="13" name="Shape 9"/>
          <p:cNvSpPr/>
          <p:nvPr/>
        </p:nvSpPr>
        <p:spPr>
          <a:xfrm>
            <a:off x="2316583" y="2812946"/>
            <a:ext cx="4415538" cy="673298"/>
          </a:xfrm>
          <a:prstGeom prst="roundRect">
            <a:avLst>
              <a:gd name="adj" fmla="val 25267"/>
            </a:avLst>
          </a:prstGeom>
          <a:solidFill>
            <a:srgbClr val="E8F3E8"/>
          </a:solidFill>
          <a:ln/>
        </p:spPr>
      </p:sp>
      <p:sp>
        <p:nvSpPr>
          <p:cNvPr id="14" name="Text 10"/>
          <p:cNvSpPr/>
          <p:nvPr/>
        </p:nvSpPr>
        <p:spPr>
          <a:xfrm>
            <a:off x="4584466" y="2983503"/>
            <a:ext cx="215967" cy="332184"/>
          </a:xfrm>
          <a:prstGeom prst="rect">
            <a:avLst/>
          </a:prstGeom>
          <a:noFill/>
          <a:ln/>
        </p:spPr>
        <p:txBody>
          <a:bodyPr wrap="none" lIns="0" tIns="0" rIns="0" bIns="0" rtlCol="0" anchor="t"/>
          <a:lstStyle/>
          <a:p>
            <a:pPr algn="ctr">
              <a:lnSpc>
                <a:spcPts val="2634"/>
              </a:lnSpc>
            </a:pPr>
            <a:r>
              <a:rPr lang="en-US" b="1" dirty="0">
                <a:solidFill>
                  <a:srgbClr val="405449"/>
                </a:solidFill>
                <a:latin typeface="Fraunces Extra Bold" pitchFamily="34" charset="0"/>
                <a:ea typeface="Fraunces Extra Bold" pitchFamily="34" charset="-122"/>
                <a:cs typeface="Fraunces Extra Bold" pitchFamily="34" charset="-120"/>
              </a:rPr>
              <a:t>3</a:t>
            </a:r>
            <a:endParaRPr lang="en-US" dirty="0"/>
          </a:p>
        </p:txBody>
      </p:sp>
      <p:sp>
        <p:nvSpPr>
          <p:cNvPr id="15" name="Text 11"/>
          <p:cNvSpPr/>
          <p:nvPr/>
        </p:nvSpPr>
        <p:spPr>
          <a:xfrm>
            <a:off x="7012865" y="2983504"/>
            <a:ext cx="2324783"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Automated Deployment</a:t>
            </a:r>
            <a:endParaRPr lang="en-US" sz="1400" dirty="0"/>
          </a:p>
        </p:txBody>
      </p:sp>
      <p:sp>
        <p:nvSpPr>
          <p:cNvPr id="16" name="Text 12"/>
          <p:cNvSpPr/>
          <p:nvPr/>
        </p:nvSpPr>
        <p:spPr>
          <a:xfrm>
            <a:off x="2597326" y="4050920"/>
            <a:ext cx="7035902" cy="2045080"/>
          </a:xfrm>
          <a:prstGeom prst="rect">
            <a:avLst/>
          </a:prstGeom>
          <a:noFill/>
          <a:ln/>
        </p:spPr>
        <p:txBody>
          <a:bodyPr wrap="square" lIns="0" tIns="0" rIns="0" bIns="0" rtlCol="0" anchor="t"/>
          <a:lstStyle/>
          <a:p>
            <a:pPr>
              <a:lnSpc>
                <a:spcPts val="1877"/>
              </a:lnSpc>
            </a:pPr>
            <a:endParaRPr lang="en-US" sz="1500" dirty="0">
              <a:solidFill>
                <a:srgbClr val="405449"/>
              </a:solidFill>
              <a:latin typeface="Times New Roman" pitchFamily="18" charset="0"/>
              <a:ea typeface="Nobile" pitchFamily="34" charset="-122"/>
              <a:cs typeface="Times New Roman" pitchFamily="18" charset="0"/>
            </a:endParaRPr>
          </a:p>
          <a:p>
            <a:pPr>
              <a:lnSpc>
                <a:spcPts val="1877"/>
              </a:lnSpc>
            </a:pPr>
            <a:r>
              <a:rPr lang="en-US" sz="1500" dirty="0"/>
              <a:t>Integrating Terraform with Continuous Integration and Continuous Deployment (CI/CD) enables automated, efficient, and consistent infrastructure provisioning and management. This approach ensures that infrastructure changes are tested, reviewed, and deployed seamlessly.</a:t>
            </a:r>
            <a:r>
              <a:rPr lang="en-US" sz="1500" dirty="0">
                <a:solidFill>
                  <a:srgbClr val="405449"/>
                </a:solidFill>
                <a:latin typeface="Times New Roman" pitchFamily="18" charset="0"/>
                <a:ea typeface="Nobile" pitchFamily="34" charset="-122"/>
                <a:cs typeface="Times New Roman" pitchFamily="18" charset="0"/>
              </a:rPr>
              <a:t> </a:t>
            </a:r>
            <a:endParaRPr lang="en-US" sz="1500" dirty="0" smtClean="0">
              <a:solidFill>
                <a:srgbClr val="405449"/>
              </a:solidFill>
              <a:latin typeface="Times New Roman" pitchFamily="18" charset="0"/>
              <a:ea typeface="Nobile" pitchFamily="34" charset="-122"/>
              <a:cs typeface="Times New Roman" pitchFamily="18" charset="0"/>
            </a:endParaRPr>
          </a:p>
          <a:p>
            <a:pPr>
              <a:lnSpc>
                <a:spcPts val="1877"/>
              </a:lnSpc>
            </a:pPr>
            <a:r>
              <a:rPr lang="en-US" sz="1500" b="1" dirty="0" smtClean="0">
                <a:solidFill>
                  <a:srgbClr val="405449"/>
                </a:solidFill>
                <a:latin typeface="Times New Roman" pitchFamily="18" charset="0"/>
                <a:ea typeface="Nobile" pitchFamily="34" charset="-122"/>
                <a:cs typeface="Times New Roman" pitchFamily="18" charset="0"/>
              </a:rPr>
              <a:t>Use </a:t>
            </a:r>
            <a:r>
              <a:rPr lang="en-US" sz="1500" b="1" dirty="0">
                <a:solidFill>
                  <a:srgbClr val="405449"/>
                </a:solidFill>
                <a:latin typeface="Times New Roman" pitchFamily="18" charset="0"/>
                <a:ea typeface="Nobile" pitchFamily="34" charset="-122"/>
                <a:cs typeface="Times New Roman" pitchFamily="18" charset="0"/>
              </a:rPr>
              <a:t>tools like Jenkins, GitLab CI, or CircleCI</a:t>
            </a:r>
            <a:endParaRPr lang="en-US" sz="1500" b="1" dirty="0"/>
          </a:p>
          <a:p>
            <a:pPr>
              <a:lnSpc>
                <a:spcPts val="1877"/>
              </a:lnSpc>
            </a:pPr>
            <a:endParaRPr lang="en-US" sz="1500" dirty="0">
              <a:latin typeface="Times New Roman" pitchFamily="18" charset="0"/>
              <a:cs typeface="Times New Roman" pitchFamily="18" charset="0"/>
            </a:endParaRPr>
          </a:p>
        </p:txBody>
      </p:sp>
      <p:sp>
        <p:nvSpPr>
          <p:cNvPr id="18" name="Action Button: Go Forward or Next 15">
            <a:hlinkClick r:id="" action="ppaction://hlinkshowjump?jump=nextslide" highlightClick="1"/>
            <a:extLst>
              <a:ext uri="{FF2B5EF4-FFF2-40B4-BE49-F238E27FC236}">
                <a16:creationId xmlns="" xmlns:a16="http://schemas.microsoft.com/office/drawing/2014/main" id="{31ED4923-0D94-BB26-31FB-A0869EED0A4E}"/>
              </a:ext>
            </a:extLst>
          </p:cNvPr>
          <p:cNvSpPr/>
          <p:nvPr/>
        </p:nvSpPr>
        <p:spPr>
          <a:xfrm>
            <a:off x="9385576" y="6561807"/>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9" name="Action Button: Go Back or Previous 16">
            <a:hlinkClick r:id="" action="ppaction://hlinkshowjump?jump=previousslide" highlightClick="1"/>
            <a:extLst>
              <a:ext uri="{FF2B5EF4-FFF2-40B4-BE49-F238E27FC236}">
                <a16:creationId xmlns="" xmlns:a16="http://schemas.microsoft.com/office/drawing/2014/main" id="{F397E104-1362-49DA-2AE3-4EC9032B249E}"/>
              </a:ext>
            </a:extLst>
          </p:cNvPr>
          <p:cNvSpPr/>
          <p:nvPr/>
        </p:nvSpPr>
        <p:spPr>
          <a:xfrm>
            <a:off x="8420100"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2796719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188462" y="457202"/>
            <a:ext cx="5134789" cy="590649"/>
          </a:xfrm>
          <a:prstGeom prst="rect">
            <a:avLst/>
          </a:prstGeom>
          <a:noFill/>
          <a:ln/>
        </p:spPr>
        <p:txBody>
          <a:bodyPr wrap="none" lIns="0" tIns="0" rIns="0" bIns="0" rtlCol="0" anchor="t"/>
          <a:lstStyle/>
          <a:p>
            <a:pP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Terraform and Containers</a:t>
            </a:r>
            <a:endParaRPr lang="en-US" sz="2900" dirty="0">
              <a:solidFill>
                <a:srgbClr val="0070C0"/>
              </a:solidFill>
            </a:endParaRPr>
          </a:p>
        </p:txBody>
      </p:sp>
      <p:pic>
        <p:nvPicPr>
          <p:cNvPr id="5" name="Image 0" descr="preencoded.png"/>
          <p:cNvPicPr>
            <a:picLocks noChangeAspect="1"/>
          </p:cNvPicPr>
          <p:nvPr/>
        </p:nvPicPr>
        <p:blipFill>
          <a:blip r:embed="rId2"/>
          <a:stretch>
            <a:fillRect/>
          </a:stretch>
        </p:blipFill>
        <p:spPr>
          <a:xfrm>
            <a:off x="3068749" y="3291534"/>
            <a:ext cx="383890" cy="472480"/>
          </a:xfrm>
          <a:prstGeom prst="rect">
            <a:avLst/>
          </a:prstGeom>
        </p:spPr>
      </p:pic>
      <p:sp>
        <p:nvSpPr>
          <p:cNvPr id="6" name="Text 1"/>
          <p:cNvSpPr/>
          <p:nvPr/>
        </p:nvSpPr>
        <p:spPr>
          <a:xfrm>
            <a:off x="2862357" y="3992959"/>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Docker</a:t>
            </a:r>
            <a:endParaRPr lang="en-US" sz="1400" dirty="0"/>
          </a:p>
        </p:txBody>
      </p:sp>
      <p:sp>
        <p:nvSpPr>
          <p:cNvPr id="7" name="Text 2"/>
          <p:cNvSpPr/>
          <p:nvPr/>
        </p:nvSpPr>
        <p:spPr>
          <a:xfrm>
            <a:off x="2669958" y="4484808"/>
            <a:ext cx="1787743"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Deploy and manage containers using Terraform's Docker provider.</a:t>
            </a:r>
            <a:endParaRPr lang="en-US" sz="1200" dirty="0"/>
          </a:p>
        </p:txBody>
      </p:sp>
      <p:pic>
        <p:nvPicPr>
          <p:cNvPr id="8" name="Image 1" descr="preencoded.png"/>
          <p:cNvPicPr>
            <a:picLocks noChangeAspect="1"/>
          </p:cNvPicPr>
          <p:nvPr/>
        </p:nvPicPr>
        <p:blipFill>
          <a:blip r:embed="rId3"/>
          <a:stretch>
            <a:fillRect/>
          </a:stretch>
        </p:blipFill>
        <p:spPr>
          <a:xfrm>
            <a:off x="5212556" y="3268963"/>
            <a:ext cx="383890" cy="472480"/>
          </a:xfrm>
          <a:prstGeom prst="rect">
            <a:avLst/>
          </a:prstGeom>
          <a:ln>
            <a:solidFill>
              <a:schemeClr val="bg1"/>
            </a:solidFill>
          </a:ln>
        </p:spPr>
      </p:pic>
      <p:sp>
        <p:nvSpPr>
          <p:cNvPr id="9" name="Text 3"/>
          <p:cNvSpPr/>
          <p:nvPr/>
        </p:nvSpPr>
        <p:spPr>
          <a:xfrm>
            <a:off x="4831444" y="3992959"/>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Kubernetes</a:t>
            </a:r>
            <a:endParaRPr lang="en-US" sz="1400" dirty="0"/>
          </a:p>
        </p:txBody>
      </p:sp>
      <p:sp>
        <p:nvSpPr>
          <p:cNvPr id="10" name="Text 4"/>
          <p:cNvSpPr/>
          <p:nvPr/>
        </p:nvSpPr>
        <p:spPr>
          <a:xfrm>
            <a:off x="4792308" y="4478330"/>
            <a:ext cx="1864389"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Orchestrate container deployments with the Kubernetes provider.</a:t>
            </a:r>
            <a:endParaRPr lang="en-US" sz="1200" dirty="0"/>
          </a:p>
        </p:txBody>
      </p:sp>
      <p:pic>
        <p:nvPicPr>
          <p:cNvPr id="11" name="Image 2" descr="preencoded.png"/>
          <p:cNvPicPr>
            <a:picLocks noChangeAspect="1"/>
          </p:cNvPicPr>
          <p:nvPr/>
        </p:nvPicPr>
        <p:blipFill>
          <a:blip r:embed="rId4"/>
          <a:stretch>
            <a:fillRect/>
          </a:stretch>
        </p:blipFill>
        <p:spPr>
          <a:xfrm>
            <a:off x="7801958" y="3214265"/>
            <a:ext cx="383890" cy="472480"/>
          </a:xfrm>
          <a:prstGeom prst="rect">
            <a:avLst/>
          </a:prstGeom>
        </p:spPr>
      </p:pic>
      <p:sp>
        <p:nvSpPr>
          <p:cNvPr id="12" name="Text 5"/>
          <p:cNvSpPr/>
          <p:nvPr/>
        </p:nvSpPr>
        <p:spPr>
          <a:xfrm>
            <a:off x="7326094" y="3930632"/>
            <a:ext cx="1919690"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Cloud Services</a:t>
            </a:r>
            <a:endParaRPr lang="en-US" sz="1400" dirty="0"/>
          </a:p>
        </p:txBody>
      </p:sp>
      <p:sp>
        <p:nvSpPr>
          <p:cNvPr id="13" name="Text 6"/>
          <p:cNvSpPr/>
          <p:nvPr/>
        </p:nvSpPr>
        <p:spPr>
          <a:xfrm>
            <a:off x="7326094" y="4484808"/>
            <a:ext cx="1721163"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Integrate with cloud-native container services.</a:t>
            </a:r>
            <a:endParaRPr lang="en-US" sz="1200" dirty="0"/>
          </a:p>
        </p:txBody>
      </p:sp>
      <p:sp>
        <p:nvSpPr>
          <p:cNvPr id="15" name="Action Button: Go Forward or Next 12">
            <a:hlinkClick r:id="" action="ppaction://hlinkshowjump?jump=nextslide" highlightClick="1"/>
            <a:extLst>
              <a:ext uri="{FF2B5EF4-FFF2-40B4-BE49-F238E27FC236}">
                <a16:creationId xmlns="" xmlns:a16="http://schemas.microsoft.com/office/drawing/2014/main" id="{1EBC5689-B92E-9C77-6CA6-31105552ECF4}"/>
              </a:ext>
            </a:extLst>
          </p:cNvPr>
          <p:cNvSpPr/>
          <p:nvPr/>
        </p:nvSpPr>
        <p:spPr>
          <a:xfrm>
            <a:off x="9410700"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6" name="Action Button: Go Back or Previous 13">
            <a:hlinkClick r:id="" action="ppaction://hlinkshowjump?jump=previousslide" highlightClick="1"/>
            <a:extLst>
              <a:ext uri="{FF2B5EF4-FFF2-40B4-BE49-F238E27FC236}">
                <a16:creationId xmlns="" xmlns:a16="http://schemas.microsoft.com/office/drawing/2014/main" id="{320833F3-5B08-37A0-70CB-DCFB5F494E8B}"/>
              </a:ext>
            </a:extLst>
          </p:cNvPr>
          <p:cNvSpPr/>
          <p:nvPr/>
        </p:nvSpPr>
        <p:spPr>
          <a:xfrm>
            <a:off x="8493960"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8" name="Action Button: Go Home 5">
            <a:hlinkClick r:id="rId5"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1" name="Rectangle 20"/>
          <p:cNvSpPr/>
          <p:nvPr/>
        </p:nvSpPr>
        <p:spPr>
          <a:xfrm>
            <a:off x="2279356" y="1143001"/>
            <a:ext cx="6890297" cy="1792447"/>
          </a:xfrm>
          <a:prstGeom prst="rect">
            <a:avLst/>
          </a:prstGeom>
        </p:spPr>
        <p:txBody>
          <a:bodyPr wrap="square" lIns="86013" tIns="43006" rIns="86013" bIns="43006">
            <a:spAutoFit/>
          </a:bodyPr>
          <a:lstStyle/>
          <a:p>
            <a:pPr>
              <a:lnSpc>
                <a:spcPts val="1877"/>
              </a:lnSpc>
            </a:pPr>
            <a:endParaRPr lang="en-US" dirty="0">
              <a:latin typeface="Times New Roman" pitchFamily="18" charset="0"/>
              <a:ea typeface="Nobile" pitchFamily="34" charset="-122"/>
              <a:cs typeface="Times New Roman" pitchFamily="18" charset="0"/>
            </a:endParaRPr>
          </a:p>
          <a:p>
            <a:pPr>
              <a:lnSpc>
                <a:spcPts val="1877"/>
              </a:lnSpc>
            </a:pPr>
            <a:r>
              <a:rPr lang="en-US" dirty="0">
                <a:latin typeface="Times New Roman" pitchFamily="18" charset="0"/>
                <a:cs typeface="Times New Roman" pitchFamily="18" charset="0"/>
              </a:rPr>
              <a:t>Terraform simplifies containerized application deployment and infrastructure management by integrating with various container orchestration platforms like Docker, Kubernetes, and AWS ECS. Using Terraform, teams can define containerized environments as Infrastructure as Code (IaC), ensuring consistency, automation, and scalability.</a:t>
            </a:r>
          </a:p>
          <a:p>
            <a:pPr>
              <a:lnSpc>
                <a:spcPts val="1877"/>
              </a:lnSpc>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38844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7853" y="304803"/>
            <a:ext cx="6190605" cy="590649"/>
          </a:xfrm>
          <a:prstGeom prst="rect">
            <a:avLst/>
          </a:prstGeom>
          <a:noFill/>
          <a:ln/>
        </p:spPr>
        <p:txBody>
          <a:bodyPr wrap="none" lIns="0" tIns="0" rIns="0" bIns="0" rtlCol="0" anchor="t"/>
          <a:lstStyle/>
          <a:p>
            <a:pPr>
              <a:lnSpc>
                <a:spcPts val="3654"/>
              </a:lnSpc>
            </a:pPr>
            <a:r>
              <a:rPr lang="en-US" sz="3400" b="1" dirty="0">
                <a:solidFill>
                  <a:srgbClr val="0070C0"/>
                </a:solidFill>
                <a:latin typeface="Times New Roman" pitchFamily="18" charset="0"/>
                <a:ea typeface="Unbounded Bold" pitchFamily="34" charset="-122"/>
                <a:cs typeface="Times New Roman" pitchFamily="18" charset="0"/>
              </a:rPr>
              <a:t>Terraform for Kubernetes</a:t>
            </a:r>
            <a:endParaRPr lang="en-US" sz="3400" dirty="0">
              <a:solidFill>
                <a:srgbClr val="0070C0"/>
              </a:solidFill>
              <a:latin typeface="Times New Roman" pitchFamily="18" charset="0"/>
              <a:cs typeface="Times New Roman" pitchFamily="18" charset="0"/>
            </a:endParaRPr>
          </a:p>
        </p:txBody>
      </p:sp>
      <p:sp>
        <p:nvSpPr>
          <p:cNvPr id="3" name="Shape 1"/>
          <p:cNvSpPr/>
          <p:nvPr/>
        </p:nvSpPr>
        <p:spPr>
          <a:xfrm flipH="1">
            <a:off x="5251072" y="963419"/>
            <a:ext cx="50730" cy="5179806"/>
          </a:xfrm>
          <a:prstGeom prst="roundRect">
            <a:avLst>
              <a:gd name="adj" fmla="val 312558"/>
            </a:avLst>
          </a:prstGeom>
          <a:solidFill>
            <a:srgbClr val="BCDBD4"/>
          </a:solidFill>
          <a:ln/>
        </p:spPr>
      </p:sp>
      <p:sp>
        <p:nvSpPr>
          <p:cNvPr id="4" name="Shape 2"/>
          <p:cNvSpPr/>
          <p:nvPr/>
        </p:nvSpPr>
        <p:spPr>
          <a:xfrm>
            <a:off x="4611354" y="1685232"/>
            <a:ext cx="460716" cy="25400"/>
          </a:xfrm>
          <a:prstGeom prst="roundRect">
            <a:avLst>
              <a:gd name="adj" fmla="val 312558"/>
            </a:avLst>
          </a:prstGeom>
          <a:solidFill>
            <a:srgbClr val="BCDBD4"/>
          </a:solidFill>
          <a:ln/>
        </p:spPr>
      </p:sp>
      <p:sp>
        <p:nvSpPr>
          <p:cNvPr id="5" name="Shape 3"/>
          <p:cNvSpPr/>
          <p:nvPr/>
        </p:nvSpPr>
        <p:spPr>
          <a:xfrm>
            <a:off x="5102604" y="1259981"/>
            <a:ext cx="345517" cy="425252"/>
          </a:xfrm>
          <a:prstGeom prst="roundRect">
            <a:avLst>
              <a:gd name="adj" fmla="val 18669"/>
            </a:avLst>
          </a:prstGeom>
          <a:solidFill>
            <a:srgbClr val="D6F5EE"/>
          </a:solidFill>
          <a:ln w="7620">
            <a:solidFill>
              <a:srgbClr val="BCDBD4"/>
            </a:solidFill>
            <a:prstDash val="solid"/>
          </a:ln>
        </p:spPr>
      </p:sp>
      <p:sp>
        <p:nvSpPr>
          <p:cNvPr id="6" name="Text 4"/>
          <p:cNvSpPr/>
          <p:nvPr/>
        </p:nvSpPr>
        <p:spPr>
          <a:xfrm>
            <a:off x="5159711" y="1295400"/>
            <a:ext cx="230318" cy="354409"/>
          </a:xfrm>
          <a:prstGeom prst="rect">
            <a:avLst/>
          </a:prstGeom>
          <a:noFill/>
          <a:ln/>
        </p:spPr>
        <p:txBody>
          <a:bodyPr wrap="none" lIns="0" tIns="0" rIns="0" bIns="0" rtlCol="0" anchor="t"/>
          <a:lstStyle/>
          <a:p>
            <a:pPr algn="ctr">
              <a:lnSpc>
                <a:spcPts val="1745"/>
              </a:lnSpc>
            </a:pPr>
            <a:r>
              <a:rPr lang="en-US" sz="1800" b="1" dirty="0">
                <a:solidFill>
                  <a:srgbClr val="333F70"/>
                </a:solidFill>
                <a:latin typeface="Unbounded Bold" pitchFamily="34" charset="0"/>
                <a:ea typeface="Unbounded Bold" pitchFamily="34" charset="-122"/>
                <a:cs typeface="Unbounded Bold" pitchFamily="34" charset="-120"/>
              </a:rPr>
              <a:t>1</a:t>
            </a:r>
            <a:endParaRPr lang="en-US" sz="1800" dirty="0"/>
          </a:p>
        </p:txBody>
      </p:sp>
      <p:sp>
        <p:nvSpPr>
          <p:cNvPr id="7" name="Text 5"/>
          <p:cNvSpPr/>
          <p:nvPr/>
        </p:nvSpPr>
        <p:spPr>
          <a:xfrm>
            <a:off x="2074401" y="1112343"/>
            <a:ext cx="2419989" cy="295275"/>
          </a:xfrm>
          <a:prstGeom prst="rect">
            <a:avLst/>
          </a:prstGeom>
          <a:noFill/>
          <a:ln/>
        </p:spPr>
        <p:txBody>
          <a:bodyPr wrap="none" lIns="0" tIns="0" rIns="0" bIns="0" rtlCol="0" anchor="t"/>
          <a:lstStyle/>
          <a:p>
            <a:pPr algn="r">
              <a:lnSpc>
                <a:spcPts val="1811"/>
              </a:lnSpc>
            </a:pPr>
            <a:r>
              <a:rPr lang="en-US" sz="1400" b="1" dirty="0">
                <a:solidFill>
                  <a:srgbClr val="333F70"/>
                </a:solidFill>
                <a:latin typeface="Unbounded Bold" pitchFamily="34" charset="0"/>
                <a:ea typeface="Unbounded Bold" pitchFamily="34" charset="-122"/>
                <a:cs typeface="Unbounded Bold" pitchFamily="34" charset="-120"/>
              </a:rPr>
              <a:t>Cluster Provisioning</a:t>
            </a:r>
            <a:endParaRPr lang="en-US" sz="1400" dirty="0"/>
          </a:p>
        </p:txBody>
      </p:sp>
      <p:sp>
        <p:nvSpPr>
          <p:cNvPr id="8" name="Text 6"/>
          <p:cNvSpPr/>
          <p:nvPr/>
        </p:nvSpPr>
        <p:spPr>
          <a:xfrm>
            <a:off x="840898" y="1408211"/>
            <a:ext cx="3647678" cy="604838"/>
          </a:xfrm>
          <a:prstGeom prst="rect">
            <a:avLst/>
          </a:prstGeom>
          <a:noFill/>
          <a:ln/>
        </p:spPr>
        <p:txBody>
          <a:bodyPr wrap="square" lIns="0" tIns="0" rIns="0" bIns="0" rtlCol="0" anchor="t"/>
          <a:lstStyle/>
          <a:p>
            <a:pPr algn="r">
              <a:lnSpc>
                <a:spcPts val="1877"/>
              </a:lnSpc>
            </a:pPr>
            <a:r>
              <a:rPr lang="en-US" sz="1200" dirty="0">
                <a:solidFill>
                  <a:srgbClr val="333F70"/>
                </a:solidFill>
                <a:latin typeface="Open Sans" pitchFamily="34" charset="0"/>
                <a:ea typeface="Open Sans" pitchFamily="34" charset="-122"/>
                <a:cs typeface="Open Sans" pitchFamily="34" charset="-120"/>
              </a:rPr>
              <a:t>Use Terraform to create and configure your Kubernetes cluster on any cloud provider.</a:t>
            </a:r>
            <a:endParaRPr lang="en-US" sz="1200" dirty="0"/>
          </a:p>
        </p:txBody>
      </p:sp>
      <p:sp>
        <p:nvSpPr>
          <p:cNvPr id="9" name="Shape 7"/>
          <p:cNvSpPr/>
          <p:nvPr/>
        </p:nvSpPr>
        <p:spPr>
          <a:xfrm>
            <a:off x="5390028" y="2743202"/>
            <a:ext cx="460716" cy="25400"/>
          </a:xfrm>
          <a:prstGeom prst="roundRect">
            <a:avLst>
              <a:gd name="adj" fmla="val 312558"/>
            </a:avLst>
          </a:prstGeom>
          <a:solidFill>
            <a:srgbClr val="BCDBD4"/>
          </a:solidFill>
          <a:ln/>
        </p:spPr>
      </p:sp>
      <p:sp>
        <p:nvSpPr>
          <p:cNvPr id="10" name="Shape 8"/>
          <p:cNvSpPr/>
          <p:nvPr/>
        </p:nvSpPr>
        <p:spPr>
          <a:xfrm>
            <a:off x="5089492" y="2236034"/>
            <a:ext cx="345517" cy="425252"/>
          </a:xfrm>
          <a:prstGeom prst="roundRect">
            <a:avLst>
              <a:gd name="adj" fmla="val 18669"/>
            </a:avLst>
          </a:prstGeom>
          <a:solidFill>
            <a:srgbClr val="D6F5EE"/>
          </a:solidFill>
          <a:ln w="7620">
            <a:solidFill>
              <a:srgbClr val="BCDBD4"/>
            </a:solidFill>
            <a:prstDash val="solid"/>
          </a:ln>
        </p:spPr>
      </p:sp>
      <p:sp>
        <p:nvSpPr>
          <p:cNvPr id="11" name="Text 9"/>
          <p:cNvSpPr/>
          <p:nvPr/>
        </p:nvSpPr>
        <p:spPr>
          <a:xfrm>
            <a:off x="5160680" y="2313415"/>
            <a:ext cx="230318" cy="354409"/>
          </a:xfrm>
          <a:prstGeom prst="rect">
            <a:avLst/>
          </a:prstGeom>
          <a:noFill/>
          <a:ln/>
        </p:spPr>
        <p:txBody>
          <a:bodyPr wrap="none" lIns="0" tIns="0" rIns="0" bIns="0" rtlCol="0" anchor="t"/>
          <a:lstStyle/>
          <a:p>
            <a:pPr algn="ctr">
              <a:lnSpc>
                <a:spcPts val="1745"/>
              </a:lnSpc>
            </a:pPr>
            <a:r>
              <a:rPr lang="en-US" sz="1800" b="1" dirty="0">
                <a:solidFill>
                  <a:srgbClr val="333F70"/>
                </a:solidFill>
                <a:latin typeface="Unbounded Bold" pitchFamily="34" charset="0"/>
                <a:ea typeface="Unbounded Bold" pitchFamily="34" charset="-122"/>
                <a:cs typeface="Unbounded Bold" pitchFamily="34" charset="-120"/>
              </a:rPr>
              <a:t>2</a:t>
            </a:r>
            <a:endParaRPr lang="en-US" sz="1800" dirty="0"/>
          </a:p>
        </p:txBody>
      </p:sp>
      <p:sp>
        <p:nvSpPr>
          <p:cNvPr id="12" name="Text 10"/>
          <p:cNvSpPr/>
          <p:nvPr/>
        </p:nvSpPr>
        <p:spPr>
          <a:xfrm>
            <a:off x="5850744" y="1743088"/>
            <a:ext cx="2817745" cy="295275"/>
          </a:xfrm>
          <a:prstGeom prst="rect">
            <a:avLst/>
          </a:prstGeom>
          <a:noFill/>
          <a:ln/>
        </p:spPr>
        <p:txBody>
          <a:bodyPr wrap="none" lIns="0" tIns="0" rIns="0" bIns="0" rtlCol="0" anchor="t"/>
          <a:lstStyle/>
          <a:p>
            <a:pPr>
              <a:lnSpc>
                <a:spcPts val="1811"/>
              </a:lnSpc>
            </a:pPr>
            <a:r>
              <a:rPr lang="en-US" sz="1400" b="1" dirty="0">
                <a:solidFill>
                  <a:srgbClr val="333F70"/>
                </a:solidFill>
                <a:latin typeface="Unbounded Bold" pitchFamily="34" charset="0"/>
                <a:ea typeface="Unbounded Bold" pitchFamily="34" charset="-122"/>
                <a:cs typeface="Unbounded Bold" pitchFamily="34" charset="-120"/>
              </a:rPr>
              <a:t>Resource Management</a:t>
            </a:r>
            <a:endParaRPr lang="en-US" sz="1400" dirty="0"/>
          </a:p>
        </p:txBody>
      </p:sp>
      <p:sp>
        <p:nvSpPr>
          <p:cNvPr id="13" name="Text 11"/>
          <p:cNvSpPr/>
          <p:nvPr/>
        </p:nvSpPr>
        <p:spPr>
          <a:xfrm>
            <a:off x="5782533" y="2062985"/>
            <a:ext cx="3647678" cy="604838"/>
          </a:xfrm>
          <a:prstGeom prst="rect">
            <a:avLst/>
          </a:prstGeom>
          <a:noFill/>
          <a:ln/>
        </p:spPr>
        <p:txBody>
          <a:bodyPr wrap="square" lIns="0" tIns="0" rIns="0" bIns="0" rtlCol="0" anchor="t"/>
          <a:lstStyle/>
          <a:p>
            <a:pPr>
              <a:lnSpc>
                <a:spcPts val="1877"/>
              </a:lnSpc>
            </a:pPr>
            <a:r>
              <a:rPr lang="en-US" sz="1200" dirty="0">
                <a:solidFill>
                  <a:srgbClr val="333F70"/>
                </a:solidFill>
                <a:latin typeface="Open Sans" pitchFamily="34" charset="0"/>
                <a:ea typeface="Open Sans" pitchFamily="34" charset="-122"/>
                <a:cs typeface="Open Sans" pitchFamily="34" charset="-120"/>
              </a:rPr>
              <a:t>Deploy and manage Kubernetes resources like deployments, services, and ingress controllers.</a:t>
            </a:r>
            <a:endParaRPr lang="en-US" sz="1200" dirty="0"/>
          </a:p>
        </p:txBody>
      </p:sp>
      <p:sp>
        <p:nvSpPr>
          <p:cNvPr id="15" name="Action Button: Go Forward or Next 14">
            <a:hlinkClick r:id="" action="ppaction://hlinkshowjump?jump=nextslide" highlightClick="1"/>
            <a:extLst>
              <a:ext uri="{FF2B5EF4-FFF2-40B4-BE49-F238E27FC236}">
                <a16:creationId xmlns="" xmlns:a16="http://schemas.microsoft.com/office/drawing/2014/main" id="{04FAD9F2-0B95-3453-B1F5-697672C8010B}"/>
              </a:ext>
            </a:extLst>
          </p:cNvPr>
          <p:cNvSpPr/>
          <p:nvPr/>
        </p:nvSpPr>
        <p:spPr>
          <a:xfrm>
            <a:off x="9390888" y="6533601"/>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6" name="Action Button: Go Back or Previous 15">
            <a:hlinkClick r:id="" action="ppaction://hlinkshowjump?jump=previousslide" highlightClick="1"/>
            <a:extLst>
              <a:ext uri="{FF2B5EF4-FFF2-40B4-BE49-F238E27FC236}">
                <a16:creationId xmlns="" xmlns:a16="http://schemas.microsoft.com/office/drawing/2014/main" id="{DBC66391-ADFA-94D4-86E7-FAC0FBA92EEA}"/>
              </a:ext>
            </a:extLst>
          </p:cNvPr>
          <p:cNvSpPr/>
          <p:nvPr/>
        </p:nvSpPr>
        <p:spPr>
          <a:xfrm>
            <a:off x="8420838"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8"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21702" y="6533601"/>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9" name="Shape 8"/>
          <p:cNvSpPr/>
          <p:nvPr/>
        </p:nvSpPr>
        <p:spPr>
          <a:xfrm>
            <a:off x="5116654" y="3235925"/>
            <a:ext cx="345517" cy="425252"/>
          </a:xfrm>
          <a:prstGeom prst="roundRect">
            <a:avLst>
              <a:gd name="adj" fmla="val 18669"/>
            </a:avLst>
          </a:prstGeom>
          <a:solidFill>
            <a:srgbClr val="D6F5EE"/>
          </a:solidFill>
          <a:ln w="7620">
            <a:solidFill>
              <a:srgbClr val="BCDBD4"/>
            </a:solidFill>
            <a:prstDash val="solid"/>
          </a:ln>
        </p:spPr>
        <p:txBody>
          <a:bodyPr lIns="86013" tIns="43006" rIns="86013" bIns="43006"/>
          <a:lstStyle/>
          <a:p>
            <a:r>
              <a:rPr lang="en-US" b="1" dirty="0" smtClean="0"/>
              <a:t>3</a:t>
            </a:r>
            <a:endParaRPr lang="en-US" b="1" dirty="0"/>
          </a:p>
        </p:txBody>
      </p:sp>
      <p:sp>
        <p:nvSpPr>
          <p:cNvPr id="20" name="Shape 2"/>
          <p:cNvSpPr/>
          <p:nvPr/>
        </p:nvSpPr>
        <p:spPr>
          <a:xfrm>
            <a:off x="4580124" y="3632201"/>
            <a:ext cx="460716" cy="25400"/>
          </a:xfrm>
          <a:prstGeom prst="roundRect">
            <a:avLst>
              <a:gd name="adj" fmla="val 312558"/>
            </a:avLst>
          </a:prstGeom>
          <a:solidFill>
            <a:srgbClr val="BCDBD4"/>
          </a:solidFill>
          <a:ln/>
        </p:spPr>
      </p:sp>
      <p:sp>
        <p:nvSpPr>
          <p:cNvPr id="14" name="Rectangle 13"/>
          <p:cNvSpPr/>
          <p:nvPr/>
        </p:nvSpPr>
        <p:spPr>
          <a:xfrm>
            <a:off x="2049510" y="2667826"/>
            <a:ext cx="2124561" cy="302296"/>
          </a:xfrm>
          <a:prstGeom prst="rect">
            <a:avLst/>
          </a:prstGeom>
        </p:spPr>
        <p:txBody>
          <a:bodyPr wrap="none" lIns="86013" tIns="43006" rIns="86013" bIns="43006">
            <a:spAutoFit/>
          </a:bodyPr>
          <a:lstStyle/>
          <a:p>
            <a:r>
              <a:rPr lang="en-US" sz="1400" b="1" dirty="0">
                <a:latin typeface="Unbounded Bold"/>
                <a:ea typeface="Unbounded Bold"/>
              </a:rPr>
              <a:t>Security &amp; Compliance</a:t>
            </a:r>
          </a:p>
        </p:txBody>
      </p:sp>
      <p:sp>
        <p:nvSpPr>
          <p:cNvPr id="22" name="Shape 8"/>
          <p:cNvSpPr/>
          <p:nvPr/>
        </p:nvSpPr>
        <p:spPr>
          <a:xfrm>
            <a:off x="5111097" y="4267203"/>
            <a:ext cx="345517" cy="425252"/>
          </a:xfrm>
          <a:prstGeom prst="roundRect">
            <a:avLst>
              <a:gd name="adj" fmla="val 18669"/>
            </a:avLst>
          </a:prstGeom>
          <a:solidFill>
            <a:srgbClr val="D6F5EE"/>
          </a:solidFill>
          <a:ln w="7620">
            <a:solidFill>
              <a:srgbClr val="BCDBD4"/>
            </a:solidFill>
            <a:prstDash val="solid"/>
          </a:ln>
        </p:spPr>
        <p:txBody>
          <a:bodyPr lIns="86013" tIns="43006" rIns="86013" bIns="43006"/>
          <a:lstStyle/>
          <a:p>
            <a:r>
              <a:rPr lang="en-US" b="1" dirty="0"/>
              <a:t>4</a:t>
            </a:r>
          </a:p>
        </p:txBody>
      </p:sp>
      <p:sp>
        <p:nvSpPr>
          <p:cNvPr id="23" name="Shape 2"/>
          <p:cNvSpPr/>
          <p:nvPr/>
        </p:nvSpPr>
        <p:spPr>
          <a:xfrm>
            <a:off x="5578857" y="4716423"/>
            <a:ext cx="460716" cy="25400"/>
          </a:xfrm>
          <a:prstGeom prst="roundRect">
            <a:avLst>
              <a:gd name="adj" fmla="val 312558"/>
            </a:avLst>
          </a:prstGeom>
          <a:solidFill>
            <a:srgbClr val="BCDBD4"/>
          </a:solidFill>
          <a:ln/>
        </p:spPr>
      </p:sp>
      <p:sp>
        <p:nvSpPr>
          <p:cNvPr id="24" name="Rectangle 23"/>
          <p:cNvSpPr/>
          <p:nvPr/>
        </p:nvSpPr>
        <p:spPr>
          <a:xfrm>
            <a:off x="1073151" y="3075032"/>
            <a:ext cx="3415428" cy="817821"/>
          </a:xfrm>
          <a:prstGeom prst="rect">
            <a:avLst/>
          </a:prstGeom>
        </p:spPr>
        <p:txBody>
          <a:bodyPr wrap="square" lIns="86013" tIns="43006" rIns="86013" bIns="43006">
            <a:spAutoFit/>
          </a:bodyPr>
          <a:lstStyle/>
          <a:p>
            <a:pPr algn="r">
              <a:lnSpc>
                <a:spcPts val="1877"/>
              </a:lnSpc>
            </a:pPr>
            <a:r>
              <a:rPr lang="en-US" sz="1200" dirty="0">
                <a:solidFill>
                  <a:srgbClr val="333F70"/>
                </a:solidFill>
                <a:latin typeface="Open Sans"/>
                <a:ea typeface="Open Sans"/>
                <a:cs typeface="Open Sans" pitchFamily="34" charset="-120"/>
              </a:rPr>
              <a:t>Use Terraform to create and configure your Kubernetes cluster on any cloud provider.</a:t>
            </a:r>
            <a:endParaRPr lang="en-US" sz="1200" dirty="0">
              <a:latin typeface="Open Sans"/>
              <a:ea typeface="Open Sans"/>
            </a:endParaRPr>
          </a:p>
          <a:p>
            <a:pPr algn="r">
              <a:lnSpc>
                <a:spcPts val="1877"/>
              </a:lnSpc>
            </a:pPr>
            <a:endParaRPr lang="en-US" sz="1200" dirty="0">
              <a:latin typeface="Open Sans"/>
              <a:ea typeface="Open Sans"/>
            </a:endParaRPr>
          </a:p>
        </p:txBody>
      </p:sp>
      <p:sp>
        <p:nvSpPr>
          <p:cNvPr id="25" name="Rectangle 24"/>
          <p:cNvSpPr/>
          <p:nvPr/>
        </p:nvSpPr>
        <p:spPr>
          <a:xfrm>
            <a:off x="5850744" y="3566330"/>
            <a:ext cx="2708054" cy="302296"/>
          </a:xfrm>
          <a:prstGeom prst="rect">
            <a:avLst/>
          </a:prstGeom>
        </p:spPr>
        <p:txBody>
          <a:bodyPr wrap="none" lIns="86013" tIns="43006" rIns="86013" bIns="43006">
            <a:spAutoFit/>
          </a:bodyPr>
          <a:lstStyle/>
          <a:p>
            <a:r>
              <a:rPr lang="en-US" sz="1400" b="1" dirty="0">
                <a:latin typeface="Unbounded Bold"/>
                <a:ea typeface="Unbounded Bold"/>
              </a:rPr>
              <a:t>Networking &amp; Load Balancing</a:t>
            </a:r>
          </a:p>
        </p:txBody>
      </p:sp>
      <p:sp>
        <p:nvSpPr>
          <p:cNvPr id="26" name="Rectangle 25"/>
          <p:cNvSpPr/>
          <p:nvPr/>
        </p:nvSpPr>
        <p:spPr>
          <a:xfrm>
            <a:off x="5780215" y="3942084"/>
            <a:ext cx="3649994" cy="660213"/>
          </a:xfrm>
          <a:prstGeom prst="rect">
            <a:avLst/>
          </a:prstGeom>
        </p:spPr>
        <p:txBody>
          <a:bodyPr wrap="square" lIns="86013" tIns="43006" rIns="86013" bIns="43006">
            <a:spAutoFit/>
          </a:bodyPr>
          <a:lstStyle/>
          <a:p>
            <a:r>
              <a:rPr lang="en-US" sz="1200" dirty="0">
                <a:latin typeface="Open Sans"/>
                <a:ea typeface="Open Sans"/>
              </a:rPr>
              <a:t>Automate the creation of networking components like service meshes, load balancers, and ingress controllers.</a:t>
            </a:r>
          </a:p>
        </p:txBody>
      </p:sp>
      <p:sp>
        <p:nvSpPr>
          <p:cNvPr id="27" name="Shape 8"/>
          <p:cNvSpPr/>
          <p:nvPr/>
        </p:nvSpPr>
        <p:spPr>
          <a:xfrm>
            <a:off x="5089492" y="5257802"/>
            <a:ext cx="345517" cy="425252"/>
          </a:xfrm>
          <a:prstGeom prst="roundRect">
            <a:avLst>
              <a:gd name="adj" fmla="val 18669"/>
            </a:avLst>
          </a:prstGeom>
          <a:solidFill>
            <a:srgbClr val="D6F5EE"/>
          </a:solidFill>
          <a:ln w="7620">
            <a:solidFill>
              <a:srgbClr val="BCDBD4"/>
            </a:solidFill>
            <a:prstDash val="solid"/>
          </a:ln>
        </p:spPr>
        <p:txBody>
          <a:bodyPr lIns="86013" tIns="43006" rIns="86013" bIns="43006"/>
          <a:lstStyle/>
          <a:p>
            <a:r>
              <a:rPr lang="en-US" b="1" dirty="0" smtClean="0"/>
              <a:t>5</a:t>
            </a:r>
            <a:endParaRPr lang="en-US" b="1" dirty="0"/>
          </a:p>
        </p:txBody>
      </p:sp>
      <p:sp>
        <p:nvSpPr>
          <p:cNvPr id="28" name="Shape 2"/>
          <p:cNvSpPr/>
          <p:nvPr/>
        </p:nvSpPr>
        <p:spPr>
          <a:xfrm>
            <a:off x="4628777" y="5683482"/>
            <a:ext cx="460716" cy="25400"/>
          </a:xfrm>
          <a:prstGeom prst="roundRect">
            <a:avLst>
              <a:gd name="adj" fmla="val 312558"/>
            </a:avLst>
          </a:prstGeom>
          <a:solidFill>
            <a:srgbClr val="BCDBD4"/>
          </a:solidFill>
          <a:ln/>
        </p:spPr>
      </p:sp>
      <p:sp>
        <p:nvSpPr>
          <p:cNvPr id="29" name="Rectangle 28"/>
          <p:cNvSpPr/>
          <p:nvPr/>
        </p:nvSpPr>
        <p:spPr>
          <a:xfrm>
            <a:off x="1932898" y="4570940"/>
            <a:ext cx="2029983" cy="302296"/>
          </a:xfrm>
          <a:prstGeom prst="rect">
            <a:avLst/>
          </a:prstGeom>
        </p:spPr>
        <p:txBody>
          <a:bodyPr wrap="none" lIns="86013" tIns="43006" rIns="86013" bIns="43006">
            <a:spAutoFit/>
          </a:bodyPr>
          <a:lstStyle/>
          <a:p>
            <a:r>
              <a:rPr lang="en-US" sz="1400" b="1" dirty="0">
                <a:latin typeface="Unbounded Bold"/>
                <a:ea typeface="Unbounded Bold"/>
              </a:rPr>
              <a:t>Monitoring &amp; Logging</a:t>
            </a:r>
          </a:p>
        </p:txBody>
      </p:sp>
      <p:sp>
        <p:nvSpPr>
          <p:cNvPr id="30" name="Rectangle 29"/>
          <p:cNvSpPr/>
          <p:nvPr/>
        </p:nvSpPr>
        <p:spPr>
          <a:xfrm>
            <a:off x="1498636" y="4894105"/>
            <a:ext cx="3542204" cy="660213"/>
          </a:xfrm>
          <a:prstGeom prst="rect">
            <a:avLst/>
          </a:prstGeom>
        </p:spPr>
        <p:txBody>
          <a:bodyPr wrap="square" lIns="86013" tIns="43006" rIns="86013" bIns="43006">
            <a:spAutoFit/>
          </a:bodyPr>
          <a:lstStyle/>
          <a:p>
            <a:r>
              <a:rPr lang="en-US" sz="1200" dirty="0">
                <a:latin typeface="Open Sans"/>
                <a:ea typeface="Open Sans"/>
              </a:rPr>
              <a:t>Integrate monitoring tools like Prometheus and logging solutions like Fluentd to track cluster health and performance</a:t>
            </a:r>
          </a:p>
        </p:txBody>
      </p:sp>
    </p:spTree>
    <p:extLst>
      <p:ext uri="{BB962C8B-B14F-4D97-AF65-F5344CB8AC3E}">
        <p14:creationId xmlns:p14="http://schemas.microsoft.com/office/powerpoint/2010/main" val="3167979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7149" y="394986"/>
            <a:ext cx="8143912" cy="593923"/>
          </a:xfrm>
          <a:prstGeom prst="rect">
            <a:avLst/>
          </a:prstGeom>
          <a:noFill/>
          <a:ln/>
        </p:spPr>
        <p:txBody>
          <a:bodyPr wrap="none" lIns="0" tIns="0" rIns="0" bIns="0" rtlCol="0" anchor="t"/>
          <a:lstStyle/>
          <a:p>
            <a:pPr>
              <a:lnSpc>
                <a:spcPts val="3688"/>
              </a:lnSpc>
            </a:pPr>
            <a:r>
              <a:rPr lang="en-US" sz="3100" b="1" dirty="0">
                <a:solidFill>
                  <a:srgbClr val="0070C0"/>
                </a:solidFill>
                <a:latin typeface="Times New Roman" pitchFamily="18" charset="0"/>
                <a:ea typeface="Barlow Bold" pitchFamily="34" charset="-122"/>
                <a:cs typeface="Times New Roman" pitchFamily="18" charset="0"/>
              </a:rPr>
              <a:t>Real-World Case Study and Industry Application</a:t>
            </a:r>
            <a:endParaRPr lang="en-US" sz="3100" dirty="0">
              <a:solidFill>
                <a:srgbClr val="0070C0"/>
              </a:solidFill>
              <a:latin typeface="Times New Roman" pitchFamily="18" charset="0"/>
              <a:cs typeface="Times New Roman" pitchFamily="18" charset="0"/>
            </a:endParaRPr>
          </a:p>
        </p:txBody>
      </p:sp>
      <p:sp>
        <p:nvSpPr>
          <p:cNvPr id="3" name="Shape 1"/>
          <p:cNvSpPr/>
          <p:nvPr/>
        </p:nvSpPr>
        <p:spPr>
          <a:xfrm>
            <a:off x="330200" y="1794723"/>
            <a:ext cx="2861921" cy="3655318"/>
          </a:xfrm>
          <a:prstGeom prst="roundRect">
            <a:avLst>
              <a:gd name="adj" fmla="val 4613"/>
            </a:avLst>
          </a:prstGeom>
          <a:ln/>
        </p:spPr>
        <p:style>
          <a:lnRef idx="2">
            <a:schemeClr val="accent5"/>
          </a:lnRef>
          <a:fillRef idx="1">
            <a:schemeClr val="lt1"/>
          </a:fillRef>
          <a:effectRef idx="0">
            <a:schemeClr val="accent5"/>
          </a:effectRef>
          <a:fontRef idx="minor">
            <a:schemeClr val="dk1"/>
          </a:fontRef>
        </p:style>
      </p:sp>
      <p:sp>
        <p:nvSpPr>
          <p:cNvPr id="4" name="Text 2"/>
          <p:cNvSpPr/>
          <p:nvPr/>
        </p:nvSpPr>
        <p:spPr>
          <a:xfrm>
            <a:off x="588684" y="1999987"/>
            <a:ext cx="1930170" cy="296863"/>
          </a:xfrm>
          <a:prstGeom prst="rect">
            <a:avLst/>
          </a:prstGeom>
          <a:noFill/>
          <a:ln/>
        </p:spPr>
        <p:txBody>
          <a:bodyPr wrap="none" lIns="0" tIns="0" rIns="0" bIns="0" rtlCol="0" anchor="t"/>
          <a:lstStyle/>
          <a:p>
            <a:pPr>
              <a:lnSpc>
                <a:spcPts val="1843"/>
              </a:lnSpc>
            </a:pPr>
            <a:r>
              <a:rPr lang="en-US" sz="1400" b="1" dirty="0">
                <a:solidFill>
                  <a:srgbClr val="272525"/>
                </a:solidFill>
                <a:latin typeface="Barlow Bold" pitchFamily="34" charset="0"/>
                <a:ea typeface="Barlow Bold" pitchFamily="34" charset="-122"/>
                <a:cs typeface="Barlow Bold" pitchFamily="34" charset="-120"/>
              </a:rPr>
              <a:t>Financial Services</a:t>
            </a:r>
            <a:endParaRPr lang="en-US" sz="1400" dirty="0"/>
          </a:p>
        </p:txBody>
      </p:sp>
      <p:sp>
        <p:nvSpPr>
          <p:cNvPr id="5" name="Text 3"/>
          <p:cNvSpPr/>
          <p:nvPr/>
        </p:nvSpPr>
        <p:spPr>
          <a:xfrm>
            <a:off x="476839" y="2687408"/>
            <a:ext cx="2568643" cy="2311400"/>
          </a:xfrm>
          <a:prstGeom prst="rect">
            <a:avLst/>
          </a:prstGeom>
          <a:noFill/>
          <a:ln/>
        </p:spPr>
        <p:txBody>
          <a:bodyPr wrap="square" lIns="0" tIns="0" rIns="0" bIns="0" rtlCol="0" anchor="t"/>
          <a:lstStyle/>
          <a:p>
            <a:pPr>
              <a:lnSpc>
                <a:spcPts val="1778"/>
              </a:lnSpc>
            </a:pPr>
            <a:r>
              <a:rPr lang="en-US" sz="1200" dirty="0">
                <a:solidFill>
                  <a:srgbClr val="272525"/>
                </a:solidFill>
                <a:latin typeface="Montserrat" pitchFamily="34" charset="0"/>
                <a:ea typeface="Montserrat" pitchFamily="34" charset="-122"/>
                <a:cs typeface="Montserrat" pitchFamily="34" charset="-120"/>
              </a:rPr>
              <a:t>Terraform automates infrastructure for trading platforms, ensuring high availability and low latency. It ensures compliance with regulations like PCI DSS and reduces deployment times from weeks to hours.</a:t>
            </a:r>
            <a:endParaRPr lang="en-US" sz="1200" dirty="0"/>
          </a:p>
        </p:txBody>
      </p:sp>
      <p:sp>
        <p:nvSpPr>
          <p:cNvPr id="6" name="Shape 4"/>
          <p:cNvSpPr/>
          <p:nvPr/>
        </p:nvSpPr>
        <p:spPr>
          <a:xfrm>
            <a:off x="3289703" y="1794723"/>
            <a:ext cx="2861921" cy="3655318"/>
          </a:xfrm>
          <a:prstGeom prst="roundRect">
            <a:avLst>
              <a:gd name="adj" fmla="val 4613"/>
            </a:avLst>
          </a:prstGeom>
          <a:ln/>
        </p:spPr>
        <p:style>
          <a:lnRef idx="2">
            <a:schemeClr val="accent5"/>
          </a:lnRef>
          <a:fillRef idx="1">
            <a:schemeClr val="lt1"/>
          </a:fillRef>
          <a:effectRef idx="0">
            <a:schemeClr val="accent5"/>
          </a:effectRef>
          <a:fontRef idx="minor">
            <a:schemeClr val="dk1"/>
          </a:fontRef>
        </p:style>
      </p:sp>
      <p:sp>
        <p:nvSpPr>
          <p:cNvPr id="7" name="Text 5"/>
          <p:cNvSpPr/>
          <p:nvPr/>
        </p:nvSpPr>
        <p:spPr>
          <a:xfrm>
            <a:off x="3764288" y="2011019"/>
            <a:ext cx="1930170" cy="296863"/>
          </a:xfrm>
          <a:prstGeom prst="rect">
            <a:avLst/>
          </a:prstGeom>
          <a:noFill/>
          <a:ln/>
        </p:spPr>
        <p:txBody>
          <a:bodyPr wrap="none" lIns="0" tIns="0" rIns="0" bIns="0" rtlCol="0" anchor="t"/>
          <a:lstStyle/>
          <a:p>
            <a:pPr>
              <a:lnSpc>
                <a:spcPts val="1843"/>
              </a:lnSpc>
            </a:pPr>
            <a:r>
              <a:rPr lang="en-US" sz="1400" b="1" dirty="0">
                <a:solidFill>
                  <a:srgbClr val="272525"/>
                </a:solidFill>
                <a:latin typeface="Barlow Bold" pitchFamily="34" charset="0"/>
                <a:ea typeface="Barlow Bold" pitchFamily="34" charset="-122"/>
                <a:cs typeface="Barlow Bold" pitchFamily="34" charset="-120"/>
              </a:rPr>
              <a:t>Healthcare</a:t>
            </a:r>
            <a:endParaRPr lang="en-US" sz="1400" dirty="0"/>
          </a:p>
        </p:txBody>
      </p:sp>
      <p:sp>
        <p:nvSpPr>
          <p:cNvPr id="8" name="Text 6"/>
          <p:cNvSpPr/>
          <p:nvPr/>
        </p:nvSpPr>
        <p:spPr>
          <a:xfrm>
            <a:off x="3445051" y="2687408"/>
            <a:ext cx="2568643" cy="2022475"/>
          </a:xfrm>
          <a:prstGeom prst="rect">
            <a:avLst/>
          </a:prstGeom>
          <a:noFill/>
          <a:ln/>
        </p:spPr>
        <p:txBody>
          <a:bodyPr wrap="square" lIns="0" tIns="0" rIns="0" bIns="0" rtlCol="0" anchor="t"/>
          <a:lstStyle/>
          <a:p>
            <a:pPr>
              <a:lnSpc>
                <a:spcPts val="1778"/>
              </a:lnSpc>
            </a:pPr>
            <a:r>
              <a:rPr lang="en-US" sz="1200" dirty="0">
                <a:solidFill>
                  <a:srgbClr val="272525"/>
                </a:solidFill>
                <a:latin typeface="Montserrat" pitchFamily="34" charset="0"/>
                <a:ea typeface="Montserrat" pitchFamily="34" charset="-122"/>
                <a:cs typeface="Montserrat" pitchFamily="34" charset="-120"/>
              </a:rPr>
              <a:t>It manages HIPAA-compliant infrastructure in the cloud, safeguarding sensitive patient data. Terraform enables rapid scaling of healthcare applications to meet patient needs and ensures data privacy and security.</a:t>
            </a:r>
            <a:endParaRPr lang="en-US" sz="1200" dirty="0"/>
          </a:p>
        </p:txBody>
      </p:sp>
      <p:sp>
        <p:nvSpPr>
          <p:cNvPr id="9" name="Shape 7"/>
          <p:cNvSpPr/>
          <p:nvPr/>
        </p:nvSpPr>
        <p:spPr>
          <a:xfrm>
            <a:off x="6296353" y="1794723"/>
            <a:ext cx="3053771" cy="3655318"/>
          </a:xfrm>
          <a:prstGeom prst="roundRect">
            <a:avLst>
              <a:gd name="adj" fmla="val 4613"/>
            </a:avLst>
          </a:prstGeom>
          <a:ln/>
        </p:spPr>
        <p:style>
          <a:lnRef idx="2">
            <a:schemeClr val="accent5"/>
          </a:lnRef>
          <a:fillRef idx="1">
            <a:schemeClr val="lt1"/>
          </a:fillRef>
          <a:effectRef idx="0">
            <a:schemeClr val="accent5"/>
          </a:effectRef>
          <a:fontRef idx="minor">
            <a:schemeClr val="dk1"/>
          </a:fontRef>
        </p:style>
      </p:sp>
      <p:sp>
        <p:nvSpPr>
          <p:cNvPr id="10" name="Text 8"/>
          <p:cNvSpPr/>
          <p:nvPr/>
        </p:nvSpPr>
        <p:spPr>
          <a:xfrm>
            <a:off x="6538917" y="1972367"/>
            <a:ext cx="1930170" cy="296863"/>
          </a:xfrm>
          <a:prstGeom prst="rect">
            <a:avLst/>
          </a:prstGeom>
          <a:noFill/>
          <a:ln/>
        </p:spPr>
        <p:txBody>
          <a:bodyPr wrap="none" lIns="0" tIns="0" rIns="0" bIns="0" rtlCol="0" anchor="t"/>
          <a:lstStyle/>
          <a:p>
            <a:pPr>
              <a:lnSpc>
                <a:spcPts val="1843"/>
              </a:lnSpc>
            </a:pPr>
            <a:r>
              <a:rPr lang="en-US" sz="1400" b="1" dirty="0">
                <a:solidFill>
                  <a:srgbClr val="272525"/>
                </a:solidFill>
                <a:latin typeface="Barlow Bold" pitchFamily="34" charset="0"/>
                <a:ea typeface="Barlow Bold" pitchFamily="34" charset="-122"/>
                <a:cs typeface="Barlow Bold" pitchFamily="34" charset="-120"/>
              </a:rPr>
              <a:t>E-commerce</a:t>
            </a:r>
            <a:endParaRPr lang="en-US" sz="1400" dirty="0"/>
          </a:p>
        </p:txBody>
      </p:sp>
      <p:sp>
        <p:nvSpPr>
          <p:cNvPr id="11" name="Text 9"/>
          <p:cNvSpPr/>
          <p:nvPr/>
        </p:nvSpPr>
        <p:spPr>
          <a:xfrm>
            <a:off x="6538917" y="2574456"/>
            <a:ext cx="2568643" cy="2889250"/>
          </a:xfrm>
          <a:prstGeom prst="rect">
            <a:avLst/>
          </a:prstGeom>
          <a:noFill/>
          <a:ln/>
        </p:spPr>
        <p:txBody>
          <a:bodyPr wrap="square" lIns="0" tIns="0" rIns="0" bIns="0" rtlCol="0" anchor="t"/>
          <a:lstStyle/>
          <a:p>
            <a:pPr>
              <a:lnSpc>
                <a:spcPts val="1778"/>
              </a:lnSpc>
            </a:pPr>
            <a:r>
              <a:rPr lang="en-US" sz="1200" dirty="0">
                <a:solidFill>
                  <a:srgbClr val="272525"/>
                </a:solidFill>
                <a:latin typeface="Montserrat" pitchFamily="34" charset="0"/>
                <a:ea typeface="Montserrat" pitchFamily="34" charset="-122"/>
                <a:cs typeface="Montserrat" pitchFamily="34" charset="-120"/>
              </a:rPr>
              <a:t>Terraform automates infrastructure for online retail platforms, optimizing performance and reliability. It handles seasonal traffic spikes efficiently, ensuring a seamless shopping experience for customers and supports rapid deployment of new features and updates.</a:t>
            </a:r>
            <a:endParaRPr lang="en-US" sz="1200" dirty="0"/>
          </a:p>
        </p:txBody>
      </p:sp>
      <p:sp>
        <p:nvSpPr>
          <p:cNvPr id="14" name="Action Button: Go Forward or Next 12">
            <a:hlinkClick r:id="" action="ppaction://hlinkshowjump?jump=nextslide" highlightClick="1"/>
            <a:extLst>
              <a:ext uri="{FF2B5EF4-FFF2-40B4-BE49-F238E27FC236}">
                <a16:creationId xmlns:a16="http://schemas.microsoft.com/office/drawing/2014/main" xmlns="" id="{A1759A0D-3682-3D40-1D0D-CF7394972F07}"/>
              </a:ext>
            </a:extLst>
          </p:cNvPr>
          <p:cNvSpPr/>
          <p:nvPr/>
        </p:nvSpPr>
        <p:spPr>
          <a:xfrm>
            <a:off x="9422499" y="6559016"/>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5" name="Action Button: Go Back or Previous 13">
            <a:hlinkClick r:id="" action="ppaction://hlinkshowjump?jump=previousslide" highlightClick="1"/>
            <a:extLst>
              <a:ext uri="{FF2B5EF4-FFF2-40B4-BE49-F238E27FC236}">
                <a16:creationId xmlns:a16="http://schemas.microsoft.com/office/drawing/2014/main" xmlns="" id="{13D2EC06-23C5-78A9-FE08-1BF166795D4B}"/>
              </a:ext>
            </a:extLst>
          </p:cNvPr>
          <p:cNvSpPr/>
          <p:nvPr/>
        </p:nvSpPr>
        <p:spPr>
          <a:xfrm>
            <a:off x="8463410" y="654644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Home 5">
            <a:hlinkClick r:id="rId2"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670471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2"/>
            <a:ext cx="9906000" cy="2362696"/>
          </a:xfrm>
          <a:prstGeom prst="rect">
            <a:avLst/>
          </a:prstGeom>
        </p:spPr>
      </p:pic>
      <p:sp>
        <p:nvSpPr>
          <p:cNvPr id="3" name="Text 0"/>
          <p:cNvSpPr/>
          <p:nvPr/>
        </p:nvSpPr>
        <p:spPr>
          <a:xfrm>
            <a:off x="558115" y="2735664"/>
            <a:ext cx="4847637" cy="590649"/>
          </a:xfrm>
          <a:prstGeom prst="rect">
            <a:avLst/>
          </a:prstGeom>
          <a:noFill/>
          <a:ln/>
        </p:spPr>
        <p:txBody>
          <a:bodyPr wrap="none" lIns="0" tIns="0" rIns="0" bIns="0" rtlCol="0" anchor="t"/>
          <a:lstStyle/>
          <a:p>
            <a:pPr>
              <a:lnSpc>
                <a:spcPts val="3654"/>
              </a:lnSpc>
            </a:pPr>
            <a:r>
              <a:rPr lang="en-US" sz="3400" b="1" dirty="0">
                <a:solidFill>
                  <a:srgbClr val="0070C0"/>
                </a:solidFill>
                <a:latin typeface="Times New Roman" pitchFamily="18" charset="0"/>
                <a:ea typeface="Fraunces Extra Bold" pitchFamily="34" charset="-122"/>
                <a:cs typeface="Times New Roman" pitchFamily="18" charset="0"/>
              </a:rPr>
              <a:t>Security and Compliance</a:t>
            </a:r>
            <a:endParaRPr lang="en-US" sz="3400" dirty="0">
              <a:solidFill>
                <a:srgbClr val="0070C0"/>
              </a:solidFill>
              <a:latin typeface="Times New Roman" pitchFamily="18" charset="0"/>
              <a:cs typeface="Times New Roman" pitchFamily="18" charset="0"/>
            </a:endParaRPr>
          </a:p>
        </p:txBody>
      </p:sp>
      <p:sp>
        <p:nvSpPr>
          <p:cNvPr id="4" name="Shape 1"/>
          <p:cNvSpPr/>
          <p:nvPr/>
        </p:nvSpPr>
        <p:spPr>
          <a:xfrm>
            <a:off x="413497" y="3361144"/>
            <a:ext cx="2651730" cy="3201986"/>
          </a:xfrm>
          <a:prstGeom prst="roundRect">
            <a:avLst>
              <a:gd name="adj" fmla="val 10043"/>
            </a:avLst>
          </a:prstGeom>
          <a:solidFill>
            <a:srgbClr val="E8F3E8"/>
          </a:solidFill>
          <a:ln/>
        </p:spPr>
      </p:sp>
      <p:sp>
        <p:nvSpPr>
          <p:cNvPr id="5" name="Text 2"/>
          <p:cNvSpPr/>
          <p:nvPr/>
        </p:nvSpPr>
        <p:spPr>
          <a:xfrm>
            <a:off x="543964" y="3514727"/>
            <a:ext cx="2015088" cy="437357"/>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Access Controls</a:t>
            </a:r>
            <a:endParaRPr lang="en-US" sz="1400" dirty="0"/>
          </a:p>
        </p:txBody>
      </p:sp>
      <p:sp>
        <p:nvSpPr>
          <p:cNvPr id="6" name="Text 3"/>
          <p:cNvSpPr/>
          <p:nvPr/>
        </p:nvSpPr>
        <p:spPr>
          <a:xfrm>
            <a:off x="527451" y="3996278"/>
            <a:ext cx="2423818" cy="2252122"/>
          </a:xfrm>
          <a:prstGeom prst="rect">
            <a:avLst/>
          </a:prstGeom>
          <a:noFill/>
          <a:ln/>
        </p:spPr>
        <p:txBody>
          <a:bodyPr wrap="square" lIns="0" tIns="0" rIns="0" bIns="0" rtlCol="0" anchor="t"/>
          <a:lstStyle/>
          <a:p>
            <a:pPr>
              <a:lnSpc>
                <a:spcPts val="1877"/>
              </a:lnSpc>
            </a:pPr>
            <a:r>
              <a:rPr lang="en-US" sz="1200" dirty="0"/>
              <a:t>Access Control ensures that only </a:t>
            </a:r>
            <a:r>
              <a:rPr lang="en-US" sz="1200" b="1" dirty="0"/>
              <a:t>authorized users</a:t>
            </a:r>
            <a:r>
              <a:rPr lang="en-US" sz="1200" dirty="0"/>
              <a:t> can apply Terraform changes.</a:t>
            </a:r>
          </a:p>
          <a:p>
            <a:pPr>
              <a:lnSpc>
                <a:spcPts val="1877"/>
              </a:lnSpc>
            </a:pPr>
            <a:endParaRPr lang="en-US" sz="1200" dirty="0"/>
          </a:p>
          <a:p>
            <a:pPr>
              <a:lnSpc>
                <a:spcPts val="1877"/>
              </a:lnSpc>
            </a:pPr>
            <a:r>
              <a:rPr lang="en-US" sz="1200" b="1" dirty="0"/>
              <a:t>Use IAM Roles &amp; Policies</a:t>
            </a:r>
            <a:r>
              <a:rPr lang="en-US" sz="1200" dirty="0"/>
              <a:t> (AWS, Azure, GCP) to limit Terraform access.</a:t>
            </a:r>
          </a:p>
          <a:p>
            <a:pPr>
              <a:lnSpc>
                <a:spcPts val="1877"/>
              </a:lnSpc>
            </a:pPr>
            <a:endParaRPr lang="en-US" sz="1200" dirty="0"/>
          </a:p>
        </p:txBody>
      </p:sp>
      <p:sp>
        <p:nvSpPr>
          <p:cNvPr id="7" name="Shape 4"/>
          <p:cNvSpPr/>
          <p:nvPr/>
        </p:nvSpPr>
        <p:spPr>
          <a:xfrm>
            <a:off x="3224167" y="3351217"/>
            <a:ext cx="2806700" cy="3201985"/>
          </a:xfrm>
          <a:prstGeom prst="roundRect">
            <a:avLst>
              <a:gd name="adj" fmla="val 10043"/>
            </a:avLst>
          </a:prstGeom>
          <a:solidFill>
            <a:srgbClr val="E8F3E8"/>
          </a:solidFill>
          <a:ln/>
        </p:spPr>
      </p:sp>
      <p:sp>
        <p:nvSpPr>
          <p:cNvPr id="8" name="Text 5"/>
          <p:cNvSpPr/>
          <p:nvPr/>
        </p:nvSpPr>
        <p:spPr>
          <a:xfrm>
            <a:off x="3340370" y="3497310"/>
            <a:ext cx="2438130" cy="437356"/>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Policy Enforcement</a:t>
            </a:r>
            <a:endParaRPr lang="en-US" sz="1400" dirty="0"/>
          </a:p>
        </p:txBody>
      </p:sp>
      <p:sp>
        <p:nvSpPr>
          <p:cNvPr id="9" name="Text 6"/>
          <p:cNvSpPr/>
          <p:nvPr/>
        </p:nvSpPr>
        <p:spPr>
          <a:xfrm>
            <a:off x="3345087" y="4014518"/>
            <a:ext cx="2724150" cy="1315938"/>
          </a:xfrm>
          <a:prstGeom prst="rect">
            <a:avLst/>
          </a:prstGeom>
          <a:noFill/>
          <a:ln/>
        </p:spPr>
        <p:txBody>
          <a:bodyPr wrap="square" lIns="0" tIns="0" rIns="0" bIns="0" rtlCol="0" anchor="t"/>
          <a:lstStyle/>
          <a:p>
            <a:pPr>
              <a:lnSpc>
                <a:spcPts val="1877"/>
              </a:lnSpc>
            </a:pPr>
            <a:r>
              <a:rPr lang="en-US" sz="1200" dirty="0"/>
              <a:t>Policy enforcement ensures that Terraform deployments follow security, cost, and compliance standards.</a:t>
            </a:r>
          </a:p>
          <a:p>
            <a:pPr>
              <a:lnSpc>
                <a:spcPts val="1877"/>
              </a:lnSpc>
            </a:pPr>
            <a:r>
              <a:rPr lang="en-US" sz="1200" dirty="0"/>
              <a:t>It helps organizations prevent misconfigurations, unauthorized changes, and policy violations.</a:t>
            </a:r>
          </a:p>
          <a:p>
            <a:pPr>
              <a:lnSpc>
                <a:spcPts val="1877"/>
              </a:lnSpc>
            </a:pPr>
            <a:endParaRPr lang="en-US" sz="1200" b="1" dirty="0"/>
          </a:p>
        </p:txBody>
      </p:sp>
      <p:sp>
        <p:nvSpPr>
          <p:cNvPr id="10" name="Shape 7"/>
          <p:cNvSpPr/>
          <p:nvPr/>
        </p:nvSpPr>
        <p:spPr>
          <a:xfrm>
            <a:off x="6146675" y="3326310"/>
            <a:ext cx="2978404" cy="3226890"/>
          </a:xfrm>
          <a:prstGeom prst="roundRect">
            <a:avLst>
              <a:gd name="adj" fmla="val 10043"/>
            </a:avLst>
          </a:prstGeom>
          <a:solidFill>
            <a:srgbClr val="E8F3E8"/>
          </a:solidFill>
          <a:ln/>
        </p:spPr>
      </p:sp>
      <p:sp>
        <p:nvSpPr>
          <p:cNvPr id="11" name="Text 8"/>
          <p:cNvSpPr/>
          <p:nvPr/>
        </p:nvSpPr>
        <p:spPr>
          <a:xfrm>
            <a:off x="6303102" y="3443684"/>
            <a:ext cx="2559050" cy="289720"/>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Secrets Management</a:t>
            </a:r>
            <a:endParaRPr lang="en-US" sz="1400" dirty="0"/>
          </a:p>
        </p:txBody>
      </p:sp>
      <p:sp>
        <p:nvSpPr>
          <p:cNvPr id="12" name="Text 9"/>
          <p:cNvSpPr/>
          <p:nvPr/>
        </p:nvSpPr>
        <p:spPr>
          <a:xfrm>
            <a:off x="6288951" y="4014518"/>
            <a:ext cx="2880704" cy="1315938"/>
          </a:xfrm>
          <a:prstGeom prst="rect">
            <a:avLst/>
          </a:prstGeom>
          <a:noFill/>
          <a:ln/>
        </p:spPr>
        <p:txBody>
          <a:bodyPr wrap="square" lIns="0" tIns="0" rIns="0" bIns="0" rtlCol="0" anchor="t"/>
          <a:lstStyle/>
          <a:p>
            <a:pPr>
              <a:lnSpc>
                <a:spcPts val="1877"/>
              </a:lnSpc>
            </a:pPr>
            <a:r>
              <a:rPr lang="en-US" sz="1200" dirty="0"/>
              <a:t>Terraform configurations should never store sensitive credentials directly.</a:t>
            </a:r>
          </a:p>
          <a:p>
            <a:pPr>
              <a:lnSpc>
                <a:spcPts val="1877"/>
              </a:lnSpc>
            </a:pPr>
            <a:endParaRPr lang="en-US" sz="1200" dirty="0"/>
          </a:p>
          <a:p>
            <a:pPr>
              <a:lnSpc>
                <a:spcPts val="1877"/>
              </a:lnSpc>
            </a:pPr>
            <a:r>
              <a:rPr lang="en-US" sz="1200" b="1" dirty="0"/>
              <a:t>Example:</a:t>
            </a:r>
          </a:p>
          <a:p>
            <a:pPr>
              <a:lnSpc>
                <a:spcPts val="1877"/>
              </a:lnSpc>
            </a:pPr>
            <a:r>
              <a:rPr lang="en-US" sz="1200" b="1" dirty="0"/>
              <a:t>variable "db_password" {</a:t>
            </a:r>
          </a:p>
          <a:p>
            <a:pPr>
              <a:lnSpc>
                <a:spcPts val="1877"/>
              </a:lnSpc>
            </a:pPr>
            <a:r>
              <a:rPr lang="en-US" sz="1200" b="1" dirty="0"/>
              <a:t>  type      = string</a:t>
            </a:r>
          </a:p>
          <a:p>
            <a:pPr>
              <a:lnSpc>
                <a:spcPts val="1877"/>
              </a:lnSpc>
            </a:pPr>
            <a:r>
              <a:rPr lang="en-US" sz="1200" b="1" dirty="0"/>
              <a:t>  sensitive = true</a:t>
            </a:r>
          </a:p>
          <a:p>
            <a:pPr>
              <a:lnSpc>
                <a:spcPts val="1877"/>
              </a:lnSpc>
            </a:pPr>
            <a:r>
              <a:rPr lang="en-US" sz="1200" b="1" dirty="0"/>
              <a:t>}</a:t>
            </a:r>
          </a:p>
          <a:p>
            <a:pPr>
              <a:lnSpc>
                <a:spcPts val="1877"/>
              </a:lnSpc>
            </a:pPr>
            <a:endParaRPr lang="en-US" sz="1200" dirty="0"/>
          </a:p>
        </p:txBody>
      </p:sp>
      <p:sp>
        <p:nvSpPr>
          <p:cNvPr id="14" name="Action Button: Go Forward or Next 12">
            <a:hlinkClick r:id="" action="ppaction://hlinkshowjump?jump=nextslide" highlightClick="1"/>
            <a:extLst>
              <a:ext uri="{FF2B5EF4-FFF2-40B4-BE49-F238E27FC236}">
                <a16:creationId xmlns:a16="http://schemas.microsoft.com/office/drawing/2014/main" xmlns="" id="{6A73B8C6-186A-DC7C-EFD4-53D4F743609C}"/>
              </a:ext>
            </a:extLst>
          </p:cNvPr>
          <p:cNvSpPr/>
          <p:nvPr/>
        </p:nvSpPr>
        <p:spPr>
          <a:xfrm>
            <a:off x="9387446"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5" name="Action Button: Go Back or Previous 13">
            <a:hlinkClick r:id="" action="ppaction://hlinkshowjump?jump=previousslide" highlightClick="1"/>
            <a:extLst>
              <a:ext uri="{FF2B5EF4-FFF2-40B4-BE49-F238E27FC236}">
                <a16:creationId xmlns:a16="http://schemas.microsoft.com/office/drawing/2014/main" xmlns="" id="{65A1394A-B5C1-0A69-5757-5065A00B8451}"/>
              </a:ext>
            </a:extLst>
          </p:cNvPr>
          <p:cNvSpPr/>
          <p:nvPr/>
        </p:nvSpPr>
        <p:spPr>
          <a:xfrm>
            <a:off x="8420100"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17" name="Action Button: Go Home 5">
            <a:hlinkClick r:id="rId3"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464335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43657" y="1083918"/>
            <a:ext cx="3330860" cy="4099520"/>
          </a:xfrm>
          <a:prstGeom prst="rect">
            <a:avLst/>
          </a:prstGeom>
        </p:spPr>
      </p:pic>
      <p:sp>
        <p:nvSpPr>
          <p:cNvPr id="3" name="Text 0"/>
          <p:cNvSpPr/>
          <p:nvPr/>
        </p:nvSpPr>
        <p:spPr>
          <a:xfrm>
            <a:off x="2541599" y="370117"/>
            <a:ext cx="3974412" cy="590649"/>
          </a:xfrm>
          <a:prstGeom prst="rect">
            <a:avLst/>
          </a:prstGeom>
          <a:noFill/>
          <a:ln/>
        </p:spPr>
        <p:txBody>
          <a:bodyPr wrap="none" lIns="0" tIns="0" rIns="0" bIns="0" rtlCol="0" anchor="t"/>
          <a:lstStyle/>
          <a:p>
            <a:pPr algn="ctr">
              <a:lnSpc>
                <a:spcPts val="3654"/>
              </a:lnSpc>
            </a:pPr>
            <a:r>
              <a:rPr lang="en-US" sz="2900" b="1" dirty="0">
                <a:solidFill>
                  <a:srgbClr val="0070C0"/>
                </a:solidFill>
                <a:latin typeface="Fraunces Extra Bold" pitchFamily="34" charset="0"/>
                <a:ea typeface="Fraunces Extra Bold" pitchFamily="34" charset="-122"/>
                <a:cs typeface="Fraunces Extra Bold" pitchFamily="34" charset="-120"/>
              </a:rPr>
              <a:t>Future of Terraform</a:t>
            </a:r>
            <a:endParaRPr lang="en-US" sz="2900" dirty="0">
              <a:solidFill>
                <a:srgbClr val="0070C0"/>
              </a:solidFill>
            </a:endParaRPr>
          </a:p>
        </p:txBody>
      </p:sp>
      <p:sp>
        <p:nvSpPr>
          <p:cNvPr id="4" name="Shape 1"/>
          <p:cNvSpPr/>
          <p:nvPr/>
        </p:nvSpPr>
        <p:spPr>
          <a:xfrm flipH="1">
            <a:off x="4412699" y="875061"/>
            <a:ext cx="63761" cy="5279290"/>
          </a:xfrm>
          <a:prstGeom prst="roundRect">
            <a:avLst>
              <a:gd name="adj" fmla="val 669768"/>
            </a:avLst>
          </a:prstGeom>
          <a:solidFill>
            <a:srgbClr val="CED9CE"/>
          </a:solidFill>
          <a:ln/>
        </p:spPr>
      </p:sp>
      <p:sp>
        <p:nvSpPr>
          <p:cNvPr id="5" name="Shape 2"/>
          <p:cNvSpPr/>
          <p:nvPr/>
        </p:nvSpPr>
        <p:spPr>
          <a:xfrm>
            <a:off x="4656592" y="1676402"/>
            <a:ext cx="460716" cy="25400"/>
          </a:xfrm>
          <a:prstGeom prst="roundRect">
            <a:avLst>
              <a:gd name="adj" fmla="val 669768"/>
            </a:avLst>
          </a:prstGeom>
          <a:solidFill>
            <a:srgbClr val="CED9CE"/>
          </a:solidFill>
          <a:ln/>
        </p:spPr>
      </p:sp>
      <p:sp>
        <p:nvSpPr>
          <p:cNvPr id="6" name="Shape 3"/>
          <p:cNvSpPr/>
          <p:nvPr/>
        </p:nvSpPr>
        <p:spPr>
          <a:xfrm>
            <a:off x="4274091" y="1013075"/>
            <a:ext cx="345517" cy="425252"/>
          </a:xfrm>
          <a:prstGeom prst="roundRect">
            <a:avLst>
              <a:gd name="adj" fmla="val 40005"/>
            </a:avLst>
          </a:prstGeom>
          <a:solidFill>
            <a:srgbClr val="E8F3E8"/>
          </a:solidFill>
          <a:ln/>
        </p:spPr>
      </p:sp>
      <p:sp>
        <p:nvSpPr>
          <p:cNvPr id="7" name="Text 4"/>
          <p:cNvSpPr/>
          <p:nvPr/>
        </p:nvSpPr>
        <p:spPr>
          <a:xfrm>
            <a:off x="4331690" y="1083915"/>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1</a:t>
            </a:r>
            <a:endParaRPr lang="en-US" sz="1800" dirty="0"/>
          </a:p>
        </p:txBody>
      </p:sp>
      <p:sp>
        <p:nvSpPr>
          <p:cNvPr id="8" name="Text 5"/>
          <p:cNvSpPr/>
          <p:nvPr/>
        </p:nvSpPr>
        <p:spPr>
          <a:xfrm>
            <a:off x="4792366" y="988150"/>
            <a:ext cx="2223933"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Improved Integrations</a:t>
            </a:r>
            <a:endParaRPr lang="en-US" sz="1400" dirty="0"/>
          </a:p>
        </p:txBody>
      </p:sp>
      <p:sp>
        <p:nvSpPr>
          <p:cNvPr id="9" name="Text 6"/>
          <p:cNvSpPr/>
          <p:nvPr/>
        </p:nvSpPr>
        <p:spPr>
          <a:xfrm>
            <a:off x="4792366" y="1283423"/>
            <a:ext cx="4175707"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Deeper integration with cloud providers and other tools.</a:t>
            </a:r>
            <a:endParaRPr lang="en-US" sz="1200" dirty="0"/>
          </a:p>
        </p:txBody>
      </p:sp>
      <p:sp>
        <p:nvSpPr>
          <p:cNvPr id="10" name="Shape 7"/>
          <p:cNvSpPr/>
          <p:nvPr/>
        </p:nvSpPr>
        <p:spPr>
          <a:xfrm>
            <a:off x="4632664" y="2836370"/>
            <a:ext cx="460716" cy="25400"/>
          </a:xfrm>
          <a:prstGeom prst="roundRect">
            <a:avLst>
              <a:gd name="adj" fmla="val 669768"/>
            </a:avLst>
          </a:prstGeom>
          <a:solidFill>
            <a:srgbClr val="CED9CE"/>
          </a:solidFill>
          <a:ln/>
        </p:spPr>
      </p:sp>
      <p:sp>
        <p:nvSpPr>
          <p:cNvPr id="11" name="Shape 8"/>
          <p:cNvSpPr/>
          <p:nvPr/>
        </p:nvSpPr>
        <p:spPr>
          <a:xfrm>
            <a:off x="4274091" y="1905002"/>
            <a:ext cx="345517" cy="425252"/>
          </a:xfrm>
          <a:prstGeom prst="roundRect">
            <a:avLst>
              <a:gd name="adj" fmla="val 40005"/>
            </a:avLst>
          </a:prstGeom>
          <a:solidFill>
            <a:srgbClr val="E8F3E8"/>
          </a:solidFill>
          <a:ln/>
        </p:spPr>
      </p:sp>
      <p:sp>
        <p:nvSpPr>
          <p:cNvPr id="12" name="Text 9"/>
          <p:cNvSpPr/>
          <p:nvPr/>
        </p:nvSpPr>
        <p:spPr>
          <a:xfrm>
            <a:off x="4331690" y="1975844"/>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2</a:t>
            </a:r>
            <a:endParaRPr lang="en-US" sz="1800" dirty="0"/>
          </a:p>
        </p:txBody>
      </p:sp>
      <p:sp>
        <p:nvSpPr>
          <p:cNvPr id="13" name="Text 10"/>
          <p:cNvSpPr/>
          <p:nvPr/>
        </p:nvSpPr>
        <p:spPr>
          <a:xfrm>
            <a:off x="4792366" y="1905003"/>
            <a:ext cx="2179353"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Enhanced Automation</a:t>
            </a:r>
            <a:endParaRPr lang="en-US" sz="1400" dirty="0"/>
          </a:p>
        </p:txBody>
      </p:sp>
      <p:sp>
        <p:nvSpPr>
          <p:cNvPr id="14" name="Text 11"/>
          <p:cNvSpPr/>
          <p:nvPr/>
        </p:nvSpPr>
        <p:spPr>
          <a:xfrm>
            <a:off x="4804160" y="2218440"/>
            <a:ext cx="4175707" cy="604838"/>
          </a:xfrm>
          <a:prstGeom prst="rect">
            <a:avLst/>
          </a:prstGeom>
          <a:noFill/>
          <a:ln/>
        </p:spPr>
        <p:txBody>
          <a:bodyPr wrap="squar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More sophisticated automation capabilities for complex workflows.</a:t>
            </a:r>
            <a:endParaRPr lang="en-US" sz="1200" dirty="0"/>
          </a:p>
        </p:txBody>
      </p:sp>
      <p:sp>
        <p:nvSpPr>
          <p:cNvPr id="16" name="Shape 13"/>
          <p:cNvSpPr/>
          <p:nvPr/>
        </p:nvSpPr>
        <p:spPr>
          <a:xfrm>
            <a:off x="4249324" y="3040055"/>
            <a:ext cx="345517" cy="425252"/>
          </a:xfrm>
          <a:prstGeom prst="roundRect">
            <a:avLst>
              <a:gd name="adj" fmla="val 40005"/>
            </a:avLst>
          </a:prstGeom>
          <a:solidFill>
            <a:srgbClr val="E8F3E8"/>
          </a:solidFill>
          <a:ln/>
        </p:spPr>
      </p:sp>
      <p:sp>
        <p:nvSpPr>
          <p:cNvPr id="17" name="Text 14"/>
          <p:cNvSpPr/>
          <p:nvPr/>
        </p:nvSpPr>
        <p:spPr>
          <a:xfrm>
            <a:off x="4306926" y="3133676"/>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cs typeface="Fraunces Extra Bold" pitchFamily="34" charset="-120"/>
              </a:rPr>
              <a:t>3</a:t>
            </a:r>
            <a:endParaRPr lang="en-US" sz="1800" dirty="0"/>
          </a:p>
        </p:txBody>
      </p:sp>
      <p:sp>
        <p:nvSpPr>
          <p:cNvPr id="18" name="Text 15"/>
          <p:cNvSpPr/>
          <p:nvPr/>
        </p:nvSpPr>
        <p:spPr>
          <a:xfrm>
            <a:off x="4804157" y="3021096"/>
            <a:ext cx="2016349" cy="295275"/>
          </a:xfrm>
          <a:prstGeom prst="rect">
            <a:avLst/>
          </a:prstGeom>
          <a:noFill/>
          <a:ln/>
        </p:spPr>
        <p:txBody>
          <a:bodyPr wrap="none" lIns="0" tIns="0" rIns="0" bIns="0" rtlCol="0" anchor="t"/>
          <a:lstStyle/>
          <a:p>
            <a:pPr>
              <a:lnSpc>
                <a:spcPts val="1811"/>
              </a:lnSpc>
            </a:pPr>
            <a:r>
              <a:rPr lang="en-US" sz="1400" b="1" dirty="0">
                <a:solidFill>
                  <a:srgbClr val="405449"/>
                </a:solidFill>
                <a:latin typeface="Fraunces Extra Bold" pitchFamily="34" charset="0"/>
                <a:ea typeface="Fraunces Extra Bold" pitchFamily="34" charset="-122"/>
                <a:cs typeface="Fraunces Extra Bold" pitchFamily="34" charset="-120"/>
              </a:rPr>
              <a:t>AI-Powered Insights</a:t>
            </a:r>
            <a:endParaRPr lang="en-US" sz="1400" dirty="0"/>
          </a:p>
        </p:txBody>
      </p:sp>
      <p:sp>
        <p:nvSpPr>
          <p:cNvPr id="19" name="Text 16"/>
          <p:cNvSpPr/>
          <p:nvPr/>
        </p:nvSpPr>
        <p:spPr>
          <a:xfrm>
            <a:off x="4838445" y="3252680"/>
            <a:ext cx="4175707"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cs typeface="Nobile" pitchFamily="34" charset="-120"/>
              </a:rPr>
              <a:t>AI to analyze configurations and suggest improvements.</a:t>
            </a:r>
            <a:endParaRPr lang="en-US" sz="1200" dirty="0"/>
          </a:p>
        </p:txBody>
      </p:sp>
      <p:sp>
        <p:nvSpPr>
          <p:cNvPr id="21" name="Action Button: Go Forward or Next 19">
            <a:hlinkClick r:id="" action="ppaction://hlinkshowjump?jump=nextslide" highlightClick="1"/>
            <a:extLst>
              <a:ext uri="{FF2B5EF4-FFF2-40B4-BE49-F238E27FC236}">
                <a16:creationId xmlns="" xmlns:a16="http://schemas.microsoft.com/office/drawing/2014/main" id="{EFEE1D46-7E27-B628-E680-62D6E848DA1B}"/>
              </a:ext>
            </a:extLst>
          </p:cNvPr>
          <p:cNvSpPr/>
          <p:nvPr/>
        </p:nvSpPr>
        <p:spPr>
          <a:xfrm>
            <a:off x="9425615"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2" name="Action Button: Go Back or Previous 20">
            <a:hlinkClick r:id="" action="ppaction://hlinkshowjump?jump=previousslide" highlightClick="1"/>
            <a:extLst>
              <a:ext uri="{FF2B5EF4-FFF2-40B4-BE49-F238E27FC236}">
                <a16:creationId xmlns="" xmlns:a16="http://schemas.microsoft.com/office/drawing/2014/main" id="{25DC3165-458B-CC9C-D419-7E211D793144}"/>
              </a:ext>
            </a:extLst>
          </p:cNvPr>
          <p:cNvSpPr/>
          <p:nvPr/>
        </p:nvSpPr>
        <p:spPr>
          <a:xfrm>
            <a:off x="8449951" y="6561789"/>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4" name="Action Button: Go Home 5">
            <a:hlinkClick r:id="rId3"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46" name="Text 0"/>
          <p:cNvSpPr/>
          <p:nvPr/>
        </p:nvSpPr>
        <p:spPr>
          <a:xfrm>
            <a:off x="4369025" y="875064"/>
            <a:ext cx="3974412" cy="590649"/>
          </a:xfrm>
          <a:prstGeom prst="rect">
            <a:avLst/>
          </a:prstGeom>
          <a:noFill/>
          <a:ln/>
        </p:spPr>
        <p:txBody>
          <a:bodyPr wrap="none" lIns="0" tIns="0" rIns="0" bIns="0" rtlCol="0" anchor="t"/>
          <a:lstStyle/>
          <a:p>
            <a:pPr>
              <a:lnSpc>
                <a:spcPts val="3654"/>
              </a:lnSpc>
            </a:pPr>
            <a:endParaRPr lang="en-US" sz="2900" dirty="0">
              <a:solidFill>
                <a:srgbClr val="0070C0"/>
              </a:solidFill>
            </a:endParaRPr>
          </a:p>
        </p:txBody>
      </p:sp>
      <p:sp>
        <p:nvSpPr>
          <p:cNvPr id="48" name="Shape 2"/>
          <p:cNvSpPr/>
          <p:nvPr/>
        </p:nvSpPr>
        <p:spPr>
          <a:xfrm>
            <a:off x="2025479" y="2520862"/>
            <a:ext cx="460716" cy="25400"/>
          </a:xfrm>
          <a:prstGeom prst="roundRect">
            <a:avLst>
              <a:gd name="adj" fmla="val 669768"/>
            </a:avLst>
          </a:prstGeom>
          <a:solidFill>
            <a:srgbClr val="CED9CE"/>
          </a:solidFill>
          <a:ln/>
        </p:spPr>
      </p:sp>
      <p:sp>
        <p:nvSpPr>
          <p:cNvPr id="51" name="Text 5"/>
          <p:cNvSpPr/>
          <p:nvPr/>
        </p:nvSpPr>
        <p:spPr>
          <a:xfrm>
            <a:off x="730537" y="1434634"/>
            <a:ext cx="2223933" cy="295275"/>
          </a:xfrm>
          <a:prstGeom prst="rect">
            <a:avLst/>
          </a:prstGeom>
          <a:noFill/>
          <a:ln/>
        </p:spPr>
        <p:txBody>
          <a:bodyPr wrap="none" lIns="0" tIns="0" rIns="0" bIns="0" rtlCol="0" anchor="t"/>
          <a:lstStyle/>
          <a:p>
            <a:pPr>
              <a:lnSpc>
                <a:spcPts val="1811"/>
              </a:lnSpc>
            </a:pPr>
            <a:endParaRPr lang="en-US" sz="1400" dirty="0"/>
          </a:p>
        </p:txBody>
      </p:sp>
      <p:sp>
        <p:nvSpPr>
          <p:cNvPr id="52" name="Text 6"/>
          <p:cNvSpPr/>
          <p:nvPr/>
        </p:nvSpPr>
        <p:spPr>
          <a:xfrm>
            <a:off x="4838444" y="4389074"/>
            <a:ext cx="4175707" cy="302419"/>
          </a:xfrm>
          <a:prstGeom prst="rect">
            <a:avLst/>
          </a:prstGeom>
          <a:noFill/>
          <a:ln/>
        </p:spPr>
        <p:txBody>
          <a:bodyPr wrap="none" lIns="0" tIns="0" rIns="0" bIns="0" rtlCol="0" anchor="t"/>
          <a:lstStyle/>
          <a:p>
            <a:pPr>
              <a:lnSpc>
                <a:spcPts val="1877"/>
              </a:lnSpc>
            </a:pPr>
            <a:r>
              <a:rPr lang="en-US" sz="1200" dirty="0">
                <a:solidFill>
                  <a:srgbClr val="405449"/>
                </a:solidFill>
                <a:latin typeface="Nobile" pitchFamily="34" charset="0"/>
                <a:ea typeface="Nobile" pitchFamily="34" charset="-122"/>
              </a:rPr>
              <a:t>Terraform will focus on better state management to reduce </a:t>
            </a:r>
          </a:p>
          <a:p>
            <a:pPr>
              <a:lnSpc>
                <a:spcPts val="1877"/>
              </a:lnSpc>
            </a:pPr>
            <a:r>
              <a:rPr lang="en-US" sz="1200" dirty="0">
                <a:solidFill>
                  <a:srgbClr val="405449"/>
                </a:solidFill>
                <a:latin typeface="Nobile" pitchFamily="34" charset="0"/>
                <a:ea typeface="Nobile" pitchFamily="34" charset="-122"/>
              </a:rPr>
              <a:t>latency in large infrastructures.</a:t>
            </a:r>
            <a:endParaRPr lang="en-US" sz="1200" dirty="0"/>
          </a:p>
        </p:txBody>
      </p:sp>
      <p:sp>
        <p:nvSpPr>
          <p:cNvPr id="53" name="Shape 7"/>
          <p:cNvSpPr/>
          <p:nvPr/>
        </p:nvSpPr>
        <p:spPr>
          <a:xfrm>
            <a:off x="4649131" y="3607551"/>
            <a:ext cx="460716" cy="25400"/>
          </a:xfrm>
          <a:prstGeom prst="roundRect">
            <a:avLst>
              <a:gd name="adj" fmla="val 669768"/>
            </a:avLst>
          </a:prstGeom>
          <a:solidFill>
            <a:srgbClr val="CED9CE"/>
          </a:solidFill>
          <a:ln/>
        </p:spPr>
      </p:sp>
      <p:sp>
        <p:nvSpPr>
          <p:cNvPr id="54" name="Shape 8"/>
          <p:cNvSpPr/>
          <p:nvPr/>
        </p:nvSpPr>
        <p:spPr>
          <a:xfrm>
            <a:off x="4274091" y="3862439"/>
            <a:ext cx="345517" cy="425252"/>
          </a:xfrm>
          <a:prstGeom prst="roundRect">
            <a:avLst>
              <a:gd name="adj" fmla="val 40005"/>
            </a:avLst>
          </a:prstGeom>
          <a:solidFill>
            <a:srgbClr val="E8F3E8"/>
          </a:solidFill>
          <a:ln/>
        </p:spPr>
      </p:sp>
      <p:sp>
        <p:nvSpPr>
          <p:cNvPr id="55" name="Text 9"/>
          <p:cNvSpPr/>
          <p:nvPr/>
        </p:nvSpPr>
        <p:spPr>
          <a:xfrm>
            <a:off x="4315471" y="3953856"/>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rPr>
              <a:t>4</a:t>
            </a:r>
            <a:endParaRPr lang="en-US" sz="1800" dirty="0"/>
          </a:p>
        </p:txBody>
      </p:sp>
      <p:sp>
        <p:nvSpPr>
          <p:cNvPr id="56" name="Text 10"/>
          <p:cNvSpPr/>
          <p:nvPr/>
        </p:nvSpPr>
        <p:spPr>
          <a:xfrm>
            <a:off x="4883864" y="3862439"/>
            <a:ext cx="2179353" cy="295275"/>
          </a:xfrm>
          <a:prstGeom prst="rect">
            <a:avLst/>
          </a:prstGeom>
          <a:noFill/>
          <a:ln/>
        </p:spPr>
        <p:txBody>
          <a:bodyPr wrap="none" lIns="0" tIns="0" rIns="0" bIns="0" rtlCol="0" anchor="t"/>
          <a:lstStyle/>
          <a:p>
            <a:pPr>
              <a:lnSpc>
                <a:spcPts val="1811"/>
              </a:lnSpc>
            </a:pPr>
            <a:r>
              <a:rPr lang="en-US" sz="1400" b="1" dirty="0"/>
              <a:t>State management &amp; performance </a:t>
            </a:r>
          </a:p>
          <a:p>
            <a:pPr>
              <a:lnSpc>
                <a:spcPts val="1811"/>
              </a:lnSpc>
            </a:pPr>
            <a:r>
              <a:rPr lang="en-US" sz="1400" b="1" dirty="0"/>
              <a:t>Improvements</a:t>
            </a:r>
          </a:p>
        </p:txBody>
      </p:sp>
      <p:sp>
        <p:nvSpPr>
          <p:cNvPr id="57" name="Text 11"/>
          <p:cNvSpPr/>
          <p:nvPr/>
        </p:nvSpPr>
        <p:spPr>
          <a:xfrm>
            <a:off x="-499196" y="3953856"/>
            <a:ext cx="4175707" cy="604838"/>
          </a:xfrm>
          <a:prstGeom prst="rect">
            <a:avLst/>
          </a:prstGeom>
          <a:noFill/>
          <a:ln/>
        </p:spPr>
        <p:txBody>
          <a:bodyPr wrap="square" lIns="0" tIns="0" rIns="0" bIns="0" rtlCol="0" anchor="t"/>
          <a:lstStyle/>
          <a:p>
            <a:pPr>
              <a:lnSpc>
                <a:spcPts val="1877"/>
              </a:lnSpc>
            </a:pPr>
            <a:endParaRPr lang="en-US" sz="1200" dirty="0"/>
          </a:p>
        </p:txBody>
      </p:sp>
      <p:sp>
        <p:nvSpPr>
          <p:cNvPr id="58" name="Shape 12"/>
          <p:cNvSpPr/>
          <p:nvPr/>
        </p:nvSpPr>
        <p:spPr>
          <a:xfrm>
            <a:off x="4653505" y="4972971"/>
            <a:ext cx="460716" cy="25400"/>
          </a:xfrm>
          <a:prstGeom prst="roundRect">
            <a:avLst>
              <a:gd name="adj" fmla="val 669768"/>
            </a:avLst>
          </a:prstGeom>
          <a:solidFill>
            <a:srgbClr val="CED9CE"/>
          </a:solidFill>
          <a:ln/>
        </p:spPr>
      </p:sp>
      <p:sp>
        <p:nvSpPr>
          <p:cNvPr id="59" name="Shape 13"/>
          <p:cNvSpPr/>
          <p:nvPr/>
        </p:nvSpPr>
        <p:spPr>
          <a:xfrm>
            <a:off x="4274091" y="5009508"/>
            <a:ext cx="345517" cy="425252"/>
          </a:xfrm>
          <a:prstGeom prst="roundRect">
            <a:avLst>
              <a:gd name="adj" fmla="val 40005"/>
            </a:avLst>
          </a:prstGeom>
          <a:solidFill>
            <a:srgbClr val="E8F3E8"/>
          </a:solidFill>
          <a:ln/>
        </p:spPr>
      </p:sp>
      <p:sp>
        <p:nvSpPr>
          <p:cNvPr id="60" name="Text 14"/>
          <p:cNvSpPr/>
          <p:nvPr/>
        </p:nvSpPr>
        <p:spPr>
          <a:xfrm>
            <a:off x="4322307" y="5033190"/>
            <a:ext cx="230318" cy="354409"/>
          </a:xfrm>
          <a:prstGeom prst="rect">
            <a:avLst/>
          </a:prstGeom>
          <a:noFill/>
          <a:ln/>
        </p:spPr>
        <p:txBody>
          <a:bodyPr wrap="none" lIns="0" tIns="0" rIns="0" bIns="0" rtlCol="0" anchor="t"/>
          <a:lstStyle/>
          <a:p>
            <a:pPr algn="ctr">
              <a:lnSpc>
                <a:spcPts val="1745"/>
              </a:lnSpc>
            </a:pPr>
            <a:r>
              <a:rPr lang="en-US" sz="1800" b="1" dirty="0">
                <a:solidFill>
                  <a:srgbClr val="405449"/>
                </a:solidFill>
                <a:latin typeface="Fraunces Extra Bold" pitchFamily="34" charset="0"/>
                <a:ea typeface="Fraunces Extra Bold" pitchFamily="34" charset="-122"/>
              </a:rPr>
              <a:t>5</a:t>
            </a:r>
            <a:endParaRPr lang="en-US" sz="1800" dirty="0"/>
          </a:p>
        </p:txBody>
      </p:sp>
      <p:sp>
        <p:nvSpPr>
          <p:cNvPr id="61" name="Text 15"/>
          <p:cNvSpPr/>
          <p:nvPr/>
        </p:nvSpPr>
        <p:spPr>
          <a:xfrm>
            <a:off x="4826648" y="5074497"/>
            <a:ext cx="2016349" cy="295275"/>
          </a:xfrm>
          <a:prstGeom prst="rect">
            <a:avLst/>
          </a:prstGeom>
          <a:noFill/>
          <a:ln/>
        </p:spPr>
        <p:txBody>
          <a:bodyPr wrap="none" lIns="0" tIns="0" rIns="0" bIns="0" rtlCol="0" anchor="t"/>
          <a:lstStyle/>
          <a:p>
            <a:pPr>
              <a:lnSpc>
                <a:spcPts val="1811"/>
              </a:lnSpc>
            </a:pPr>
            <a:r>
              <a:rPr lang="en-US" sz="1400" b="1" dirty="0"/>
              <a:t>Low-Code &amp; No-Code Terraform Solution</a:t>
            </a:r>
          </a:p>
        </p:txBody>
      </p:sp>
      <p:sp>
        <p:nvSpPr>
          <p:cNvPr id="62" name="Text 16"/>
          <p:cNvSpPr/>
          <p:nvPr/>
        </p:nvSpPr>
        <p:spPr>
          <a:xfrm>
            <a:off x="4863023" y="5406458"/>
            <a:ext cx="4541753" cy="339426"/>
          </a:xfrm>
          <a:prstGeom prst="rect">
            <a:avLst/>
          </a:prstGeom>
          <a:noFill/>
          <a:ln/>
        </p:spPr>
        <p:txBody>
          <a:bodyPr wrap="none" lIns="0" tIns="0" rIns="0" bIns="0" rtlCol="0" anchor="t"/>
          <a:lstStyle/>
          <a:p>
            <a:pPr>
              <a:lnSpc>
                <a:spcPts val="1877"/>
              </a:lnSpc>
            </a:pPr>
            <a:r>
              <a:rPr lang="en-US" sz="1200" dirty="0"/>
              <a:t>Terraform may introduce more user-friendly </a:t>
            </a:r>
          </a:p>
          <a:p>
            <a:pPr>
              <a:lnSpc>
                <a:spcPts val="1877"/>
              </a:lnSpc>
            </a:pPr>
            <a:r>
              <a:rPr lang="en-US" sz="1200" dirty="0"/>
              <a:t>low-code interfaces.</a:t>
            </a:r>
          </a:p>
        </p:txBody>
      </p:sp>
    </p:spTree>
    <p:extLst>
      <p:ext uri="{BB962C8B-B14F-4D97-AF65-F5344CB8AC3E}">
        <p14:creationId xmlns:p14="http://schemas.microsoft.com/office/powerpoint/2010/main" val="1572261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6637" y="200697"/>
            <a:ext cx="5435321" cy="590649"/>
          </a:xfrm>
          <a:prstGeom prst="rect">
            <a:avLst/>
          </a:prstGeom>
          <a:noFill/>
          <a:ln/>
        </p:spPr>
        <p:txBody>
          <a:bodyPr wrap="none" lIns="0" tIns="0" rIns="0" bIns="0" rtlCol="0" anchor="t"/>
          <a:lstStyle/>
          <a:p>
            <a:pPr>
              <a:lnSpc>
                <a:spcPts val="3654"/>
              </a:lnSpc>
            </a:pPr>
            <a:r>
              <a:rPr lang="en-US" sz="3400" b="1" dirty="0">
                <a:solidFill>
                  <a:srgbClr val="0070C0"/>
                </a:solidFill>
                <a:latin typeface="Times New Roman" pitchFamily="18" charset="0"/>
                <a:ea typeface="Fraunces Extra Bold" pitchFamily="34" charset="-122"/>
                <a:cs typeface="Times New Roman" pitchFamily="18" charset="0"/>
              </a:rPr>
              <a:t>Best Practices &amp; Conclusion</a:t>
            </a:r>
            <a:endParaRPr lang="en-US" sz="3400" dirty="0">
              <a:solidFill>
                <a:srgbClr val="0070C0"/>
              </a:solidFill>
              <a:latin typeface="Times New Roman" pitchFamily="18" charset="0"/>
              <a:cs typeface="Times New Roman" pitchFamily="18" charset="0"/>
            </a:endParaRPr>
          </a:p>
        </p:txBody>
      </p:sp>
      <p:sp>
        <p:nvSpPr>
          <p:cNvPr id="3" name="Text 1"/>
          <p:cNvSpPr/>
          <p:nvPr/>
        </p:nvSpPr>
        <p:spPr>
          <a:xfrm>
            <a:off x="1353450" y="1579465"/>
            <a:ext cx="1919690" cy="403424"/>
          </a:xfrm>
          <a:prstGeom prst="rect">
            <a:avLst/>
          </a:prstGeom>
          <a:noFill/>
          <a:ln/>
        </p:spPr>
        <p:txBody>
          <a:bodyPr wrap="none" lIns="0" tIns="0" rIns="0" bIns="0" rtlCol="0" anchor="t"/>
          <a:lstStyle/>
          <a:p>
            <a:pPr algn="r">
              <a:lnSpc>
                <a:spcPts val="1811"/>
              </a:lnSpc>
            </a:pPr>
            <a:r>
              <a:rPr lang="en-US" sz="2600" b="1" dirty="0">
                <a:solidFill>
                  <a:srgbClr val="405449"/>
                </a:solidFill>
                <a:latin typeface="Times New Roman" pitchFamily="18" charset="0"/>
                <a:ea typeface="Fraunces Extra Bold" pitchFamily="34" charset="-122"/>
                <a:cs typeface="Times New Roman" pitchFamily="18" charset="0"/>
              </a:rPr>
              <a:t>Code</a:t>
            </a:r>
            <a:endParaRPr lang="en-US" sz="2600" dirty="0">
              <a:latin typeface="Times New Roman" pitchFamily="18" charset="0"/>
              <a:cs typeface="Times New Roman" pitchFamily="18" charset="0"/>
            </a:endParaRPr>
          </a:p>
        </p:txBody>
      </p:sp>
      <p:sp>
        <p:nvSpPr>
          <p:cNvPr id="4" name="Text 2"/>
          <p:cNvSpPr/>
          <p:nvPr/>
        </p:nvSpPr>
        <p:spPr>
          <a:xfrm>
            <a:off x="208044" y="2058889"/>
            <a:ext cx="2948904" cy="604838"/>
          </a:xfrm>
          <a:prstGeom prst="rect">
            <a:avLst/>
          </a:prstGeom>
          <a:noFill/>
          <a:ln/>
        </p:spPr>
        <p:txBody>
          <a:bodyPr wrap="square" lIns="0" tIns="0" rIns="0" bIns="0" rtlCol="0" anchor="t"/>
          <a:lstStyle/>
          <a:p>
            <a:pPr algn="r">
              <a:lnSpc>
                <a:spcPts val="1877"/>
              </a:lnSpc>
            </a:pPr>
            <a:r>
              <a:rPr lang="en-US" sz="1500" dirty="0">
                <a:solidFill>
                  <a:srgbClr val="405449"/>
                </a:solidFill>
                <a:latin typeface="Times New Roman" pitchFamily="18" charset="0"/>
                <a:ea typeface="Nobile" pitchFamily="34" charset="-122"/>
                <a:cs typeface="Times New Roman" pitchFamily="18" charset="0"/>
              </a:rPr>
              <a:t>Modularize</a:t>
            </a:r>
            <a:r>
              <a:rPr lang="en-US" sz="1500" dirty="0">
                <a:solidFill>
                  <a:srgbClr val="405449"/>
                </a:solidFill>
                <a:latin typeface="Nobile" pitchFamily="34" charset="0"/>
                <a:ea typeface="Nobile" pitchFamily="34" charset="-122"/>
                <a:cs typeface="Nobile" pitchFamily="34" charset="-120"/>
              </a:rPr>
              <a:t>, use variables and comments.</a:t>
            </a:r>
            <a:endParaRPr lang="en-US" sz="1500" dirty="0"/>
          </a:p>
        </p:txBody>
      </p:sp>
      <p:pic>
        <p:nvPicPr>
          <p:cNvPr id="5" name="Image 0" descr="preencoded.png"/>
          <p:cNvPicPr>
            <a:picLocks noChangeAspect="1"/>
          </p:cNvPicPr>
          <p:nvPr/>
        </p:nvPicPr>
        <p:blipFill>
          <a:blip r:embed="rId2"/>
          <a:stretch>
            <a:fillRect/>
          </a:stretch>
        </p:blipFill>
        <p:spPr>
          <a:xfrm>
            <a:off x="3559011" y="1572918"/>
            <a:ext cx="2472630" cy="3043238"/>
          </a:xfrm>
          <a:prstGeom prst="rect">
            <a:avLst/>
          </a:prstGeom>
        </p:spPr>
      </p:pic>
      <p:sp>
        <p:nvSpPr>
          <p:cNvPr id="6" name="Shape 3"/>
          <p:cNvSpPr/>
          <p:nvPr/>
        </p:nvSpPr>
        <p:spPr>
          <a:xfrm>
            <a:off x="3761917" y="1822651"/>
            <a:ext cx="383890" cy="472480"/>
          </a:xfrm>
          <a:prstGeom prst="roundRect">
            <a:avLst>
              <a:gd name="adj" fmla="val 1611154"/>
            </a:avLst>
          </a:prstGeom>
          <a:solidFill>
            <a:srgbClr val="E8F3E8"/>
          </a:solidFill>
          <a:ln/>
        </p:spPr>
      </p:sp>
      <p:sp>
        <p:nvSpPr>
          <p:cNvPr id="7" name="Text 4"/>
          <p:cNvSpPr/>
          <p:nvPr/>
        </p:nvSpPr>
        <p:spPr>
          <a:xfrm>
            <a:off x="3867445" y="1925938"/>
            <a:ext cx="172758" cy="265807"/>
          </a:xfrm>
          <a:prstGeom prst="rect">
            <a:avLst/>
          </a:prstGeom>
          <a:noFill/>
          <a:ln/>
        </p:spPr>
        <p:txBody>
          <a:bodyPr wrap="none" lIns="0" tIns="0" rIns="0" bIns="0" rtlCol="0" anchor="t"/>
          <a:lstStyle/>
          <a:p>
            <a:pPr>
              <a:lnSpc>
                <a:spcPts val="2107"/>
              </a:lnSpc>
            </a:pPr>
            <a:r>
              <a:rPr lang="en-US" sz="1300" b="1" dirty="0">
                <a:solidFill>
                  <a:srgbClr val="405449"/>
                </a:solidFill>
                <a:latin typeface="Fraunces Extra Bold" pitchFamily="34" charset="0"/>
                <a:ea typeface="Fraunces Extra Bold" pitchFamily="34" charset="-122"/>
                <a:cs typeface="Fraunces Extra Bold" pitchFamily="34" charset="-120"/>
              </a:rPr>
              <a:t>1</a:t>
            </a:r>
            <a:endParaRPr lang="en-US" sz="1300" dirty="0"/>
          </a:p>
        </p:txBody>
      </p:sp>
      <p:sp>
        <p:nvSpPr>
          <p:cNvPr id="8" name="Text 5"/>
          <p:cNvSpPr/>
          <p:nvPr/>
        </p:nvSpPr>
        <p:spPr>
          <a:xfrm>
            <a:off x="6261957" y="1982892"/>
            <a:ext cx="1919690" cy="295275"/>
          </a:xfrm>
          <a:prstGeom prst="rect">
            <a:avLst/>
          </a:prstGeom>
          <a:noFill/>
          <a:ln/>
        </p:spPr>
        <p:txBody>
          <a:bodyPr wrap="none" lIns="0" tIns="0" rIns="0" bIns="0" rtlCol="0" anchor="t"/>
          <a:lstStyle/>
          <a:p>
            <a:pPr>
              <a:lnSpc>
                <a:spcPts val="1811"/>
              </a:lnSpc>
            </a:pPr>
            <a:r>
              <a:rPr lang="en-US" sz="2600" b="1" dirty="0">
                <a:solidFill>
                  <a:srgbClr val="405449"/>
                </a:solidFill>
                <a:latin typeface="Times New Roman" pitchFamily="18" charset="0"/>
                <a:ea typeface="Fraunces Extra Bold" pitchFamily="34" charset="-122"/>
                <a:cs typeface="Times New Roman" pitchFamily="18" charset="0"/>
              </a:rPr>
              <a:t>Version Control</a:t>
            </a:r>
            <a:endParaRPr lang="en-US" sz="2600" dirty="0">
              <a:latin typeface="Times New Roman" pitchFamily="18" charset="0"/>
              <a:cs typeface="Times New Roman" pitchFamily="18" charset="0"/>
            </a:endParaRPr>
          </a:p>
        </p:txBody>
      </p:sp>
      <p:sp>
        <p:nvSpPr>
          <p:cNvPr id="9" name="Text 6"/>
          <p:cNvSpPr/>
          <p:nvPr/>
        </p:nvSpPr>
        <p:spPr>
          <a:xfrm>
            <a:off x="6261958" y="2391573"/>
            <a:ext cx="2948904" cy="302419"/>
          </a:xfrm>
          <a:prstGeom prst="rect">
            <a:avLst/>
          </a:prstGeom>
          <a:noFill/>
          <a:ln/>
        </p:spPr>
        <p:txBody>
          <a:bodyPr wrap="none" lIns="0" tIns="0" rIns="0" bIns="0" rtlCol="0" anchor="t"/>
          <a:lstStyle/>
          <a:p>
            <a:pPr>
              <a:lnSpc>
                <a:spcPts val="1877"/>
              </a:lnSpc>
            </a:pPr>
            <a:r>
              <a:rPr lang="en-US" sz="1500" dirty="0">
                <a:solidFill>
                  <a:srgbClr val="405449"/>
                </a:solidFill>
                <a:latin typeface="Nobile"/>
                <a:ea typeface="Nobile"/>
                <a:cs typeface="Times New Roman" pitchFamily="18" charset="0"/>
              </a:rPr>
              <a:t>Git, branches and pull requests.</a:t>
            </a:r>
            <a:endParaRPr lang="en-US" sz="1500" dirty="0">
              <a:latin typeface="Nobile"/>
              <a:ea typeface="Nobile"/>
              <a:cs typeface="Times New Roman" pitchFamily="18" charset="0"/>
            </a:endParaRPr>
          </a:p>
        </p:txBody>
      </p:sp>
      <p:pic>
        <p:nvPicPr>
          <p:cNvPr id="10" name="Image 1" descr="preencoded.png"/>
          <p:cNvPicPr>
            <a:picLocks noChangeAspect="1"/>
          </p:cNvPicPr>
          <p:nvPr/>
        </p:nvPicPr>
        <p:blipFill>
          <a:blip r:embed="rId3"/>
          <a:stretch>
            <a:fillRect/>
          </a:stretch>
        </p:blipFill>
        <p:spPr>
          <a:xfrm>
            <a:off x="3559011" y="1572918"/>
            <a:ext cx="2472630" cy="3043238"/>
          </a:xfrm>
          <a:prstGeom prst="rect">
            <a:avLst/>
          </a:prstGeom>
        </p:spPr>
      </p:pic>
      <p:sp>
        <p:nvSpPr>
          <p:cNvPr id="11" name="Shape 7"/>
          <p:cNvSpPr/>
          <p:nvPr/>
        </p:nvSpPr>
        <p:spPr>
          <a:xfrm>
            <a:off x="5444761" y="1822651"/>
            <a:ext cx="383890" cy="472480"/>
          </a:xfrm>
          <a:prstGeom prst="roundRect">
            <a:avLst>
              <a:gd name="adj" fmla="val 1611154"/>
            </a:avLst>
          </a:prstGeom>
          <a:solidFill>
            <a:srgbClr val="E8F3E8"/>
          </a:solidFill>
          <a:ln/>
        </p:spPr>
      </p:sp>
      <p:sp>
        <p:nvSpPr>
          <p:cNvPr id="12" name="Text 8"/>
          <p:cNvSpPr/>
          <p:nvPr/>
        </p:nvSpPr>
        <p:spPr>
          <a:xfrm>
            <a:off x="5550288" y="1925938"/>
            <a:ext cx="172758" cy="265807"/>
          </a:xfrm>
          <a:prstGeom prst="rect">
            <a:avLst/>
          </a:prstGeom>
          <a:noFill/>
          <a:ln/>
        </p:spPr>
        <p:txBody>
          <a:bodyPr wrap="none" lIns="0" tIns="0" rIns="0" bIns="0" rtlCol="0" anchor="t"/>
          <a:lstStyle/>
          <a:p>
            <a:pPr>
              <a:lnSpc>
                <a:spcPts val="2107"/>
              </a:lnSpc>
            </a:pPr>
            <a:r>
              <a:rPr lang="en-US" sz="1300" b="1" dirty="0">
                <a:solidFill>
                  <a:srgbClr val="405449"/>
                </a:solidFill>
                <a:latin typeface="Fraunces Extra Bold" pitchFamily="34" charset="0"/>
                <a:ea typeface="Fraunces Extra Bold" pitchFamily="34" charset="-122"/>
                <a:cs typeface="Fraunces Extra Bold" pitchFamily="34" charset="-120"/>
              </a:rPr>
              <a:t>2</a:t>
            </a:r>
            <a:endParaRPr lang="en-US" sz="1300" dirty="0"/>
          </a:p>
        </p:txBody>
      </p:sp>
      <p:sp>
        <p:nvSpPr>
          <p:cNvPr id="13" name="Text 9"/>
          <p:cNvSpPr/>
          <p:nvPr/>
        </p:nvSpPr>
        <p:spPr>
          <a:xfrm>
            <a:off x="6261957" y="3646195"/>
            <a:ext cx="1919690" cy="295275"/>
          </a:xfrm>
          <a:prstGeom prst="rect">
            <a:avLst/>
          </a:prstGeom>
          <a:noFill/>
          <a:ln/>
        </p:spPr>
        <p:txBody>
          <a:bodyPr wrap="none" lIns="0" tIns="0" rIns="0" bIns="0" rtlCol="0" anchor="t"/>
          <a:lstStyle/>
          <a:p>
            <a:pPr>
              <a:lnSpc>
                <a:spcPts val="1811"/>
              </a:lnSpc>
            </a:pPr>
            <a:r>
              <a:rPr lang="en-US" sz="1900" b="1" dirty="0">
                <a:solidFill>
                  <a:srgbClr val="405449"/>
                </a:solidFill>
                <a:latin typeface="Times New Roman" pitchFamily="18" charset="0"/>
                <a:ea typeface="Fraunces Extra Bold" pitchFamily="34" charset="-122"/>
                <a:cs typeface="Times New Roman" pitchFamily="18" charset="0"/>
              </a:rPr>
              <a:t>Security</a:t>
            </a:r>
            <a:endParaRPr lang="en-US" sz="1900" dirty="0">
              <a:latin typeface="Times New Roman" pitchFamily="18" charset="0"/>
              <a:cs typeface="Times New Roman" pitchFamily="18" charset="0"/>
            </a:endParaRPr>
          </a:p>
        </p:txBody>
      </p:sp>
      <p:sp>
        <p:nvSpPr>
          <p:cNvPr id="14" name="Text 10"/>
          <p:cNvSpPr/>
          <p:nvPr/>
        </p:nvSpPr>
        <p:spPr>
          <a:xfrm>
            <a:off x="6261958" y="4054875"/>
            <a:ext cx="2948904" cy="302419"/>
          </a:xfrm>
          <a:prstGeom prst="rect">
            <a:avLst/>
          </a:prstGeom>
          <a:noFill/>
          <a:ln/>
        </p:spPr>
        <p:txBody>
          <a:bodyPr wrap="none" lIns="0" tIns="0" rIns="0" bIns="0" rtlCol="0" anchor="t"/>
          <a:lstStyle/>
          <a:p>
            <a:pPr>
              <a:lnSpc>
                <a:spcPts val="1877"/>
              </a:lnSpc>
            </a:pPr>
            <a:r>
              <a:rPr lang="en-US" sz="1500" dirty="0">
                <a:solidFill>
                  <a:srgbClr val="405449"/>
                </a:solidFill>
                <a:latin typeface="Nobile"/>
                <a:ea typeface="Nobile"/>
                <a:cs typeface="Times New Roman" pitchFamily="18" charset="0"/>
              </a:rPr>
              <a:t>Secure state, least privilege IAM.</a:t>
            </a:r>
            <a:endParaRPr lang="en-US" sz="1500" dirty="0">
              <a:latin typeface="Nobile"/>
              <a:ea typeface="Nobile"/>
              <a:cs typeface="Times New Roman" pitchFamily="18" charset="0"/>
            </a:endParaRPr>
          </a:p>
        </p:txBody>
      </p:sp>
      <p:pic>
        <p:nvPicPr>
          <p:cNvPr id="15" name="Image 2" descr="preencoded.png"/>
          <p:cNvPicPr>
            <a:picLocks noChangeAspect="1"/>
          </p:cNvPicPr>
          <p:nvPr/>
        </p:nvPicPr>
        <p:blipFill>
          <a:blip r:embed="rId4"/>
          <a:stretch>
            <a:fillRect/>
          </a:stretch>
        </p:blipFill>
        <p:spPr>
          <a:xfrm>
            <a:off x="3559011" y="1572918"/>
            <a:ext cx="2472630" cy="3043238"/>
          </a:xfrm>
          <a:prstGeom prst="rect">
            <a:avLst/>
          </a:prstGeom>
        </p:spPr>
      </p:pic>
      <p:sp>
        <p:nvSpPr>
          <p:cNvPr id="16" name="Shape 11"/>
          <p:cNvSpPr/>
          <p:nvPr/>
        </p:nvSpPr>
        <p:spPr>
          <a:xfrm>
            <a:off x="5444761" y="3893843"/>
            <a:ext cx="383890" cy="472480"/>
          </a:xfrm>
          <a:prstGeom prst="roundRect">
            <a:avLst>
              <a:gd name="adj" fmla="val 1611154"/>
            </a:avLst>
          </a:prstGeom>
          <a:solidFill>
            <a:srgbClr val="E8F3E8"/>
          </a:solidFill>
          <a:ln/>
        </p:spPr>
      </p:sp>
      <p:sp>
        <p:nvSpPr>
          <p:cNvPr id="17" name="Text 12"/>
          <p:cNvSpPr/>
          <p:nvPr/>
        </p:nvSpPr>
        <p:spPr>
          <a:xfrm>
            <a:off x="5550288" y="3997128"/>
            <a:ext cx="172758" cy="265807"/>
          </a:xfrm>
          <a:prstGeom prst="rect">
            <a:avLst/>
          </a:prstGeom>
          <a:noFill/>
          <a:ln/>
        </p:spPr>
        <p:txBody>
          <a:bodyPr wrap="none" lIns="0" tIns="0" rIns="0" bIns="0" rtlCol="0" anchor="t"/>
          <a:lstStyle/>
          <a:p>
            <a:pPr>
              <a:lnSpc>
                <a:spcPts val="2107"/>
              </a:lnSpc>
            </a:pPr>
            <a:r>
              <a:rPr lang="en-US" sz="1300" b="1" dirty="0">
                <a:solidFill>
                  <a:srgbClr val="405449"/>
                </a:solidFill>
                <a:latin typeface="Fraunces Extra Bold" pitchFamily="34" charset="0"/>
                <a:ea typeface="Fraunces Extra Bold" pitchFamily="34" charset="-122"/>
                <a:cs typeface="Fraunces Extra Bold" pitchFamily="34" charset="-120"/>
              </a:rPr>
              <a:t>3</a:t>
            </a:r>
            <a:endParaRPr lang="en-US" sz="1300" dirty="0"/>
          </a:p>
        </p:txBody>
      </p:sp>
      <p:sp>
        <p:nvSpPr>
          <p:cNvPr id="18" name="Text 13"/>
          <p:cNvSpPr/>
          <p:nvPr/>
        </p:nvSpPr>
        <p:spPr>
          <a:xfrm>
            <a:off x="1409000" y="3646195"/>
            <a:ext cx="1919690" cy="295275"/>
          </a:xfrm>
          <a:prstGeom prst="rect">
            <a:avLst/>
          </a:prstGeom>
          <a:noFill/>
          <a:ln/>
        </p:spPr>
        <p:txBody>
          <a:bodyPr wrap="none" lIns="0" tIns="0" rIns="0" bIns="0" rtlCol="0" anchor="t"/>
          <a:lstStyle/>
          <a:p>
            <a:pPr algn="r">
              <a:lnSpc>
                <a:spcPts val="1811"/>
              </a:lnSpc>
            </a:pPr>
            <a:r>
              <a:rPr lang="en-US" sz="2200" b="1" dirty="0">
                <a:solidFill>
                  <a:srgbClr val="405449"/>
                </a:solidFill>
                <a:latin typeface="Times New Roman" pitchFamily="18" charset="0"/>
                <a:ea typeface="Fraunces Extra Bold" pitchFamily="34" charset="-122"/>
                <a:cs typeface="Times New Roman" pitchFamily="18" charset="0"/>
              </a:rPr>
              <a:t>Testing</a:t>
            </a:r>
            <a:endParaRPr lang="en-US" sz="2200" dirty="0">
              <a:latin typeface="Times New Roman" pitchFamily="18" charset="0"/>
              <a:cs typeface="Times New Roman" pitchFamily="18" charset="0"/>
            </a:endParaRPr>
          </a:p>
        </p:txBody>
      </p:sp>
      <p:sp>
        <p:nvSpPr>
          <p:cNvPr id="19" name="Text 14"/>
          <p:cNvSpPr/>
          <p:nvPr/>
        </p:nvSpPr>
        <p:spPr>
          <a:xfrm>
            <a:off x="379787" y="4054875"/>
            <a:ext cx="2948904" cy="302419"/>
          </a:xfrm>
          <a:prstGeom prst="rect">
            <a:avLst/>
          </a:prstGeom>
          <a:noFill/>
          <a:ln/>
        </p:spPr>
        <p:txBody>
          <a:bodyPr wrap="none" lIns="0" tIns="0" rIns="0" bIns="0" rtlCol="0" anchor="t"/>
          <a:lstStyle/>
          <a:p>
            <a:pPr algn="r">
              <a:lnSpc>
                <a:spcPts val="1877"/>
              </a:lnSpc>
            </a:pPr>
            <a:r>
              <a:rPr lang="en-US" dirty="0">
                <a:solidFill>
                  <a:srgbClr val="405449"/>
                </a:solidFill>
                <a:latin typeface="Nobile" pitchFamily="34" charset="0"/>
                <a:ea typeface="Nobile" pitchFamily="34" charset="-122"/>
                <a:cs typeface="Nobile" pitchFamily="34" charset="-120"/>
              </a:rPr>
              <a:t>Automated validation.</a:t>
            </a:r>
            <a:endParaRPr lang="en-US" dirty="0"/>
          </a:p>
        </p:txBody>
      </p:sp>
      <p:pic>
        <p:nvPicPr>
          <p:cNvPr id="20" name="Image 3" descr="preencoded.png"/>
          <p:cNvPicPr>
            <a:picLocks noChangeAspect="1"/>
          </p:cNvPicPr>
          <p:nvPr/>
        </p:nvPicPr>
        <p:blipFill>
          <a:blip r:embed="rId5"/>
          <a:stretch>
            <a:fillRect/>
          </a:stretch>
        </p:blipFill>
        <p:spPr>
          <a:xfrm>
            <a:off x="3559011" y="1572918"/>
            <a:ext cx="2472630" cy="3043238"/>
          </a:xfrm>
          <a:prstGeom prst="rect">
            <a:avLst/>
          </a:prstGeom>
        </p:spPr>
      </p:pic>
      <p:sp>
        <p:nvSpPr>
          <p:cNvPr id="21" name="Shape 15"/>
          <p:cNvSpPr/>
          <p:nvPr/>
        </p:nvSpPr>
        <p:spPr>
          <a:xfrm>
            <a:off x="3761917" y="3893843"/>
            <a:ext cx="383890" cy="472480"/>
          </a:xfrm>
          <a:prstGeom prst="roundRect">
            <a:avLst>
              <a:gd name="adj" fmla="val 1611154"/>
            </a:avLst>
          </a:prstGeom>
          <a:solidFill>
            <a:srgbClr val="E8F3E8"/>
          </a:solidFill>
          <a:ln/>
        </p:spPr>
      </p:sp>
      <p:sp>
        <p:nvSpPr>
          <p:cNvPr id="22" name="Text 16"/>
          <p:cNvSpPr/>
          <p:nvPr/>
        </p:nvSpPr>
        <p:spPr>
          <a:xfrm>
            <a:off x="3867445" y="3997128"/>
            <a:ext cx="172758" cy="265807"/>
          </a:xfrm>
          <a:prstGeom prst="rect">
            <a:avLst/>
          </a:prstGeom>
          <a:noFill/>
          <a:ln/>
        </p:spPr>
        <p:txBody>
          <a:bodyPr wrap="none" lIns="0" tIns="0" rIns="0" bIns="0" rtlCol="0" anchor="t"/>
          <a:lstStyle/>
          <a:p>
            <a:pPr>
              <a:lnSpc>
                <a:spcPts val="2107"/>
              </a:lnSpc>
            </a:pPr>
            <a:r>
              <a:rPr lang="en-US" sz="1300" b="1" dirty="0">
                <a:solidFill>
                  <a:srgbClr val="405449"/>
                </a:solidFill>
                <a:latin typeface="Fraunces Extra Bold" pitchFamily="34" charset="0"/>
                <a:ea typeface="Fraunces Extra Bold" pitchFamily="34" charset="-122"/>
                <a:cs typeface="Fraunces Extra Bold" pitchFamily="34" charset="-120"/>
              </a:rPr>
              <a:t>4</a:t>
            </a:r>
            <a:endParaRPr lang="en-US" sz="1300" dirty="0"/>
          </a:p>
        </p:txBody>
      </p:sp>
      <p:sp>
        <p:nvSpPr>
          <p:cNvPr id="23" name="Text 17"/>
          <p:cNvSpPr/>
          <p:nvPr/>
        </p:nvSpPr>
        <p:spPr>
          <a:xfrm>
            <a:off x="644297" y="5105400"/>
            <a:ext cx="8831078" cy="604838"/>
          </a:xfrm>
          <a:prstGeom prst="rect">
            <a:avLst/>
          </a:prstGeom>
          <a:noFill/>
          <a:ln/>
        </p:spPr>
        <p:txBody>
          <a:bodyPr wrap="square" lIns="0" tIns="0" rIns="0" bIns="0" rtlCol="0" anchor="t"/>
          <a:lstStyle/>
          <a:p>
            <a:pPr>
              <a:lnSpc>
                <a:spcPts val="1877"/>
              </a:lnSpc>
            </a:pPr>
            <a:r>
              <a:rPr lang="en-US" sz="1900" dirty="0">
                <a:solidFill>
                  <a:srgbClr val="405449"/>
                </a:solidFill>
                <a:latin typeface="Times New Roman" pitchFamily="18" charset="0"/>
                <a:ea typeface="Nobile" pitchFamily="34" charset="-122"/>
                <a:cs typeface="Times New Roman" pitchFamily="18" charset="0"/>
              </a:rPr>
              <a:t>Terraform improves infrastructure management. Follow best practices for reliability and security. It allows for more scalability.</a:t>
            </a:r>
            <a:endParaRPr lang="en-US" sz="1900" dirty="0">
              <a:latin typeface="Times New Roman" pitchFamily="18" charset="0"/>
              <a:cs typeface="Times New Roman" pitchFamily="18" charset="0"/>
            </a:endParaRPr>
          </a:p>
        </p:txBody>
      </p:sp>
      <p:sp>
        <p:nvSpPr>
          <p:cNvPr id="25" name="Action Button: Go Forward or Next 23">
            <a:hlinkClick r:id="" action="ppaction://hlinkshowjump?jump=nextslide" highlightClick="1"/>
            <a:extLst>
              <a:ext uri="{FF2B5EF4-FFF2-40B4-BE49-F238E27FC236}">
                <a16:creationId xmlns="" xmlns:a16="http://schemas.microsoft.com/office/drawing/2014/main" id="{198F6D3D-9CB1-640D-0E9D-668CC80779AE}"/>
              </a:ext>
            </a:extLst>
          </p:cNvPr>
          <p:cNvSpPr/>
          <p:nvPr/>
        </p:nvSpPr>
        <p:spPr>
          <a:xfrm>
            <a:off x="9410700" y="6574667"/>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6" name="Action Button: Go Back or Previous 25">
            <a:hlinkClick r:id="" action="ppaction://hlinkshowjump?jump=previousslide" highlightClick="1"/>
            <a:extLst>
              <a:ext uri="{FF2B5EF4-FFF2-40B4-BE49-F238E27FC236}">
                <a16:creationId xmlns="" xmlns:a16="http://schemas.microsoft.com/office/drawing/2014/main" id="{0BEF1F06-7908-27C9-A3B6-7F3950583DB1}"/>
              </a:ext>
            </a:extLst>
          </p:cNvPr>
          <p:cNvSpPr/>
          <p:nvPr/>
        </p:nvSpPr>
        <p:spPr>
          <a:xfrm>
            <a:off x="8403736" y="658325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28" name="Action Button: Go Home 5">
            <a:hlinkClick r:id="rId6" action="ppaction://hlinksldjump" highlightClick="1"/>
            <a:extLst>
              <a:ext uri="{FF2B5EF4-FFF2-40B4-BE49-F238E27FC236}">
                <a16:creationId xmlns="" xmlns:a16="http://schemas.microsoft.com/office/drawing/2014/main" id="{6239DA23-C1E6-C56A-99F0-9FED80273A69}"/>
              </a:ext>
            </a:extLst>
          </p:cNvPr>
          <p:cNvSpPr/>
          <p:nvPr/>
        </p:nvSpPr>
        <p:spPr>
          <a:xfrm>
            <a:off x="8902193" y="658325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10003334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38250" y="228600"/>
            <a:ext cx="8420100" cy="2838450"/>
          </a:xfrm>
          <a:prstGeom prst="rect">
            <a:avLst/>
          </a:prstGeom>
        </p:spPr>
        <p:txBody>
          <a:bodyPr lIns="86013" tIns="43006" rIns="86013" bIns="43006"/>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dirty="0" smtClean="0">
                <a:solidFill>
                  <a:srgbClr val="0070C0"/>
                </a:solidFill>
              </a:rPr>
              <a:t>References</a:t>
            </a:r>
            <a:endParaRPr lang="en-US" dirty="0">
              <a:solidFill>
                <a:srgbClr val="0070C0"/>
              </a:solidFill>
            </a:endParaRPr>
          </a:p>
        </p:txBody>
      </p:sp>
      <p:sp>
        <p:nvSpPr>
          <p:cNvPr id="5" name="Subtitle 2"/>
          <p:cNvSpPr txBox="1">
            <a:spLocks/>
          </p:cNvSpPr>
          <p:nvPr/>
        </p:nvSpPr>
        <p:spPr>
          <a:xfrm>
            <a:off x="2489708" y="1203641"/>
            <a:ext cx="6934200" cy="3810000"/>
          </a:xfrm>
          <a:prstGeom prst="rect">
            <a:avLst/>
          </a:prstGeom>
        </p:spPr>
        <p:txBody>
          <a:bodyPr lIns="86013" tIns="43006" rIns="86013" bIns="43006">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322545" indent="-322545">
              <a:buFont typeface="Arial" pitchFamily="34" charset="0"/>
              <a:buChar char="•"/>
            </a:pPr>
            <a:r>
              <a:rPr lang="en-US" dirty="0">
                <a:latin typeface="Times New Roman" pitchFamily="18" charset="0"/>
                <a:cs typeface="Times New Roman" pitchFamily="18" charset="0"/>
                <a:hlinkClick r:id="rId2"/>
              </a:rPr>
              <a:t>https://developer.hashicorp.com/terraform/docs</a:t>
            </a:r>
            <a:r>
              <a:rPr lang="en-US" dirty="0" smtClean="0">
                <a:latin typeface="Times New Roman" pitchFamily="18" charset="0"/>
                <a:cs typeface="Times New Roman" pitchFamily="18" charset="0"/>
                <a:hlinkClick r:id="rId2"/>
              </a:rPr>
              <a:t>.</a:t>
            </a:r>
            <a:endParaRPr lang="en-US" dirty="0" smtClean="0">
              <a:latin typeface="Times New Roman" pitchFamily="18" charset="0"/>
              <a:cs typeface="Times New Roman" pitchFamily="18" charset="0"/>
            </a:endParaRPr>
          </a:p>
          <a:p>
            <a:pPr marL="322545" indent="-322545">
              <a:buFont typeface="Arial" pitchFamily="34" charset="0"/>
              <a:buChar char="•"/>
            </a:pPr>
            <a:endParaRPr lang="en-US" dirty="0">
              <a:latin typeface="Times New Roman" pitchFamily="18" charset="0"/>
              <a:cs typeface="Times New Roman" pitchFamily="18" charset="0"/>
            </a:endParaRPr>
          </a:p>
          <a:p>
            <a:pPr marL="322545" indent="-322545">
              <a:buFont typeface="Arial" pitchFamily="34" charset="0"/>
              <a:buChar char="•"/>
            </a:pPr>
            <a:r>
              <a:rPr lang="en-US" dirty="0">
                <a:latin typeface="Times New Roman" pitchFamily="18" charset="0"/>
                <a:cs typeface="Times New Roman" pitchFamily="18" charset="0"/>
                <a:hlinkClick r:id="rId3"/>
              </a:rPr>
              <a:t>https://www.geeksforgeeks.org</a:t>
            </a:r>
            <a:r>
              <a:rPr lang="en-US" dirty="0" smtClean="0">
                <a:latin typeface="Times New Roman" pitchFamily="18" charset="0"/>
                <a:cs typeface="Times New Roman" pitchFamily="18" charset="0"/>
                <a:hlinkClick r:id="rId3"/>
              </a:rPr>
              <a:t>/</a:t>
            </a:r>
            <a:endParaRPr lang="en-US" dirty="0" smtClean="0">
              <a:latin typeface="Times New Roman" pitchFamily="18" charset="0"/>
              <a:cs typeface="Times New Roman" pitchFamily="18" charset="0"/>
            </a:endParaRPr>
          </a:p>
          <a:p>
            <a:pPr marL="322545" indent="-322545">
              <a:buFont typeface="Arial" pitchFamily="34" charset="0"/>
              <a:buChar char="•"/>
            </a:pPr>
            <a:endParaRPr lang="en-US" dirty="0">
              <a:latin typeface="Times New Roman" pitchFamily="18" charset="0"/>
              <a:cs typeface="Times New Roman" pitchFamily="18" charset="0"/>
            </a:endParaRPr>
          </a:p>
          <a:p>
            <a:pPr marL="322545" indent="-322545">
              <a:buFont typeface="Arial" pitchFamily="34" charset="0"/>
              <a:buChar char="•"/>
            </a:pPr>
            <a:r>
              <a:rPr lang="en-US" dirty="0">
                <a:latin typeface="Times New Roman" pitchFamily="18" charset="0"/>
                <a:cs typeface="Times New Roman" pitchFamily="18" charset="0"/>
                <a:hlinkClick r:id="rId4"/>
              </a:rPr>
              <a:t>https://www.terraform.io/</a:t>
            </a:r>
            <a:endParaRPr lang="en-US" dirty="0">
              <a:latin typeface="Times New Roman" pitchFamily="18" charset="0"/>
              <a:cs typeface="Times New Roman" pitchFamily="18" charset="0"/>
            </a:endParaRPr>
          </a:p>
        </p:txBody>
      </p:sp>
      <p:sp>
        <p:nvSpPr>
          <p:cNvPr id="6" name="Action Button: Go Forward or Next 3">
            <a:hlinkClick r:id="" action="ppaction://hlinkshowjump?jump=nextslide" highlightClick="1"/>
            <a:extLst>
              <a:ext uri="{FF2B5EF4-FFF2-40B4-BE49-F238E27FC236}">
                <a16:creationId xmlns="" xmlns:a16="http://schemas.microsoft.com/office/drawing/2014/main" id="{26FBC57A-0245-4493-C83F-D38FCCBF7C22}"/>
              </a:ext>
            </a:extLst>
          </p:cNvPr>
          <p:cNvSpPr/>
          <p:nvPr/>
        </p:nvSpPr>
        <p:spPr>
          <a:xfrm>
            <a:off x="9423908" y="6553203"/>
            <a:ext cx="495300" cy="304800"/>
          </a:xfrm>
          <a:prstGeom prst="actionButtonForwardNext">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7" name="Action Button: Go Back or Previous 4">
            <a:hlinkClick r:id="" action="ppaction://hlinkshowjump?jump=previousslide" highlightClick="1"/>
            <a:extLst>
              <a:ext uri="{FF2B5EF4-FFF2-40B4-BE49-F238E27FC236}">
                <a16:creationId xmlns="" xmlns:a16="http://schemas.microsoft.com/office/drawing/2014/main" id="{332DEC57-8393-171D-368E-467CAE7B480E}"/>
              </a:ext>
            </a:extLst>
          </p:cNvPr>
          <p:cNvSpPr/>
          <p:nvPr/>
        </p:nvSpPr>
        <p:spPr>
          <a:xfrm>
            <a:off x="8420100" y="6553203"/>
            <a:ext cx="495300" cy="304800"/>
          </a:xfrm>
          <a:prstGeom prst="actionButtonBackPrevious">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
        <p:nvSpPr>
          <p:cNvPr id="8" name="Action Button: Go Home 5">
            <a:hlinkClick r:id="rId5" action="ppaction://hlinksldjump" highlightClick="1"/>
            <a:extLst>
              <a:ext uri="{FF2B5EF4-FFF2-40B4-BE49-F238E27FC236}">
                <a16:creationId xmlns="" xmlns:a16="http://schemas.microsoft.com/office/drawing/2014/main" id="{6239DA23-C1E6-C56A-99F0-9FED80273A69}"/>
              </a:ext>
            </a:extLst>
          </p:cNvPr>
          <p:cNvSpPr/>
          <p:nvPr/>
        </p:nvSpPr>
        <p:spPr>
          <a:xfrm>
            <a:off x="8915400" y="6553203"/>
            <a:ext cx="508508" cy="304800"/>
          </a:xfrm>
          <a:prstGeom prst="actionButtonHome">
            <a:avLst/>
          </a:prstGeom>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86013" tIns="43006" rIns="86013" bIns="43006" numCol="1" spcCol="0" rtlCol="0" fromWordArt="0" anchor="ctr" anchorCtr="0" forceAA="0" compatLnSpc="1">
            <a:prstTxWarp prst="textNoShape">
              <a:avLst/>
            </a:prstTxWarp>
            <a:noAutofit/>
          </a:bodyPr>
          <a:lstStyle/>
          <a:p>
            <a:pPr algn="ctr"/>
            <a:endParaRPr lang="en-IN"/>
          </a:p>
        </p:txBody>
      </p:sp>
    </p:spTree>
    <p:extLst>
      <p:ext uri="{BB962C8B-B14F-4D97-AF65-F5344CB8AC3E}">
        <p14:creationId xmlns:p14="http://schemas.microsoft.com/office/powerpoint/2010/main" val="756148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INDIA\Downloads\RgymxlBDE6PzY-ztnhiQ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09" y="0"/>
            <a:ext cx="1001540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9676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1368</TotalTime>
  <Words>1651</Words>
  <Application>Microsoft Office PowerPoint</Application>
  <PresentationFormat>A4 Paper (210x297 mm)</PresentationFormat>
  <Paragraphs>305</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Oriel</vt:lpstr>
      <vt:lpstr>SHREE UTTAR GUJARAT BCA COLLEGE</vt:lpstr>
      <vt:lpstr>PowerPoint Presentation</vt:lpstr>
      <vt:lpstr>PowerPoint Presentation</vt:lpstr>
      <vt:lpstr>PowerPoint Presentation</vt:lpstr>
      <vt:lpstr>PowerPoint Presentation</vt:lpstr>
      <vt:lpstr>Terraform Key Features </vt:lpstr>
      <vt:lpstr>Advantages of Terraform </vt:lpstr>
      <vt:lpstr>Disadvantages of Terraform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INDIA</cp:lastModifiedBy>
  <cp:revision>125</cp:revision>
  <dcterms:created xsi:type="dcterms:W3CDTF">2025-03-13T16:01:38Z</dcterms:created>
  <dcterms:modified xsi:type="dcterms:W3CDTF">2025-04-10T07:04:50Z</dcterms:modified>
</cp:coreProperties>
</file>